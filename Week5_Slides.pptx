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53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88952" cy="73152"/>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457200"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0"/>
            <a:ext cx="54864" cy="685800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88720"/>
            <a:ext cx="10515600" cy="1005840"/>
          </a:xfrm>
          <a:prstGeom prst="rect">
            <a:avLst/>
          </a:prstGeom>
          <a:noFill/>
        </p:spPr>
        <p:txBody>
          <a:bodyPr wrap="square">
            <a:spAutoFit/>
          </a:bodyPr>
          <a:lstStyle/>
          <a:p>
            <a:pPr algn="l"/>
            <a:r>
              <a:rPr sz="3600" b="1" i="0">
                <a:solidFill>
                  <a:srgbClr val="FFFFFF"/>
                </a:solidFill>
                <a:latin typeface="Times New Roman"/>
              </a:rPr>
              <a:t>DU BAO NHU CAU THUC PHAM TUOI</a:t>
            </a:r>
          </a:p>
        </p:txBody>
      </p:sp>
      <p:sp>
        <p:nvSpPr>
          <p:cNvPr id="8" name="TextBox 7"/>
          <p:cNvSpPr txBox="1"/>
          <p:nvPr/>
        </p:nvSpPr>
        <p:spPr>
          <a:xfrm>
            <a:off x="731520" y="2240280"/>
            <a:ext cx="10515600" cy="594360"/>
          </a:xfrm>
          <a:prstGeom prst="rect">
            <a:avLst/>
          </a:prstGeom>
          <a:noFill/>
        </p:spPr>
        <p:txBody>
          <a:bodyPr wrap="square">
            <a:spAutoFit/>
          </a:bodyPr>
          <a:lstStyle/>
          <a:p>
            <a:pPr algn="l"/>
            <a:r>
              <a:rPr sz="2100" b="0" i="0">
                <a:solidFill>
                  <a:srgbClr val="BDD7EE"/>
                </a:solidFill>
                <a:latin typeface="Times New Roman"/>
              </a:rPr>
              <a:t>voi Mo Hinh Chuan Thoi Gian  (SARIMA / SARIMAX)</a:t>
            </a:r>
          </a:p>
        </p:txBody>
      </p:sp>
      <p:sp>
        <p:nvSpPr>
          <p:cNvPr id="9" name="Rectangle 8"/>
          <p:cNvSpPr/>
          <p:nvPr/>
        </p:nvSpPr>
        <p:spPr>
          <a:xfrm>
            <a:off x="731520" y="2926080"/>
            <a:ext cx="5029200" cy="2540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154680"/>
            <a:ext cx="10058400" cy="384048"/>
          </a:xfrm>
          <a:prstGeom prst="rect">
            <a:avLst/>
          </a:prstGeom>
          <a:noFill/>
        </p:spPr>
        <p:txBody>
          <a:bodyPr wrap="square">
            <a:spAutoFit/>
          </a:bodyPr>
          <a:lstStyle/>
          <a:p>
            <a:pPr algn="l"/>
            <a:r>
              <a:rPr sz="1500" b="1" i="0">
                <a:solidFill>
                  <a:srgbClr val="FFBF00"/>
                </a:solidFill>
                <a:latin typeface="Times New Roman"/>
              </a:rPr>
              <a:t>Dataset: FreshRetailNet-50K  |  Dingdong Inc. (2024)</a:t>
            </a:r>
          </a:p>
        </p:txBody>
      </p:sp>
      <p:sp>
        <p:nvSpPr>
          <p:cNvPr id="11" name="TextBox 10"/>
          <p:cNvSpPr txBox="1"/>
          <p:nvPr/>
        </p:nvSpPr>
        <p:spPr>
          <a:xfrm>
            <a:off x="731520" y="3584448"/>
            <a:ext cx="10058400" cy="329184"/>
          </a:xfrm>
          <a:prstGeom prst="rect">
            <a:avLst/>
          </a:prstGeom>
          <a:noFill/>
        </p:spPr>
        <p:txBody>
          <a:bodyPr wrap="square">
            <a:spAutoFit/>
          </a:bodyPr>
          <a:lstStyle/>
          <a:p>
            <a:pPr algn="l"/>
            <a:r>
              <a:rPr sz="1200" b="0" i="0">
                <a:solidFill>
                  <a:srgbClr val="BDD7EE"/>
                </a:solidFill>
                <a:latin typeface="Times New Roman"/>
              </a:rPr>
              <a:t>huggingface.co/datasets/Dingdong-Inc/FreshRetailNet-50K  |  CC-BY-4.0  |  ArXiv 2505.16319</a:t>
            </a:r>
          </a:p>
        </p:txBody>
      </p:sp>
      <p:sp>
        <p:nvSpPr>
          <p:cNvPr id="12" name="Rectangle 11"/>
          <p:cNvSpPr/>
          <p:nvPr/>
        </p:nvSpPr>
        <p:spPr>
          <a:xfrm>
            <a:off x="731520" y="4069080"/>
            <a:ext cx="5029200" cy="19050"/>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224528"/>
            <a:ext cx="10058400" cy="329184"/>
          </a:xfrm>
          <a:prstGeom prst="rect">
            <a:avLst/>
          </a:prstGeom>
          <a:noFill/>
        </p:spPr>
        <p:txBody>
          <a:bodyPr wrap="square">
            <a:spAutoFit/>
          </a:bodyPr>
          <a:lstStyle/>
          <a:p>
            <a:pPr algn="l"/>
            <a:r>
              <a:rPr sz="1300" b="0" i="0">
                <a:solidFill>
                  <a:srgbClr val="D0D8E4"/>
                </a:solidFill>
                <a:latin typeface="Times New Roman"/>
              </a:rPr>
              <a:t>Week 5 Progress Milestone  |  Time Series &amp; Forecasting Course</a:t>
            </a:r>
          </a:p>
        </p:txBody>
      </p:sp>
      <p:sp>
        <p:nvSpPr>
          <p:cNvPr id="14" name="TextBox 13"/>
          <p:cNvSpPr txBox="1"/>
          <p:nvPr/>
        </p:nvSpPr>
        <p:spPr>
          <a:xfrm>
            <a:off x="731520" y="4617720"/>
            <a:ext cx="3657600" cy="329184"/>
          </a:xfrm>
          <a:prstGeom prst="rect">
            <a:avLst/>
          </a:prstGeom>
          <a:noFill/>
        </p:spPr>
        <p:txBody>
          <a:bodyPr wrap="square">
            <a:spAutoFit/>
          </a:bodyPr>
          <a:lstStyle/>
          <a:p>
            <a:pPr algn="l"/>
            <a:r>
              <a:rPr sz="1300" b="0" i="0">
                <a:solidFill>
                  <a:srgbClr val="D0D8E4"/>
                </a:solidFill>
                <a:latin typeface="Times New Roman"/>
              </a:rPr>
              <a:t>Thang 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Noi Dung Bao Cao</a:t>
            </a:r>
          </a:p>
        </p:txBody>
      </p:sp>
      <p:sp>
        <p:nvSpPr>
          <p:cNvPr id="6" name="Rectangle 5"/>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8" name="TextBox 7"/>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2 / 14</a:t>
            </a:r>
          </a:p>
        </p:txBody>
      </p:sp>
      <p:sp>
        <p:nvSpPr>
          <p:cNvPr id="9" name="Rectangle 8"/>
          <p:cNvSpPr/>
          <p:nvPr/>
        </p:nvSpPr>
        <p:spPr>
          <a:xfrm>
            <a:off x="457200" y="1298448"/>
            <a:ext cx="594360" cy="5943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362456"/>
            <a:ext cx="594360" cy="475488"/>
          </a:xfrm>
          <a:prstGeom prst="rect">
            <a:avLst/>
          </a:prstGeom>
          <a:noFill/>
        </p:spPr>
        <p:txBody>
          <a:bodyPr wrap="square">
            <a:spAutoFit/>
          </a:bodyPr>
          <a:lstStyle/>
          <a:p>
            <a:pPr algn="ctr"/>
            <a:r>
              <a:rPr sz="1800" b="1" i="0">
                <a:solidFill>
                  <a:srgbClr val="FFBF00"/>
                </a:solidFill>
                <a:latin typeface="Times New Roman"/>
              </a:rPr>
              <a:t>01</a:t>
            </a:r>
          </a:p>
        </p:txBody>
      </p:sp>
      <p:sp>
        <p:nvSpPr>
          <p:cNvPr id="11" name="TextBox 10"/>
          <p:cNvSpPr txBox="1"/>
          <p:nvPr/>
        </p:nvSpPr>
        <p:spPr>
          <a:xfrm>
            <a:off x="1188720" y="1298448"/>
            <a:ext cx="9144000" cy="347472"/>
          </a:xfrm>
          <a:prstGeom prst="rect">
            <a:avLst/>
          </a:prstGeom>
          <a:noFill/>
        </p:spPr>
        <p:txBody>
          <a:bodyPr wrap="square">
            <a:spAutoFit/>
          </a:bodyPr>
          <a:lstStyle/>
          <a:p>
            <a:pPr algn="l"/>
            <a:r>
              <a:rPr sz="1700" b="1" i="0">
                <a:solidFill>
                  <a:srgbClr val="1F4E79"/>
                </a:solidFill>
                <a:latin typeface="Times New Roman"/>
              </a:rPr>
              <a:t>Problem Statement &amp; Motivation</a:t>
            </a:r>
          </a:p>
        </p:txBody>
      </p:sp>
      <p:sp>
        <p:nvSpPr>
          <p:cNvPr id="12" name="TextBox 11"/>
          <p:cNvSpPr txBox="1"/>
          <p:nvPr/>
        </p:nvSpPr>
        <p:spPr>
          <a:xfrm>
            <a:off x="1188720" y="1645920"/>
            <a:ext cx="9144000" cy="256032"/>
          </a:xfrm>
          <a:prstGeom prst="rect">
            <a:avLst/>
          </a:prstGeom>
          <a:noFill/>
        </p:spPr>
        <p:txBody>
          <a:bodyPr wrap="square">
            <a:spAutoFit/>
          </a:bodyPr>
          <a:lstStyle/>
          <a:p>
            <a:pPr algn="l"/>
            <a:r>
              <a:rPr sz="1200" b="0" i="0">
                <a:solidFill>
                  <a:srgbClr val="555555"/>
                </a:solidFill>
                <a:latin typeface="Times New Roman"/>
              </a:rPr>
              <a:t>Cau hoi nghien cuu, y nghia thuc tien, censored demand</a:t>
            </a:r>
          </a:p>
        </p:txBody>
      </p:sp>
      <p:sp>
        <p:nvSpPr>
          <p:cNvPr id="13" name="Rectangle 12"/>
          <p:cNvSpPr/>
          <p:nvPr/>
        </p:nvSpPr>
        <p:spPr>
          <a:xfrm>
            <a:off x="1188720" y="1938528"/>
            <a:ext cx="10241280" cy="6350"/>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67128"/>
            <a:ext cx="594360" cy="5943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231136"/>
            <a:ext cx="594360" cy="475488"/>
          </a:xfrm>
          <a:prstGeom prst="rect">
            <a:avLst/>
          </a:prstGeom>
          <a:noFill/>
        </p:spPr>
        <p:txBody>
          <a:bodyPr wrap="square">
            <a:spAutoFit/>
          </a:bodyPr>
          <a:lstStyle/>
          <a:p>
            <a:pPr algn="ctr"/>
            <a:r>
              <a:rPr sz="1800" b="1" i="0">
                <a:solidFill>
                  <a:srgbClr val="FFBF00"/>
                </a:solidFill>
                <a:latin typeface="Times New Roman"/>
              </a:rPr>
              <a:t>02</a:t>
            </a:r>
          </a:p>
        </p:txBody>
      </p:sp>
      <p:sp>
        <p:nvSpPr>
          <p:cNvPr id="16" name="TextBox 15"/>
          <p:cNvSpPr txBox="1"/>
          <p:nvPr/>
        </p:nvSpPr>
        <p:spPr>
          <a:xfrm>
            <a:off x="1188720" y="2167128"/>
            <a:ext cx="9144000" cy="347472"/>
          </a:xfrm>
          <a:prstGeom prst="rect">
            <a:avLst/>
          </a:prstGeom>
          <a:noFill/>
        </p:spPr>
        <p:txBody>
          <a:bodyPr wrap="square">
            <a:spAutoFit/>
          </a:bodyPr>
          <a:lstStyle/>
          <a:p>
            <a:pPr algn="l"/>
            <a:r>
              <a:rPr sz="1700" b="1" i="0">
                <a:solidFill>
                  <a:srgbClr val="1F4E79"/>
                </a:solidFill>
                <a:latin typeface="Times New Roman"/>
              </a:rPr>
              <a:t>Mo Ta &amp; Kham Pha Du Lieu</a:t>
            </a:r>
          </a:p>
        </p:txBody>
      </p:sp>
      <p:sp>
        <p:nvSpPr>
          <p:cNvPr id="17" name="TextBox 16"/>
          <p:cNvSpPr txBox="1"/>
          <p:nvPr/>
        </p:nvSpPr>
        <p:spPr>
          <a:xfrm>
            <a:off x="1188720" y="2514600"/>
            <a:ext cx="9144000" cy="256032"/>
          </a:xfrm>
          <a:prstGeom prst="rect">
            <a:avLst/>
          </a:prstGeom>
          <a:noFill/>
        </p:spPr>
        <p:txBody>
          <a:bodyPr wrap="square">
            <a:spAutoFit/>
          </a:bodyPr>
          <a:lstStyle/>
          <a:p>
            <a:pPr algn="l"/>
            <a:r>
              <a:rPr sz="1200" b="0" i="0">
                <a:solidFill>
                  <a:srgbClr val="555555"/>
                </a:solidFill>
                <a:latin typeface="Times New Roman"/>
              </a:rPr>
              <a:t>4.85M rows, 90 ngay, time plot, censoring rate</a:t>
            </a:r>
          </a:p>
        </p:txBody>
      </p:sp>
      <p:sp>
        <p:nvSpPr>
          <p:cNvPr id="18" name="Rectangle 17"/>
          <p:cNvSpPr/>
          <p:nvPr/>
        </p:nvSpPr>
        <p:spPr>
          <a:xfrm>
            <a:off x="1188720" y="2807208"/>
            <a:ext cx="10241280" cy="6350"/>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035808"/>
            <a:ext cx="594360" cy="5943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099816"/>
            <a:ext cx="594360" cy="475488"/>
          </a:xfrm>
          <a:prstGeom prst="rect">
            <a:avLst/>
          </a:prstGeom>
          <a:noFill/>
        </p:spPr>
        <p:txBody>
          <a:bodyPr wrap="square">
            <a:spAutoFit/>
          </a:bodyPr>
          <a:lstStyle/>
          <a:p>
            <a:pPr algn="ctr"/>
            <a:r>
              <a:rPr sz="1800" b="1" i="0">
                <a:solidFill>
                  <a:srgbClr val="FFBF00"/>
                </a:solidFill>
                <a:latin typeface="Times New Roman"/>
              </a:rPr>
              <a:t>03</a:t>
            </a:r>
          </a:p>
        </p:txBody>
      </p:sp>
      <p:sp>
        <p:nvSpPr>
          <p:cNvPr id="21" name="TextBox 20"/>
          <p:cNvSpPr txBox="1"/>
          <p:nvPr/>
        </p:nvSpPr>
        <p:spPr>
          <a:xfrm>
            <a:off x="1188720" y="3035808"/>
            <a:ext cx="9144000" cy="347472"/>
          </a:xfrm>
          <a:prstGeom prst="rect">
            <a:avLst/>
          </a:prstGeom>
          <a:noFill/>
        </p:spPr>
        <p:txBody>
          <a:bodyPr wrap="square">
            <a:spAutoFit/>
          </a:bodyPr>
          <a:lstStyle/>
          <a:p>
            <a:pPr algn="l"/>
            <a:r>
              <a:rPr sz="1700" b="1" i="0">
                <a:solidFill>
                  <a:srgbClr val="1F4E79"/>
                </a:solidFill>
                <a:latin typeface="Times New Roman"/>
              </a:rPr>
              <a:t>Phan Tich So Bo</a:t>
            </a:r>
          </a:p>
        </p:txBody>
      </p:sp>
      <p:sp>
        <p:nvSpPr>
          <p:cNvPr id="22" name="TextBox 21"/>
          <p:cNvSpPr txBox="1"/>
          <p:nvPr/>
        </p:nvSpPr>
        <p:spPr>
          <a:xfrm>
            <a:off x="1188720" y="3383280"/>
            <a:ext cx="9144000" cy="256032"/>
          </a:xfrm>
          <a:prstGeom prst="rect">
            <a:avLst/>
          </a:prstGeom>
          <a:noFill/>
        </p:spPr>
        <p:txBody>
          <a:bodyPr wrap="square">
            <a:spAutoFit/>
          </a:bodyPr>
          <a:lstStyle/>
          <a:p>
            <a:pPr algn="l"/>
            <a:r>
              <a:rPr sz="1200" b="0" i="0">
                <a:solidFill>
                  <a:srgbClr val="555555"/>
                </a:solidFill>
                <a:latin typeface="Times New Roman"/>
              </a:rPr>
              <a:t>STL, ADF/KPSS, ACF/PACF, transformations</a:t>
            </a:r>
          </a:p>
        </p:txBody>
      </p:sp>
      <p:sp>
        <p:nvSpPr>
          <p:cNvPr id="23" name="Rectangle 22"/>
          <p:cNvSpPr/>
          <p:nvPr/>
        </p:nvSpPr>
        <p:spPr>
          <a:xfrm>
            <a:off x="1188720" y="3675888"/>
            <a:ext cx="10241280" cy="6350"/>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904488"/>
            <a:ext cx="594360" cy="5943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968496"/>
            <a:ext cx="594360" cy="475488"/>
          </a:xfrm>
          <a:prstGeom prst="rect">
            <a:avLst/>
          </a:prstGeom>
          <a:noFill/>
        </p:spPr>
        <p:txBody>
          <a:bodyPr wrap="square">
            <a:spAutoFit/>
          </a:bodyPr>
          <a:lstStyle/>
          <a:p>
            <a:pPr algn="ctr"/>
            <a:r>
              <a:rPr sz="1800" b="1" i="0">
                <a:solidFill>
                  <a:srgbClr val="FFBF00"/>
                </a:solidFill>
                <a:latin typeface="Times New Roman"/>
              </a:rPr>
              <a:t>04</a:t>
            </a:r>
          </a:p>
        </p:txBody>
      </p:sp>
      <p:sp>
        <p:nvSpPr>
          <p:cNvPr id="26" name="TextBox 25"/>
          <p:cNvSpPr txBox="1"/>
          <p:nvPr/>
        </p:nvSpPr>
        <p:spPr>
          <a:xfrm>
            <a:off x="1188720" y="3904488"/>
            <a:ext cx="9144000" cy="347472"/>
          </a:xfrm>
          <a:prstGeom prst="rect">
            <a:avLst/>
          </a:prstGeom>
          <a:noFill/>
        </p:spPr>
        <p:txBody>
          <a:bodyPr wrap="square">
            <a:spAutoFit/>
          </a:bodyPr>
          <a:lstStyle/>
          <a:p>
            <a:pPr algn="l"/>
            <a:r>
              <a:rPr sz="1700" b="1" i="0">
                <a:solidFill>
                  <a:srgbClr val="1F4E79"/>
                </a:solidFill>
                <a:latin typeface="Times New Roman"/>
              </a:rPr>
              <a:t>Xay Dung Mo Hinh</a:t>
            </a:r>
          </a:p>
        </p:txBody>
      </p:sp>
      <p:sp>
        <p:nvSpPr>
          <p:cNvPr id="27" name="TextBox 26"/>
          <p:cNvSpPr txBox="1"/>
          <p:nvPr/>
        </p:nvSpPr>
        <p:spPr>
          <a:xfrm>
            <a:off x="1188720" y="4251960"/>
            <a:ext cx="9144000" cy="256032"/>
          </a:xfrm>
          <a:prstGeom prst="rect">
            <a:avLst/>
          </a:prstGeom>
          <a:noFill/>
        </p:spPr>
        <p:txBody>
          <a:bodyPr wrap="square">
            <a:spAutoFit/>
          </a:bodyPr>
          <a:lstStyle/>
          <a:p>
            <a:pPr algn="l"/>
            <a:r>
              <a:rPr sz="1200" b="0" i="0">
                <a:solidFill>
                  <a:srgbClr val="555555"/>
                </a:solidFill>
                <a:latin typeface="Times New Roman"/>
              </a:rPr>
              <a:t>SARIMA(1,1,1)(0,1,1)[7], SARIMAX, residuals, forecast</a:t>
            </a:r>
          </a:p>
        </p:txBody>
      </p:sp>
      <p:sp>
        <p:nvSpPr>
          <p:cNvPr id="28" name="Rectangle 27"/>
          <p:cNvSpPr/>
          <p:nvPr/>
        </p:nvSpPr>
        <p:spPr>
          <a:xfrm>
            <a:off x="1188720" y="4544568"/>
            <a:ext cx="10241280" cy="6350"/>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773168"/>
            <a:ext cx="594360" cy="5943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837176"/>
            <a:ext cx="594360" cy="475488"/>
          </a:xfrm>
          <a:prstGeom prst="rect">
            <a:avLst/>
          </a:prstGeom>
          <a:noFill/>
        </p:spPr>
        <p:txBody>
          <a:bodyPr wrap="square">
            <a:spAutoFit/>
          </a:bodyPr>
          <a:lstStyle/>
          <a:p>
            <a:pPr algn="ctr"/>
            <a:r>
              <a:rPr sz="1800" b="1" i="0">
                <a:solidFill>
                  <a:srgbClr val="FFBF00"/>
                </a:solidFill>
                <a:latin typeface="Times New Roman"/>
              </a:rPr>
              <a:t>05</a:t>
            </a:r>
          </a:p>
        </p:txBody>
      </p:sp>
      <p:sp>
        <p:nvSpPr>
          <p:cNvPr id="31" name="TextBox 30"/>
          <p:cNvSpPr txBox="1"/>
          <p:nvPr/>
        </p:nvSpPr>
        <p:spPr>
          <a:xfrm>
            <a:off x="1188720" y="4773168"/>
            <a:ext cx="9144000" cy="347472"/>
          </a:xfrm>
          <a:prstGeom prst="rect">
            <a:avLst/>
          </a:prstGeom>
          <a:noFill/>
        </p:spPr>
        <p:txBody>
          <a:bodyPr wrap="square">
            <a:spAutoFit/>
          </a:bodyPr>
          <a:lstStyle/>
          <a:p>
            <a:pPr algn="l"/>
            <a:r>
              <a:rPr sz="1700" b="1" i="0">
                <a:solidFill>
                  <a:srgbClr val="1F4E79"/>
                </a:solidFill>
                <a:latin typeface="Times New Roman"/>
              </a:rPr>
              <a:t>Phan Cong &amp; Ke Hoach</a:t>
            </a:r>
          </a:p>
        </p:txBody>
      </p:sp>
      <p:sp>
        <p:nvSpPr>
          <p:cNvPr id="32" name="TextBox 31"/>
          <p:cNvSpPr txBox="1"/>
          <p:nvPr/>
        </p:nvSpPr>
        <p:spPr>
          <a:xfrm>
            <a:off x="1188720" y="5120640"/>
            <a:ext cx="9144000" cy="256032"/>
          </a:xfrm>
          <a:prstGeom prst="rect">
            <a:avLst/>
          </a:prstGeom>
          <a:noFill/>
        </p:spPr>
        <p:txBody>
          <a:bodyPr wrap="square">
            <a:spAutoFit/>
          </a:bodyPr>
          <a:lstStyle/>
          <a:p>
            <a:pPr algn="l"/>
            <a:r>
              <a:rPr sz="1200" b="0" i="0">
                <a:solidFill>
                  <a:srgbClr val="555555"/>
                </a:solidFill>
                <a:latin typeface="Times New Roman"/>
              </a:rPr>
              <a:t>Timeline tuan 6-8, cong viec con lai</a:t>
            </a:r>
          </a:p>
        </p:txBody>
      </p:sp>
      <p:sp>
        <p:nvSpPr>
          <p:cNvPr id="33" name="Rectangle 32"/>
          <p:cNvSpPr/>
          <p:nvPr/>
        </p:nvSpPr>
        <p:spPr>
          <a:xfrm>
            <a:off x="1188720" y="5413248"/>
            <a:ext cx="10241280" cy="6350"/>
          </a:xfrm>
          <a:prstGeom prst="rect">
            <a:avLst/>
          </a:prstGeom>
          <a:solidFill>
            <a:srgbClr val="D0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Problem Statement &amp; Motivation</a:t>
            </a:r>
          </a:p>
        </p:txBody>
      </p:sp>
      <p:sp>
        <p:nvSpPr>
          <p:cNvPr id="5" name="TextBox 4"/>
          <p:cNvSpPr txBox="1"/>
          <p:nvPr/>
        </p:nvSpPr>
        <p:spPr>
          <a:xfrm>
            <a:off x="365760" y="640080"/>
            <a:ext cx="10972800" cy="329184"/>
          </a:xfrm>
          <a:prstGeom prst="rect">
            <a:avLst/>
          </a:prstGeom>
          <a:noFill/>
        </p:spPr>
        <p:txBody>
          <a:bodyPr wrap="square">
            <a:spAutoFit/>
          </a:bodyPr>
          <a:lstStyle/>
          <a:p>
            <a:pPr algn="l"/>
            <a:r>
              <a:rPr sz="1300" b="0" i="0">
                <a:solidFill>
                  <a:srgbClr val="BDD7EE"/>
                </a:solidFill>
                <a:latin typeface="Times New Roman"/>
              </a:rPr>
              <a:t>Cau hoi nghien cuu va boi canh thuc tien</a:t>
            </a:r>
          </a:p>
        </p:txBody>
      </p:sp>
      <p:sp>
        <p:nvSpPr>
          <p:cNvPr id="6" name="Rectangle 5"/>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8" name="TextBox 7"/>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3 / 14</a:t>
            </a:r>
          </a:p>
        </p:txBody>
      </p:sp>
      <p:sp>
        <p:nvSpPr>
          <p:cNvPr id="9" name="Rectangle 8"/>
          <p:cNvSpPr/>
          <p:nvPr/>
        </p:nvSpPr>
        <p:spPr>
          <a:xfrm>
            <a:off x="365760" y="1143000"/>
            <a:ext cx="11430000" cy="96012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143000"/>
            <a:ext cx="64008" cy="9601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188720"/>
            <a:ext cx="10972800" cy="320040"/>
          </a:xfrm>
          <a:prstGeom prst="rect">
            <a:avLst/>
          </a:prstGeom>
          <a:noFill/>
        </p:spPr>
        <p:txBody>
          <a:bodyPr wrap="square">
            <a:spAutoFit/>
          </a:bodyPr>
          <a:lstStyle/>
          <a:p>
            <a:pPr algn="l"/>
            <a:r>
              <a:rPr sz="1300" b="1" i="0">
                <a:solidFill>
                  <a:srgbClr val="2E75B6"/>
                </a:solidFill>
                <a:latin typeface="Times New Roman"/>
              </a:rPr>
              <a:t>Cau hoi nghien cuu:</a:t>
            </a:r>
          </a:p>
        </p:txBody>
      </p:sp>
      <p:sp>
        <p:nvSpPr>
          <p:cNvPr id="12" name="TextBox 11"/>
          <p:cNvSpPr txBox="1"/>
          <p:nvPr/>
        </p:nvSpPr>
        <p:spPr>
          <a:xfrm>
            <a:off x="548640" y="1490472"/>
            <a:ext cx="11064240" cy="548640"/>
          </a:xfrm>
          <a:prstGeom prst="rect">
            <a:avLst/>
          </a:prstGeom>
          <a:noFill/>
        </p:spPr>
        <p:txBody>
          <a:bodyPr wrap="square">
            <a:spAutoFit/>
          </a:bodyPr>
          <a:lstStyle/>
          <a:p>
            <a:pPr algn="l"/>
            <a:r>
              <a:rPr sz="1300" b="0" i="1">
                <a:solidFill>
                  <a:srgbClr val="1A1A1A"/>
                </a:solidFill>
                <a:latin typeface="Times New Roman"/>
              </a:rPr>
              <a:t>Lieu mo hinh SARIMA/SARIMAX voi chu ky tuan (s=7) co the nam bat day du cau truc thoi gian cua chuoi doanh so thuc pham tuoi, va covariate nao (thoi tiet, khuyen mai, le) cai thien do chinh xac du bao?</a:t>
            </a:r>
          </a:p>
        </p:txBody>
      </p:sp>
      <p:sp>
        <p:nvSpPr>
          <p:cNvPr id="13" name="Rectangle 12"/>
          <p:cNvSpPr/>
          <p:nvPr/>
        </p:nvSpPr>
        <p:spPr>
          <a:xfrm>
            <a:off x="365760" y="2286000"/>
            <a:ext cx="2926080" cy="3200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2311400"/>
            <a:ext cx="2834640" cy="320040"/>
          </a:xfrm>
          <a:prstGeom prst="rect">
            <a:avLst/>
          </a:prstGeom>
          <a:noFill/>
        </p:spPr>
        <p:txBody>
          <a:bodyPr wrap="square">
            <a:spAutoFit/>
          </a:bodyPr>
          <a:lstStyle/>
          <a:p>
            <a:pPr algn="l"/>
            <a:r>
              <a:rPr sz="1200" b="1" i="0">
                <a:solidFill>
                  <a:srgbClr val="FFFFFF"/>
                </a:solidFill>
                <a:latin typeface="Times New Roman"/>
              </a:rPr>
              <a:t>Tai sao quan trong?</a:t>
            </a:r>
          </a:p>
        </p:txBody>
      </p:sp>
      <p:sp>
        <p:nvSpPr>
          <p:cNvPr id="15" name="TextBox 14"/>
          <p:cNvSpPr txBox="1"/>
          <p:nvPr/>
        </p:nvSpPr>
        <p:spPr>
          <a:xfrm>
            <a:off x="365760" y="2697480"/>
            <a:ext cx="5394960" cy="3200400"/>
          </a:xfrm>
          <a:prstGeom prst="rect">
            <a:avLst/>
          </a:prstGeom>
          <a:noFill/>
        </p:spPr>
        <p:txBody>
          <a:bodyPr wrap="square">
            <a:spAutoFit/>
          </a:bodyPr>
          <a:lstStyle/>
          <a:p>
            <a:pPr>
              <a:spcAft>
                <a:spcPts val="900"/>
              </a:spcAft>
            </a:pPr>
            <a:r>
              <a:rPr sz="1400">
                <a:solidFill>
                  <a:srgbClr val="1A1A1A"/>
                </a:solidFill>
                <a:latin typeface="Times New Roman"/>
              </a:rPr>
              <a:t>Thuc pham tuoi: shelf life 1-3 ngay</a:t>
            </a:r>
          </a:p>
          <a:p>
            <a:pPr>
              <a:spcAft>
                <a:spcPts val="900"/>
              </a:spcAft>
            </a:pPr>
            <a:r>
              <a:rPr sz="1400">
                <a:solidFill>
                  <a:srgbClr val="1A1A1A"/>
                </a:solidFill>
                <a:latin typeface="Times New Roman"/>
              </a:rPr>
              <a:t>Over-stock: hong hang, lang phi thuc pham</a:t>
            </a:r>
          </a:p>
          <a:p>
            <a:pPr>
              <a:spcAft>
                <a:spcPts val="900"/>
              </a:spcAft>
            </a:pPr>
            <a:r>
              <a:rPr sz="1400">
                <a:solidFill>
                  <a:srgbClr val="1A1A1A"/>
                </a:solidFill>
                <a:latin typeface="Times New Roman"/>
              </a:rPr>
              <a:t>Under-stock: het hang, mat doanh thu</a:t>
            </a:r>
          </a:p>
          <a:p>
            <a:pPr>
              <a:spcAft>
                <a:spcPts val="900"/>
              </a:spcAft>
            </a:pPr>
            <a:r>
              <a:rPr sz="1400">
                <a:solidFill>
                  <a:srgbClr val="1A1A1A"/>
                </a:solidFill>
                <a:latin typeface="Times New Roman"/>
              </a:rPr>
              <a:t>Du bao chinh xac = giam thiet hai kep</a:t>
            </a:r>
          </a:p>
        </p:txBody>
      </p:sp>
      <p:sp>
        <p:nvSpPr>
          <p:cNvPr id="16" name="Rectangle 15"/>
          <p:cNvSpPr/>
          <p:nvPr/>
        </p:nvSpPr>
        <p:spPr>
          <a:xfrm>
            <a:off x="6126480" y="2286000"/>
            <a:ext cx="5669280" cy="3749039"/>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2286000"/>
            <a:ext cx="5669280"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9632" y="2311400"/>
            <a:ext cx="5577840" cy="320040"/>
          </a:xfrm>
          <a:prstGeom prst="rect">
            <a:avLst/>
          </a:prstGeom>
          <a:noFill/>
        </p:spPr>
        <p:txBody>
          <a:bodyPr wrap="square">
            <a:spAutoFit/>
          </a:bodyPr>
          <a:lstStyle/>
          <a:p>
            <a:pPr algn="l"/>
            <a:r>
              <a:rPr sz="1200" b="1" i="0">
                <a:solidFill>
                  <a:srgbClr val="FFFFFF"/>
                </a:solidFill>
                <a:latin typeface="Times New Roman"/>
              </a:rPr>
              <a:t>Censored Demand — Thach thuc chinh</a:t>
            </a:r>
          </a:p>
        </p:txBody>
      </p:sp>
      <p:sp>
        <p:nvSpPr>
          <p:cNvPr id="19" name="TextBox 18"/>
          <p:cNvSpPr txBox="1"/>
          <p:nvPr/>
        </p:nvSpPr>
        <p:spPr>
          <a:xfrm>
            <a:off x="6263640" y="2697480"/>
            <a:ext cx="5394960" cy="329184"/>
          </a:xfrm>
          <a:prstGeom prst="rect">
            <a:avLst/>
          </a:prstGeom>
          <a:noFill/>
        </p:spPr>
        <p:txBody>
          <a:bodyPr wrap="square">
            <a:spAutoFit/>
          </a:bodyPr>
          <a:lstStyle/>
          <a:p>
            <a:pPr algn="l"/>
            <a:r>
              <a:rPr sz="1300" b="0" i="0">
                <a:solidFill>
                  <a:srgbClr val="1A1A1A"/>
                </a:solidFill>
                <a:latin typeface="Times New Roman"/>
              </a:rPr>
              <a:t>Khi hang het trong ngay (stockout):</a:t>
            </a:r>
          </a:p>
        </p:txBody>
      </p:sp>
      <p:sp>
        <p:nvSpPr>
          <p:cNvPr id="20" name="TextBox 19"/>
          <p:cNvSpPr txBox="1"/>
          <p:nvPr/>
        </p:nvSpPr>
        <p:spPr>
          <a:xfrm>
            <a:off x="6263640" y="2999232"/>
            <a:ext cx="5394960" cy="329184"/>
          </a:xfrm>
          <a:prstGeom prst="rect">
            <a:avLst/>
          </a:prstGeom>
          <a:noFill/>
        </p:spPr>
        <p:txBody>
          <a:bodyPr wrap="square">
            <a:spAutoFit/>
          </a:bodyPr>
          <a:lstStyle/>
          <a:p>
            <a:pPr algn="l"/>
            <a:r>
              <a:rPr sz="1400" b="1" i="0">
                <a:solidFill>
                  <a:srgbClr val="C0392B"/>
                </a:solidFill>
                <a:latin typeface="Times New Roman"/>
              </a:rPr>
              <a:t>doanh so ghi nhan  &lt;  nhu cau thuc te</a:t>
            </a:r>
          </a:p>
        </p:txBody>
      </p:sp>
      <p:sp>
        <p:nvSpPr>
          <p:cNvPr id="21" name="TextBox 20"/>
          <p:cNvSpPr txBox="1"/>
          <p:nvPr/>
        </p:nvSpPr>
        <p:spPr>
          <a:xfrm>
            <a:off x="6263640" y="3383280"/>
            <a:ext cx="5349240" cy="2560320"/>
          </a:xfrm>
          <a:prstGeom prst="rect">
            <a:avLst/>
          </a:prstGeom>
          <a:noFill/>
        </p:spPr>
        <p:txBody>
          <a:bodyPr wrap="square">
            <a:spAutoFit/>
          </a:bodyPr>
          <a:lstStyle/>
          <a:p>
            <a:pPr>
              <a:spcAft>
                <a:spcPts val="700"/>
              </a:spcAft>
            </a:pPr>
            <a:r>
              <a:rPr sz="1300">
                <a:solidFill>
                  <a:srgbClr val="1A1A1A"/>
                </a:solidFill>
                <a:latin typeface="Times New Roman"/>
              </a:rPr>
              <a:t>~65% quan sat SKU-ngay co dau hieu stockout</a:t>
            </a:r>
          </a:p>
          <a:p>
            <a:pPr>
              <a:spcAft>
                <a:spcPts val="700"/>
              </a:spcAft>
            </a:pPr>
            <a:r>
              <a:rPr sz="1300">
                <a:solidFill>
                  <a:srgbClr val="1A1A1A"/>
                </a:solidFill>
                <a:latin typeface="Times New Roman"/>
              </a:rPr>
              <a:t>Forecast tu SARIMA = can duoi nhu cau</a:t>
            </a:r>
          </a:p>
          <a:p>
            <a:pPr>
              <a:spcAft>
                <a:spcPts val="700"/>
              </a:spcAft>
            </a:pPr>
            <a:r>
              <a:rPr sz="1300">
                <a:solidFill>
                  <a:srgbClr val="1A1A1A"/>
                </a:solidFill>
                <a:latin typeface="Times New Roman"/>
              </a:rPr>
              <a:t>Can Tobit-correction o tuan tiep theo</a:t>
            </a:r>
          </a:p>
          <a:p>
            <a:pPr>
              <a:spcAft>
                <a:spcPts val="700"/>
              </a:spcAft>
            </a:pPr>
            <a:r>
              <a:rPr sz="1300">
                <a:solidFill>
                  <a:srgbClr val="1A1A1A"/>
                </a:solidFill>
                <a:latin typeface="Times New Roman"/>
              </a:rPr>
              <a:t>stock_hour6_22_cnt &lt; 16  -&gt;  Stockout proxy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Mo Ta Du Lieu</a:t>
            </a:r>
          </a:p>
        </p:txBody>
      </p:sp>
      <p:sp>
        <p:nvSpPr>
          <p:cNvPr id="5" name="TextBox 4"/>
          <p:cNvSpPr txBox="1"/>
          <p:nvPr/>
        </p:nvSpPr>
        <p:spPr>
          <a:xfrm>
            <a:off x="365760" y="640080"/>
            <a:ext cx="10972800" cy="329184"/>
          </a:xfrm>
          <a:prstGeom prst="rect">
            <a:avLst/>
          </a:prstGeom>
          <a:noFill/>
        </p:spPr>
        <p:txBody>
          <a:bodyPr wrap="square">
            <a:spAutoFit/>
          </a:bodyPr>
          <a:lstStyle/>
          <a:p>
            <a:pPr algn="l"/>
            <a:r>
              <a:rPr sz="1300" b="0" i="0">
                <a:solidFill>
                  <a:srgbClr val="BDD7EE"/>
                </a:solidFill>
                <a:latin typeface="Times New Roman"/>
              </a:rPr>
              <a:t>FreshRetailNet-50K — Dingdong Inc. | CC-BY-4.0 | ArXiv 2505.16319</a:t>
            </a:r>
          </a:p>
        </p:txBody>
      </p:sp>
      <p:sp>
        <p:nvSpPr>
          <p:cNvPr id="6" name="Rectangle 5"/>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8" name="TextBox 7"/>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4 / 14</a:t>
            </a:r>
          </a:p>
        </p:txBody>
      </p:sp>
      <p:sp>
        <p:nvSpPr>
          <p:cNvPr id="9" name="Rectangle 8"/>
          <p:cNvSpPr/>
          <p:nvPr/>
        </p:nvSpPr>
        <p:spPr>
          <a:xfrm>
            <a:off x="320040" y="1234440"/>
            <a:ext cx="2148840" cy="868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280160"/>
            <a:ext cx="2148840" cy="475488"/>
          </a:xfrm>
          <a:prstGeom prst="rect">
            <a:avLst/>
          </a:prstGeom>
          <a:noFill/>
        </p:spPr>
        <p:txBody>
          <a:bodyPr wrap="square">
            <a:spAutoFit/>
          </a:bodyPr>
          <a:lstStyle/>
          <a:p>
            <a:pPr algn="ctr"/>
            <a:r>
              <a:rPr sz="2400" b="1" i="0">
                <a:solidFill>
                  <a:srgbClr val="FFBF00"/>
                </a:solidFill>
                <a:latin typeface="Times New Roman"/>
              </a:rPr>
              <a:t>4.85 Trieu</a:t>
            </a:r>
          </a:p>
        </p:txBody>
      </p:sp>
      <p:sp>
        <p:nvSpPr>
          <p:cNvPr id="11" name="TextBox 10"/>
          <p:cNvSpPr txBox="1"/>
          <p:nvPr/>
        </p:nvSpPr>
        <p:spPr>
          <a:xfrm>
            <a:off x="320040" y="1728216"/>
            <a:ext cx="2148840" cy="347472"/>
          </a:xfrm>
          <a:prstGeom prst="rect">
            <a:avLst/>
          </a:prstGeom>
          <a:noFill/>
        </p:spPr>
        <p:txBody>
          <a:bodyPr wrap="square">
            <a:spAutoFit/>
          </a:bodyPr>
          <a:lstStyle/>
          <a:p>
            <a:pPr algn="ctr"/>
            <a:r>
              <a:rPr sz="1000" b="0" i="0">
                <a:solidFill>
                  <a:srgbClr val="BDD7EE"/>
                </a:solidFill>
                <a:latin typeface="Times New Roman"/>
              </a:rPr>
              <a:t>Tong so dong (train)</a:t>
            </a:r>
          </a:p>
        </p:txBody>
      </p:sp>
      <p:sp>
        <p:nvSpPr>
          <p:cNvPr id="12" name="Rectangle 11"/>
          <p:cNvSpPr/>
          <p:nvPr/>
        </p:nvSpPr>
        <p:spPr>
          <a:xfrm>
            <a:off x="2578608" y="1234440"/>
            <a:ext cx="2148840" cy="868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8608" y="1280160"/>
            <a:ext cx="2148840" cy="475488"/>
          </a:xfrm>
          <a:prstGeom prst="rect">
            <a:avLst/>
          </a:prstGeom>
          <a:noFill/>
        </p:spPr>
        <p:txBody>
          <a:bodyPr wrap="square">
            <a:spAutoFit/>
          </a:bodyPr>
          <a:lstStyle/>
          <a:p>
            <a:pPr algn="ctr"/>
            <a:r>
              <a:rPr sz="2400" b="1" i="0">
                <a:solidFill>
                  <a:srgbClr val="FFBF00"/>
                </a:solidFill>
                <a:latin typeface="Times New Roman"/>
              </a:rPr>
              <a:t>90 Ngay</a:t>
            </a:r>
          </a:p>
        </p:txBody>
      </p:sp>
      <p:sp>
        <p:nvSpPr>
          <p:cNvPr id="14" name="TextBox 13"/>
          <p:cNvSpPr txBox="1"/>
          <p:nvPr/>
        </p:nvSpPr>
        <p:spPr>
          <a:xfrm>
            <a:off x="2578608" y="1728216"/>
            <a:ext cx="2148840" cy="347472"/>
          </a:xfrm>
          <a:prstGeom prst="rect">
            <a:avLst/>
          </a:prstGeom>
          <a:noFill/>
        </p:spPr>
        <p:txBody>
          <a:bodyPr wrap="square">
            <a:spAutoFit/>
          </a:bodyPr>
          <a:lstStyle/>
          <a:p>
            <a:pPr algn="ctr"/>
            <a:r>
              <a:rPr sz="1000" b="0" i="0">
                <a:solidFill>
                  <a:srgbClr val="BDD7EE"/>
                </a:solidFill>
                <a:latin typeface="Times New Roman"/>
              </a:rPr>
              <a:t>Thang 3 - 6 / 2024</a:t>
            </a:r>
          </a:p>
        </p:txBody>
      </p:sp>
      <p:sp>
        <p:nvSpPr>
          <p:cNvPr id="15" name="Rectangle 14"/>
          <p:cNvSpPr/>
          <p:nvPr/>
        </p:nvSpPr>
        <p:spPr>
          <a:xfrm>
            <a:off x="4837176" y="1234440"/>
            <a:ext cx="2148840" cy="868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37176" y="1280160"/>
            <a:ext cx="2148840" cy="475488"/>
          </a:xfrm>
          <a:prstGeom prst="rect">
            <a:avLst/>
          </a:prstGeom>
          <a:noFill/>
        </p:spPr>
        <p:txBody>
          <a:bodyPr wrap="square">
            <a:spAutoFit/>
          </a:bodyPr>
          <a:lstStyle/>
          <a:p>
            <a:pPr algn="ctr"/>
            <a:r>
              <a:rPr sz="2400" b="1" i="0">
                <a:solidFill>
                  <a:srgbClr val="FFBF00"/>
                </a:solidFill>
                <a:latin typeface="Times New Roman"/>
              </a:rPr>
              <a:t>50 K+</a:t>
            </a:r>
          </a:p>
        </p:txBody>
      </p:sp>
      <p:sp>
        <p:nvSpPr>
          <p:cNvPr id="17" name="TextBox 16"/>
          <p:cNvSpPr txBox="1"/>
          <p:nvPr/>
        </p:nvSpPr>
        <p:spPr>
          <a:xfrm>
            <a:off x="4837176" y="1728216"/>
            <a:ext cx="2148840" cy="347472"/>
          </a:xfrm>
          <a:prstGeom prst="rect">
            <a:avLst/>
          </a:prstGeom>
          <a:noFill/>
        </p:spPr>
        <p:txBody>
          <a:bodyPr wrap="square">
            <a:spAutoFit/>
          </a:bodyPr>
          <a:lstStyle/>
          <a:p>
            <a:pPr algn="ctr"/>
            <a:r>
              <a:rPr sz="1000" b="0" i="0">
                <a:solidFill>
                  <a:srgbClr val="BDD7EE"/>
                </a:solidFill>
                <a:latin typeface="Times New Roman"/>
              </a:rPr>
              <a:t>Cap SKU-Cua hang</a:t>
            </a:r>
          </a:p>
        </p:txBody>
      </p:sp>
      <p:sp>
        <p:nvSpPr>
          <p:cNvPr id="18" name="Rectangle 17"/>
          <p:cNvSpPr/>
          <p:nvPr/>
        </p:nvSpPr>
        <p:spPr>
          <a:xfrm>
            <a:off x="7095744" y="1234440"/>
            <a:ext cx="2148840" cy="868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95744" y="1280160"/>
            <a:ext cx="2148840" cy="475488"/>
          </a:xfrm>
          <a:prstGeom prst="rect">
            <a:avLst/>
          </a:prstGeom>
          <a:noFill/>
        </p:spPr>
        <p:txBody>
          <a:bodyPr wrap="square">
            <a:spAutoFit/>
          </a:bodyPr>
          <a:lstStyle/>
          <a:p>
            <a:pPr algn="ctr"/>
            <a:r>
              <a:rPr sz="2400" b="1" i="0">
                <a:solidFill>
                  <a:srgbClr val="FFBF00"/>
                </a:solidFill>
                <a:latin typeface="Times New Roman"/>
              </a:rPr>
              <a:t>19 Cot</a:t>
            </a:r>
          </a:p>
        </p:txBody>
      </p:sp>
      <p:sp>
        <p:nvSpPr>
          <p:cNvPr id="20" name="TextBox 19"/>
          <p:cNvSpPr txBox="1"/>
          <p:nvPr/>
        </p:nvSpPr>
        <p:spPr>
          <a:xfrm>
            <a:off x="7095744" y="1728216"/>
            <a:ext cx="2148840" cy="347472"/>
          </a:xfrm>
          <a:prstGeom prst="rect">
            <a:avLst/>
          </a:prstGeom>
          <a:noFill/>
        </p:spPr>
        <p:txBody>
          <a:bodyPr wrap="square">
            <a:spAutoFit/>
          </a:bodyPr>
          <a:lstStyle/>
          <a:p>
            <a:pPr algn="ctr"/>
            <a:r>
              <a:rPr sz="1000" b="0" i="0">
                <a:solidFill>
                  <a:srgbClr val="BDD7EE"/>
                </a:solidFill>
                <a:latin typeface="Times New Roman"/>
              </a:rPr>
              <a:t>Bien dac trung</a:t>
            </a:r>
          </a:p>
        </p:txBody>
      </p:sp>
      <p:sp>
        <p:nvSpPr>
          <p:cNvPr id="21" name="Rectangle 20"/>
          <p:cNvSpPr/>
          <p:nvPr/>
        </p:nvSpPr>
        <p:spPr>
          <a:xfrm>
            <a:off x="9354312" y="1234440"/>
            <a:ext cx="2148840" cy="868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54312" y="1280160"/>
            <a:ext cx="2148840" cy="475488"/>
          </a:xfrm>
          <a:prstGeom prst="rect">
            <a:avLst/>
          </a:prstGeom>
          <a:noFill/>
        </p:spPr>
        <p:txBody>
          <a:bodyPr wrap="square">
            <a:spAutoFit/>
          </a:bodyPr>
          <a:lstStyle/>
          <a:p>
            <a:pPr algn="ctr"/>
            <a:r>
              <a:rPr sz="2400" b="1" i="0">
                <a:solidFill>
                  <a:srgbClr val="FFBF00"/>
                </a:solidFill>
                <a:latin typeface="Times New Roman"/>
              </a:rPr>
              <a:t>Hang ngay</a:t>
            </a:r>
          </a:p>
        </p:txBody>
      </p:sp>
      <p:sp>
        <p:nvSpPr>
          <p:cNvPr id="23" name="TextBox 22"/>
          <p:cNvSpPr txBox="1"/>
          <p:nvPr/>
        </p:nvSpPr>
        <p:spPr>
          <a:xfrm>
            <a:off x="9354312" y="1728216"/>
            <a:ext cx="2148840" cy="347472"/>
          </a:xfrm>
          <a:prstGeom prst="rect">
            <a:avLst/>
          </a:prstGeom>
          <a:noFill/>
        </p:spPr>
        <p:txBody>
          <a:bodyPr wrap="square">
            <a:spAutoFit/>
          </a:bodyPr>
          <a:lstStyle/>
          <a:p>
            <a:pPr algn="ctr"/>
            <a:r>
              <a:rPr sz="1000" b="0" i="0">
                <a:solidFill>
                  <a:srgbClr val="BDD7EE"/>
                </a:solidFill>
                <a:latin typeface="Times New Roman"/>
              </a:rPr>
              <a:t>Tan suat + gio</a:t>
            </a:r>
          </a:p>
        </p:txBody>
      </p:sp>
      <p:sp>
        <p:nvSpPr>
          <p:cNvPr id="24" name="Rectangle 23"/>
          <p:cNvSpPr/>
          <p:nvPr/>
        </p:nvSpPr>
        <p:spPr>
          <a:xfrm>
            <a:off x="320040" y="2286000"/>
            <a:ext cx="2743200"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2311400"/>
            <a:ext cx="2651760" cy="320040"/>
          </a:xfrm>
          <a:prstGeom prst="rect">
            <a:avLst/>
          </a:prstGeom>
          <a:noFill/>
        </p:spPr>
        <p:txBody>
          <a:bodyPr wrap="square">
            <a:spAutoFit/>
          </a:bodyPr>
          <a:lstStyle/>
          <a:p>
            <a:pPr algn="l"/>
            <a:r>
              <a:rPr sz="1200" b="1" i="0">
                <a:solidFill>
                  <a:srgbClr val="FFFFFF"/>
                </a:solidFill>
                <a:latin typeface="Times New Roman"/>
              </a:rPr>
              <a:t>Cot du lieu chinh</a:t>
            </a:r>
          </a:p>
        </p:txBody>
      </p:sp>
      <p:graphicFrame>
        <p:nvGraphicFramePr>
          <p:cNvPr id="26" name="Table 25"/>
          <p:cNvGraphicFramePr>
            <a:graphicFrameLocks noGrp="1"/>
          </p:cNvGraphicFramePr>
          <p:nvPr/>
        </p:nvGraphicFramePr>
        <p:xfrm>
          <a:off x="320040" y="2651760"/>
          <a:ext cx="11521440" cy="3474720"/>
        </p:xfrm>
        <a:graphic>
          <a:graphicData uri="http://schemas.openxmlformats.org/drawingml/2006/table">
            <a:tbl>
              <a:tblPr firstRow="1" bandRow="1">
                <a:tableStyleId>{5C22544A-7EE6-4342-B048-85BDC9FD1C3A}</a:tableStyleId>
              </a:tblPr>
              <a:tblGrid>
                <a:gridCol w="2286000"/>
                <a:gridCol w="1645920"/>
                <a:gridCol w="7589520"/>
              </a:tblGrid>
              <a:tr h="386080">
                <a:tc>
                  <a:txBody>
                    <a:bodyPr/>
                    <a:lstStyle/>
                    <a:p>
                      <a:pPr algn="ctr"/>
                      <a:r>
                        <a:rPr sz="1200" b="1">
                          <a:solidFill>
                            <a:srgbClr val="FFFFFF"/>
                          </a:solidFill>
                          <a:latin typeface="Times New Roman"/>
                        </a:rPr>
                        <a:t>Cot</a:t>
                      </a:r>
                    </a:p>
                  </a:txBody>
                  <a:tcPr>
                    <a:solidFill>
                      <a:srgbClr val="1F4E79"/>
                    </a:solidFill>
                  </a:tcPr>
                </a:tc>
                <a:tc>
                  <a:txBody>
                    <a:bodyPr/>
                    <a:lstStyle/>
                    <a:p>
                      <a:pPr algn="ctr"/>
                      <a:r>
                        <a:rPr sz="1200" b="1">
                          <a:solidFill>
                            <a:srgbClr val="FFFFFF"/>
                          </a:solidFill>
                          <a:latin typeface="Times New Roman"/>
                        </a:rPr>
                        <a:t>Kieu</a:t>
                      </a:r>
                    </a:p>
                  </a:txBody>
                  <a:tcPr>
                    <a:solidFill>
                      <a:srgbClr val="1F4E79"/>
                    </a:solidFill>
                  </a:tcPr>
                </a:tc>
                <a:tc>
                  <a:txBody>
                    <a:bodyPr/>
                    <a:lstStyle/>
                    <a:p>
                      <a:pPr algn="ctr"/>
                      <a:r>
                        <a:rPr sz="1200" b="1">
                          <a:solidFill>
                            <a:srgbClr val="FFFFFF"/>
                          </a:solidFill>
                          <a:latin typeface="Times New Roman"/>
                        </a:rPr>
                        <a:t>Y nghia</a:t>
                      </a:r>
                    </a:p>
                  </a:txBody>
                  <a:tcPr>
                    <a:solidFill>
                      <a:srgbClr val="1F4E79"/>
                    </a:solidFill>
                  </a:tcPr>
                </a:tc>
              </a:tr>
              <a:tr h="386080">
                <a:tc>
                  <a:txBody>
                    <a:bodyPr/>
                    <a:lstStyle/>
                    <a:p>
                      <a:pPr algn="l"/>
                      <a:r>
                        <a:rPr sz="1100" b="0">
                          <a:solidFill>
                            <a:srgbClr val="1A1A1A"/>
                          </a:solidFill>
                          <a:latin typeface="Times New Roman"/>
                        </a:rPr>
                        <a:t>dt</a:t>
                      </a:r>
                    </a:p>
                  </a:txBody>
                  <a:tcPr>
                    <a:solidFill>
                      <a:srgbClr val="FFFFFF"/>
                    </a:solidFill>
                  </a:tcPr>
                </a:tc>
                <a:tc>
                  <a:txBody>
                    <a:bodyPr/>
                    <a:lstStyle/>
                    <a:p>
                      <a:pPr algn="ctr"/>
                      <a:r>
                        <a:rPr sz="1100" b="0">
                          <a:solidFill>
                            <a:srgbClr val="1A1A1A"/>
                          </a:solidFill>
                          <a:latin typeface="Times New Roman"/>
                        </a:rPr>
                        <a:t>datetime</a:t>
                      </a:r>
                    </a:p>
                  </a:txBody>
                  <a:tcPr>
                    <a:solidFill>
                      <a:srgbClr val="FFFFFF"/>
                    </a:solidFill>
                  </a:tcPr>
                </a:tc>
                <a:tc>
                  <a:txBody>
                    <a:bodyPr/>
                    <a:lstStyle/>
                    <a:p>
                      <a:pPr algn="ctr"/>
                      <a:r>
                        <a:rPr sz="1100" b="0">
                          <a:solidFill>
                            <a:srgbClr val="1A1A1A"/>
                          </a:solidFill>
                          <a:latin typeface="Times New Roman"/>
                        </a:rPr>
                        <a:t>Chi so thoi gian</a:t>
                      </a:r>
                    </a:p>
                  </a:txBody>
                  <a:tcPr>
                    <a:solidFill>
                      <a:srgbClr val="FFFFFF"/>
                    </a:solidFill>
                  </a:tcPr>
                </a:tc>
              </a:tr>
              <a:tr h="386080">
                <a:tc>
                  <a:txBody>
                    <a:bodyPr/>
                    <a:lstStyle/>
                    <a:p>
                      <a:pPr algn="l"/>
                      <a:r>
                        <a:rPr sz="1100" b="0">
                          <a:solidFill>
                            <a:srgbClr val="1A1A1A"/>
                          </a:solidFill>
                          <a:latin typeface="Times New Roman"/>
                        </a:rPr>
                        <a:t>sale_amount</a:t>
                      </a:r>
                    </a:p>
                  </a:txBody>
                  <a:tcPr>
                    <a:solidFill>
                      <a:srgbClr val="F2F4F8"/>
                    </a:solidFill>
                  </a:tcPr>
                </a:tc>
                <a:tc>
                  <a:txBody>
                    <a:bodyPr/>
                    <a:lstStyle/>
                    <a:p>
                      <a:pPr algn="ctr"/>
                      <a:r>
                        <a:rPr sz="1100" b="0">
                          <a:solidFill>
                            <a:srgbClr val="1A1A1A"/>
                          </a:solidFill>
                          <a:latin typeface="Times New Roman"/>
                        </a:rPr>
                        <a:t>float64</a:t>
                      </a:r>
                    </a:p>
                  </a:txBody>
                  <a:tcPr>
                    <a:solidFill>
                      <a:srgbClr val="F2F4F8"/>
                    </a:solidFill>
                  </a:tcPr>
                </a:tc>
                <a:tc>
                  <a:txBody>
                    <a:bodyPr/>
                    <a:lstStyle/>
                    <a:p>
                      <a:pPr algn="ctr"/>
                      <a:r>
                        <a:rPr sz="1100" b="0">
                          <a:solidFill>
                            <a:srgbClr val="1A1A1A"/>
                          </a:solidFill>
                          <a:latin typeface="Times New Roman"/>
                        </a:rPr>
                        <a:t>Muc tieu: doanh so ngay (censored)</a:t>
                      </a:r>
                    </a:p>
                  </a:txBody>
                  <a:tcPr>
                    <a:solidFill>
                      <a:srgbClr val="F2F4F8"/>
                    </a:solidFill>
                  </a:tcPr>
                </a:tc>
              </a:tr>
              <a:tr h="386080">
                <a:tc>
                  <a:txBody>
                    <a:bodyPr/>
                    <a:lstStyle/>
                    <a:p>
                      <a:pPr algn="l"/>
                      <a:r>
                        <a:rPr sz="1100" b="0">
                          <a:solidFill>
                            <a:srgbClr val="1A1A1A"/>
                          </a:solidFill>
                          <a:latin typeface="Times New Roman"/>
                        </a:rPr>
                        <a:t>hours_sale</a:t>
                      </a:r>
                    </a:p>
                  </a:txBody>
                  <a:tcPr>
                    <a:solidFill>
                      <a:srgbClr val="FFFFFF"/>
                    </a:solidFill>
                  </a:tcPr>
                </a:tc>
                <a:tc>
                  <a:txBody>
                    <a:bodyPr/>
                    <a:lstStyle/>
                    <a:p>
                      <a:pPr algn="ctr"/>
                      <a:r>
                        <a:rPr sz="1100" b="0">
                          <a:solidFill>
                            <a:srgbClr val="1A1A1A"/>
                          </a:solidFill>
                          <a:latin typeface="Times New Roman"/>
                        </a:rPr>
                        <a:t>array[24]</a:t>
                      </a:r>
                    </a:p>
                  </a:txBody>
                  <a:tcPr>
                    <a:solidFill>
                      <a:srgbClr val="FFFFFF"/>
                    </a:solidFill>
                  </a:tcPr>
                </a:tc>
                <a:tc>
                  <a:txBody>
                    <a:bodyPr/>
                    <a:lstStyle/>
                    <a:p>
                      <a:pPr algn="ctr"/>
                      <a:r>
                        <a:rPr sz="1100" b="0">
                          <a:solidFill>
                            <a:srgbClr val="1A1A1A"/>
                          </a:solidFill>
                          <a:latin typeface="Times New Roman"/>
                        </a:rPr>
                        <a:t>Doanh so theo tung gio</a:t>
                      </a:r>
                    </a:p>
                  </a:txBody>
                  <a:tcPr>
                    <a:solidFill>
                      <a:srgbClr val="FFFFFF"/>
                    </a:solidFill>
                  </a:tcPr>
                </a:tc>
              </a:tr>
              <a:tr h="386080">
                <a:tc>
                  <a:txBody>
                    <a:bodyPr/>
                    <a:lstStyle/>
                    <a:p>
                      <a:pPr algn="l"/>
                      <a:r>
                        <a:rPr sz="1100" b="0">
                          <a:solidFill>
                            <a:srgbClr val="1A1A1A"/>
                          </a:solidFill>
                          <a:latin typeface="Times New Roman"/>
                        </a:rPr>
                        <a:t>stock_hour6_22_cnt</a:t>
                      </a:r>
                    </a:p>
                  </a:txBody>
                  <a:tcPr>
                    <a:solidFill>
                      <a:srgbClr val="F2F4F8"/>
                    </a:solidFill>
                  </a:tcPr>
                </a:tc>
                <a:tc>
                  <a:txBody>
                    <a:bodyPr/>
                    <a:lstStyle/>
                    <a:p>
                      <a:pPr algn="ctr"/>
                      <a:r>
                        <a:rPr sz="1100" b="0">
                          <a:solidFill>
                            <a:srgbClr val="1A1A1A"/>
                          </a:solidFill>
                          <a:latin typeface="Times New Roman"/>
                        </a:rPr>
                        <a:t>int32</a:t>
                      </a:r>
                    </a:p>
                  </a:txBody>
                  <a:tcPr>
                    <a:solidFill>
                      <a:srgbClr val="F2F4F8"/>
                    </a:solidFill>
                  </a:tcPr>
                </a:tc>
                <a:tc>
                  <a:txBody>
                    <a:bodyPr/>
                    <a:lstStyle/>
                    <a:p>
                      <a:pPr algn="ctr"/>
                      <a:r>
                        <a:rPr sz="1100" b="0">
                          <a:solidFill>
                            <a:srgbClr val="1A1A1A"/>
                          </a:solidFill>
                          <a:latin typeface="Times New Roman"/>
                        </a:rPr>
                        <a:t>So gio con hang (proxy censoring)</a:t>
                      </a:r>
                    </a:p>
                  </a:txBody>
                  <a:tcPr>
                    <a:solidFill>
                      <a:srgbClr val="F2F4F8"/>
                    </a:solidFill>
                  </a:tcPr>
                </a:tc>
              </a:tr>
              <a:tr h="386080">
                <a:tc>
                  <a:txBody>
                    <a:bodyPr/>
                    <a:lstStyle/>
                    <a:p>
                      <a:pPr algn="l"/>
                      <a:r>
                        <a:rPr sz="1100" b="0">
                          <a:solidFill>
                            <a:srgbClr val="1A1A1A"/>
                          </a:solidFill>
                          <a:latin typeface="Times New Roman"/>
                        </a:rPr>
                        <a:t>holiday_flag</a:t>
                      </a:r>
                    </a:p>
                  </a:txBody>
                  <a:tcPr>
                    <a:solidFill>
                      <a:srgbClr val="FFFFFF"/>
                    </a:solidFill>
                  </a:tcPr>
                </a:tc>
                <a:tc>
                  <a:txBody>
                    <a:bodyPr/>
                    <a:lstStyle/>
                    <a:p>
                      <a:pPr algn="ctr"/>
                      <a:r>
                        <a:rPr sz="1100" b="0">
                          <a:solidFill>
                            <a:srgbClr val="1A1A1A"/>
                          </a:solidFill>
                          <a:latin typeface="Times New Roman"/>
                        </a:rPr>
                        <a:t>binary</a:t>
                      </a:r>
                    </a:p>
                  </a:txBody>
                  <a:tcPr>
                    <a:solidFill>
                      <a:srgbClr val="FFFFFF"/>
                    </a:solidFill>
                  </a:tcPr>
                </a:tc>
                <a:tc>
                  <a:txBody>
                    <a:bodyPr/>
                    <a:lstStyle/>
                    <a:p>
                      <a:pPr algn="ctr"/>
                      <a:r>
                        <a:rPr sz="1100" b="0">
                          <a:solidFill>
                            <a:srgbClr val="1A1A1A"/>
                          </a:solidFill>
                          <a:latin typeface="Times New Roman"/>
                        </a:rPr>
                        <a:t>Ngay le cong cong</a:t>
                      </a:r>
                    </a:p>
                  </a:txBody>
                  <a:tcPr>
                    <a:solidFill>
                      <a:srgbClr val="FFFFFF"/>
                    </a:solidFill>
                  </a:tcPr>
                </a:tc>
              </a:tr>
              <a:tr h="386080">
                <a:tc>
                  <a:txBody>
                    <a:bodyPr/>
                    <a:lstStyle/>
                    <a:p>
                      <a:pPr algn="l"/>
                      <a:r>
                        <a:rPr sz="1100" b="0">
                          <a:solidFill>
                            <a:srgbClr val="1A1A1A"/>
                          </a:solidFill>
                          <a:latin typeface="Times New Roman"/>
                        </a:rPr>
                        <a:t>activity_flag</a:t>
                      </a:r>
                    </a:p>
                  </a:txBody>
                  <a:tcPr>
                    <a:solidFill>
                      <a:srgbClr val="F2F4F8"/>
                    </a:solidFill>
                  </a:tcPr>
                </a:tc>
                <a:tc>
                  <a:txBody>
                    <a:bodyPr/>
                    <a:lstStyle/>
                    <a:p>
                      <a:pPr algn="ctr"/>
                      <a:r>
                        <a:rPr sz="1100" b="0">
                          <a:solidFill>
                            <a:srgbClr val="1A1A1A"/>
                          </a:solidFill>
                          <a:latin typeface="Times New Roman"/>
                        </a:rPr>
                        <a:t>binary</a:t>
                      </a:r>
                    </a:p>
                  </a:txBody>
                  <a:tcPr>
                    <a:solidFill>
                      <a:srgbClr val="F2F4F8"/>
                    </a:solidFill>
                  </a:tcPr>
                </a:tc>
                <a:tc>
                  <a:txBody>
                    <a:bodyPr/>
                    <a:lstStyle/>
                    <a:p>
                      <a:pPr algn="ctr"/>
                      <a:r>
                        <a:rPr sz="1100" b="0">
                          <a:solidFill>
                            <a:srgbClr val="1A1A1A"/>
                          </a:solidFill>
                          <a:latin typeface="Times New Roman"/>
                        </a:rPr>
                        <a:t>Ngay khuyen mai</a:t>
                      </a:r>
                    </a:p>
                  </a:txBody>
                  <a:tcPr>
                    <a:solidFill>
                      <a:srgbClr val="F2F4F8"/>
                    </a:solidFill>
                  </a:tcPr>
                </a:tc>
              </a:tr>
              <a:tr h="386080">
                <a:tc>
                  <a:txBody>
                    <a:bodyPr/>
                    <a:lstStyle/>
                    <a:p>
                      <a:pPr algn="l"/>
                      <a:r>
                        <a:rPr sz="1100" b="0">
                          <a:solidFill>
                            <a:srgbClr val="1A1A1A"/>
                          </a:solidFill>
                          <a:latin typeface="Times New Roman"/>
                        </a:rPr>
                        <a:t>avg_temperature</a:t>
                      </a:r>
                    </a:p>
                  </a:txBody>
                  <a:tcPr>
                    <a:solidFill>
                      <a:srgbClr val="FFFFFF"/>
                    </a:solidFill>
                  </a:tcPr>
                </a:tc>
                <a:tc>
                  <a:txBody>
                    <a:bodyPr/>
                    <a:lstStyle/>
                    <a:p>
                      <a:pPr algn="ctr"/>
                      <a:r>
                        <a:rPr sz="1100" b="0">
                          <a:solidFill>
                            <a:srgbClr val="1A1A1A"/>
                          </a:solidFill>
                          <a:latin typeface="Times New Roman"/>
                        </a:rPr>
                        <a:t>float64</a:t>
                      </a:r>
                    </a:p>
                  </a:txBody>
                  <a:tcPr>
                    <a:solidFill>
                      <a:srgbClr val="FFFFFF"/>
                    </a:solidFill>
                  </a:tcPr>
                </a:tc>
                <a:tc>
                  <a:txBody>
                    <a:bodyPr/>
                    <a:lstStyle/>
                    <a:p>
                      <a:pPr algn="ctr"/>
                      <a:r>
                        <a:rPr sz="1100" b="0">
                          <a:solidFill>
                            <a:srgbClr val="1A1A1A"/>
                          </a:solidFill>
                          <a:latin typeface="Times New Roman"/>
                        </a:rPr>
                        <a:t>Nhiet do TB (C) - covariate</a:t>
                      </a:r>
                    </a:p>
                  </a:txBody>
                  <a:tcPr>
                    <a:solidFill>
                      <a:srgbClr val="FFFFFF"/>
                    </a:solidFill>
                  </a:tcPr>
                </a:tc>
              </a:tr>
              <a:tr h="386080">
                <a:tc>
                  <a:txBody>
                    <a:bodyPr/>
                    <a:lstStyle/>
                    <a:p>
                      <a:pPr algn="l"/>
                      <a:r>
                        <a:rPr sz="1100" b="0">
                          <a:solidFill>
                            <a:srgbClr val="1A1A1A"/>
                          </a:solidFill>
                          <a:latin typeface="Times New Roman"/>
                        </a:rPr>
                        <a:t>precpt</a:t>
                      </a:r>
                    </a:p>
                  </a:txBody>
                  <a:tcPr>
                    <a:solidFill>
                      <a:srgbClr val="F2F4F8"/>
                    </a:solidFill>
                  </a:tcPr>
                </a:tc>
                <a:tc>
                  <a:txBody>
                    <a:bodyPr/>
                    <a:lstStyle/>
                    <a:p>
                      <a:pPr algn="ctr"/>
                      <a:r>
                        <a:rPr sz="1100" b="0">
                          <a:solidFill>
                            <a:srgbClr val="1A1A1A"/>
                          </a:solidFill>
                          <a:latin typeface="Times New Roman"/>
                        </a:rPr>
                        <a:t>float64</a:t>
                      </a:r>
                    </a:p>
                  </a:txBody>
                  <a:tcPr>
                    <a:solidFill>
                      <a:srgbClr val="F2F4F8"/>
                    </a:solidFill>
                  </a:tcPr>
                </a:tc>
                <a:tc>
                  <a:txBody>
                    <a:bodyPr/>
                    <a:lstStyle/>
                    <a:p>
                      <a:pPr algn="ctr"/>
                      <a:r>
                        <a:rPr sz="1100" b="0">
                          <a:solidFill>
                            <a:srgbClr val="1A1A1A"/>
                          </a:solidFill>
                          <a:latin typeface="Times New Roman"/>
                        </a:rPr>
                        <a:t>Luong mua (mm) - covariate</a:t>
                      </a:r>
                    </a:p>
                  </a:txBody>
                  <a:tcPr>
                    <a:solidFill>
                      <a:srgbClr val="F2F4F8"/>
                    </a:solidFill>
                  </a:tcPr>
                </a:tc>
              </a:tr>
            </a:tbl>
          </a:graphicData>
        </a:graphic>
      </p:graphicFrame>
      <p:sp>
        <p:nvSpPr>
          <p:cNvPr id="27" name="TextBox 26"/>
          <p:cNvSpPr txBox="1"/>
          <p:nvPr/>
        </p:nvSpPr>
        <p:spPr>
          <a:xfrm>
            <a:off x="320040" y="6199632"/>
            <a:ext cx="11521440" cy="256032"/>
          </a:xfrm>
          <a:prstGeom prst="rect">
            <a:avLst/>
          </a:prstGeom>
          <a:noFill/>
        </p:spPr>
        <p:txBody>
          <a:bodyPr wrap="square">
            <a:spAutoFit/>
          </a:bodyPr>
          <a:lstStyle/>
          <a:p>
            <a:pPr algn="l"/>
            <a:r>
              <a:rPr sz="1000" b="0" i="1">
                <a:solidFill>
                  <a:srgbClr val="555555"/>
                </a:solidFill>
                <a:latin typeface="Times New Roman"/>
              </a:rPr>
              <a:t>hours_sale va hours_stock_status la mang 24 phan tu — loai ra khi gop daily aggregation.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Kham Pha Du Lieu — Time Plot &amp; Seasonal Pattern</a:t>
            </a:r>
          </a:p>
        </p:txBody>
      </p:sp>
      <p:sp>
        <p:nvSpPr>
          <p:cNvPr id="6" name="Rectangle 5"/>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8" name="TextBox 7"/>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5 / 14</a:t>
            </a:r>
          </a:p>
        </p:txBody>
      </p:sp>
      <p:pic>
        <p:nvPicPr>
          <p:cNvPr id="9" name="Picture 8" descr="image.png"/>
          <p:cNvPicPr>
            <a:picLocks noChangeAspect="1"/>
          </p:cNvPicPr>
          <p:nvPr/>
        </p:nvPicPr>
        <p:blipFill>
          <a:blip r:embed="rId2"/>
          <a:stretch>
            <a:fillRect/>
          </a:stretch>
        </p:blipFill>
        <p:spPr>
          <a:xfrm>
            <a:off x="274320" y="1143000"/>
            <a:ext cx="7589520" cy="5074920"/>
          </a:xfrm>
          <a:prstGeom prst="rect">
            <a:avLst/>
          </a:prstGeom>
        </p:spPr>
      </p:pic>
      <p:sp>
        <p:nvSpPr>
          <p:cNvPr id="10" name="Rectangle 9"/>
          <p:cNvSpPr/>
          <p:nvPr/>
        </p:nvSpPr>
        <p:spPr>
          <a:xfrm>
            <a:off x="8001000" y="1143000"/>
            <a:ext cx="3886200"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74152" y="1168400"/>
            <a:ext cx="3794760" cy="320040"/>
          </a:xfrm>
          <a:prstGeom prst="rect">
            <a:avLst/>
          </a:prstGeom>
          <a:noFill/>
        </p:spPr>
        <p:txBody>
          <a:bodyPr wrap="square">
            <a:spAutoFit/>
          </a:bodyPr>
          <a:lstStyle/>
          <a:p>
            <a:pPr algn="l"/>
            <a:r>
              <a:rPr sz="1200" b="1" i="0">
                <a:solidFill>
                  <a:srgbClr val="FFFFFF"/>
                </a:solidFill>
                <a:latin typeface="Times New Roman"/>
              </a:rPr>
              <a:t>Nhan xet chinh</a:t>
            </a:r>
          </a:p>
        </p:txBody>
      </p:sp>
      <p:sp>
        <p:nvSpPr>
          <p:cNvPr id="12" name="TextBox 11"/>
          <p:cNvSpPr txBox="1"/>
          <p:nvPr/>
        </p:nvSpPr>
        <p:spPr>
          <a:xfrm>
            <a:off x="8001000" y="1554480"/>
            <a:ext cx="3931920" cy="4572000"/>
          </a:xfrm>
          <a:prstGeom prst="rect">
            <a:avLst/>
          </a:prstGeom>
          <a:noFill/>
        </p:spPr>
        <p:txBody>
          <a:bodyPr wrap="square">
            <a:spAutoFit/>
          </a:bodyPr>
          <a:lstStyle/>
          <a:p>
            <a:pPr>
              <a:spcAft>
                <a:spcPts val="800"/>
              </a:spcAft>
            </a:pPr>
            <a:r>
              <a:rPr sz="1300">
                <a:solidFill>
                  <a:srgbClr val="1A1A1A"/>
                </a:solidFill>
                <a:latin typeface="Times New Roman"/>
              </a:rPr>
              <a:t>Trend: Tang nhe thang 3-4, plateau thang 5-6</a:t>
            </a:r>
          </a:p>
          <a:p>
            <a:pPr>
              <a:spcAft>
                <a:spcPts val="800"/>
              </a:spcAft>
            </a:pPr>
            <a:r>
              <a:rPr sz="1150">
                <a:solidFill>
                  <a:srgbClr val="555555"/>
                </a:solidFill>
                <a:latin typeface="Times New Roman"/>
              </a:rPr>
              <a:t>   -&gt; Can sai phan bac 1 (d=1)</a:t>
            </a:r>
          </a:p>
          <a:p>
            <a:pPr>
              <a:spcAft>
                <a:spcPts val="800"/>
              </a:spcAft>
            </a:pPr>
            <a:r>
              <a:rPr sz="1300">
                <a:solidFill>
                  <a:srgbClr val="1A1A1A"/>
                </a:solidFill>
                <a:latin typeface="Times New Roman"/>
              </a:rPr>
              <a:t>Seasonality: Chu ky tuan ro rang (s=7)</a:t>
            </a:r>
          </a:p>
          <a:p>
            <a:pPr>
              <a:spcAft>
                <a:spcPts val="800"/>
              </a:spcAft>
            </a:pPr>
            <a:r>
              <a:rPr sz="1150">
                <a:solidFill>
                  <a:srgbClr val="555555"/>
                </a:solidFill>
                <a:latin typeface="Times New Roman"/>
              </a:rPr>
              <a:t>   Sat-Sun cao hon ~35% so voi Tue-Wed</a:t>
            </a:r>
          </a:p>
          <a:p>
            <a:pPr>
              <a:spcAft>
                <a:spcPts val="800"/>
              </a:spcAft>
            </a:pPr>
            <a:r>
              <a:rPr sz="1300">
                <a:solidFill>
                  <a:srgbClr val="1A1A1A"/>
                </a:solidFill>
                <a:latin typeface="Times New Roman"/>
              </a:rPr>
              <a:t>Holiday: Spike ngay le (do) - can dummy var</a:t>
            </a:r>
          </a:p>
          <a:p>
            <a:pPr>
              <a:spcAft>
                <a:spcPts val="800"/>
              </a:spcAft>
            </a:pPr>
            <a:r>
              <a:rPr sz="1300">
                <a:solidFill>
                  <a:srgbClr val="1A1A1A"/>
                </a:solidFill>
                <a:latin typeface="Times New Roman"/>
              </a:rPr>
              <a:t>Promotion: Spike dot ngot (cam) - can exog</a:t>
            </a:r>
          </a:p>
          <a:p>
            <a:pPr>
              <a:spcAft>
                <a:spcPts val="800"/>
              </a:spcAft>
            </a:pPr>
            <a:r>
              <a:rPr sz="1300">
                <a:solidFill>
                  <a:srgbClr val="1A1A1A"/>
                </a:solidFill>
                <a:latin typeface="Times New Roman"/>
              </a:rPr>
              <a:t>Nhiet do: r ~ 0.54 voi doanh so</a:t>
            </a:r>
          </a:p>
          <a:p>
            <a:pPr>
              <a:spcAft>
                <a:spcPts val="800"/>
              </a:spcAft>
            </a:pPr>
            <a:r>
              <a:rPr sz="1300">
                <a:solidFill>
                  <a:srgbClr val="1A1A1A"/>
                </a:solidFill>
                <a:latin typeface="Times New Roman"/>
              </a:rPr>
              <a:t>Log-transform: On dinh phuong sai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STL Decomposition &amp; Seasonal Pattern</a:t>
            </a:r>
          </a:p>
        </p:txBody>
      </p:sp>
      <p:sp>
        <p:nvSpPr>
          <p:cNvPr id="5" name="Rectangle 4"/>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7" name="TextBox 6"/>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6 / 14</a:t>
            </a:r>
          </a:p>
        </p:txBody>
      </p:sp>
      <p:pic>
        <p:nvPicPr>
          <p:cNvPr id="8" name="Picture 7" descr="image.png"/>
          <p:cNvPicPr>
            <a:picLocks noChangeAspect="1"/>
          </p:cNvPicPr>
          <p:nvPr/>
        </p:nvPicPr>
        <p:blipFill>
          <a:blip r:embed="rId2"/>
          <a:stretch>
            <a:fillRect/>
          </a:stretch>
        </p:blipFill>
        <p:spPr>
          <a:xfrm>
            <a:off x="274320" y="1143000"/>
            <a:ext cx="6858000" cy="3840480"/>
          </a:xfrm>
          <a:prstGeom prst="rect">
            <a:avLst/>
          </a:prstGeom>
        </p:spPr>
      </p:pic>
      <p:pic>
        <p:nvPicPr>
          <p:cNvPr id="9" name="Picture 8" descr="image.png"/>
          <p:cNvPicPr>
            <a:picLocks noChangeAspect="1"/>
          </p:cNvPicPr>
          <p:nvPr/>
        </p:nvPicPr>
        <p:blipFill>
          <a:blip r:embed="rId3"/>
          <a:stretch>
            <a:fillRect/>
          </a:stretch>
        </p:blipFill>
        <p:spPr>
          <a:xfrm>
            <a:off x="7269480" y="1143000"/>
            <a:ext cx="4663440" cy="2514600"/>
          </a:xfrm>
          <a:prstGeom prst="rect">
            <a:avLst/>
          </a:prstGeom>
        </p:spPr>
      </p:pic>
      <p:sp>
        <p:nvSpPr>
          <p:cNvPr id="10" name="Rectangle 9"/>
          <p:cNvSpPr/>
          <p:nvPr/>
        </p:nvSpPr>
        <p:spPr>
          <a:xfrm>
            <a:off x="7269480" y="3749039"/>
            <a:ext cx="4663440" cy="24231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69480" y="3749039"/>
            <a:ext cx="4663440" cy="3200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42632" y="3774439"/>
            <a:ext cx="4572000" cy="320040"/>
          </a:xfrm>
          <a:prstGeom prst="rect">
            <a:avLst/>
          </a:prstGeom>
          <a:noFill/>
        </p:spPr>
        <p:txBody>
          <a:bodyPr wrap="square">
            <a:spAutoFit/>
          </a:bodyPr>
          <a:lstStyle/>
          <a:p>
            <a:pPr algn="l"/>
            <a:r>
              <a:rPr sz="1200" b="1" i="0">
                <a:solidFill>
                  <a:srgbClr val="FFFFFF"/>
                </a:solidFill>
                <a:latin typeface="Times New Roman"/>
              </a:rPr>
              <a:t>Ket qua chinh</a:t>
            </a:r>
          </a:p>
        </p:txBody>
      </p:sp>
      <p:sp>
        <p:nvSpPr>
          <p:cNvPr id="13" name="TextBox 12"/>
          <p:cNvSpPr txBox="1"/>
          <p:nvPr/>
        </p:nvSpPr>
        <p:spPr>
          <a:xfrm>
            <a:off x="7315200" y="4114800"/>
            <a:ext cx="4480560" cy="2011680"/>
          </a:xfrm>
          <a:prstGeom prst="rect">
            <a:avLst/>
          </a:prstGeom>
          <a:noFill/>
        </p:spPr>
        <p:txBody>
          <a:bodyPr wrap="square">
            <a:spAutoFit/>
          </a:bodyPr>
          <a:lstStyle/>
          <a:p>
            <a:pPr>
              <a:spcAft>
                <a:spcPts val="700"/>
              </a:spcAft>
            </a:pPr>
            <a:r>
              <a:rPr sz="1300">
                <a:solidFill>
                  <a:srgbClr val="1A1A1A"/>
                </a:solidFill>
                <a:latin typeface="Times New Roman"/>
              </a:rPr>
              <a:t>Trend: tang cham -&gt; sai phan bac 1 can thiet</a:t>
            </a:r>
          </a:p>
          <a:p>
            <a:pPr>
              <a:spcAft>
                <a:spcPts val="700"/>
              </a:spcAft>
            </a:pPr>
            <a:r>
              <a:rPr sz="1300">
                <a:solidFill>
                  <a:srgbClr val="1A1A1A"/>
                </a:solidFill>
                <a:latin typeface="Times New Roman"/>
              </a:rPr>
              <a:t>Seasonal: bien do ~0.3 log-unit = 35% thang goc</a:t>
            </a:r>
          </a:p>
          <a:p>
            <a:pPr>
              <a:spcAft>
                <a:spcPts val="700"/>
              </a:spcAft>
            </a:pPr>
            <a:r>
              <a:rPr sz="1300">
                <a:solidFill>
                  <a:srgbClr val="1A1A1A"/>
                </a:solidFill>
                <a:latin typeface="Times New Roman"/>
              </a:rPr>
              <a:t>Seasonal on dinh -&gt; multiplicative -&gt; log OK</a:t>
            </a:r>
          </a:p>
          <a:p>
            <a:pPr>
              <a:spcAft>
                <a:spcPts val="700"/>
              </a:spcAft>
            </a:pPr>
            <a:r>
              <a:rPr sz="1300">
                <a:solidFill>
                  <a:srgbClr val="1A1A1A"/>
                </a:solidFill>
                <a:latin typeface="Times New Roman"/>
              </a:rPr>
              <a:t>Residual: ngau nhien, ngoai tru spike khuyen mai</a:t>
            </a:r>
          </a:p>
          <a:p>
            <a:pPr>
              <a:spcAft>
                <a:spcPts val="700"/>
              </a:spcAft>
            </a:pPr>
            <a:r>
              <a:rPr sz="1300">
                <a:solidFill>
                  <a:srgbClr val="1A1A1A"/>
                </a:solidFill>
                <a:latin typeface="Times New Roman"/>
              </a:rPr>
              <a:t>Ket luan: chon SARIMA voi s = 7</a:t>
            </a:r>
          </a:p>
        </p:txBody>
      </p:sp>
      <p:sp>
        <p:nvSpPr>
          <p:cNvPr id="14" name="TextBox 13"/>
          <p:cNvSpPr txBox="1"/>
          <p:nvPr/>
        </p:nvSpPr>
        <p:spPr>
          <a:xfrm>
            <a:off x="274320" y="5029200"/>
            <a:ext cx="6858000" cy="256032"/>
          </a:xfrm>
          <a:prstGeom prst="rect">
            <a:avLst/>
          </a:prstGeom>
          <a:noFill/>
        </p:spPr>
        <p:txBody>
          <a:bodyPr wrap="square">
            <a:spAutoFit/>
          </a:bodyPr>
          <a:lstStyle/>
          <a:p>
            <a:pPr algn="l"/>
            <a:r>
              <a:rPr sz="900" b="0" i="1">
                <a:solidFill>
                  <a:srgbClr val="555555"/>
                </a:solidFill>
                <a:latin typeface="Times New Roman"/>
              </a:rPr>
              <a:t>STL Decomposition cua log(1+Sales)  [period=7, robust=True]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Thong Ke Mo Ta &amp; Bien Doi Chuan</a:t>
            </a:r>
          </a:p>
        </p:txBody>
      </p:sp>
      <p:sp>
        <p:nvSpPr>
          <p:cNvPr id="5" name="Rectangle 4"/>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7" name="TextBox 6"/>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7 / 14</a:t>
            </a:r>
          </a:p>
        </p:txBody>
      </p:sp>
      <p:sp>
        <p:nvSpPr>
          <p:cNvPr id="8" name="Rectangle 7"/>
          <p:cNvSpPr/>
          <p:nvPr/>
        </p:nvSpPr>
        <p:spPr>
          <a:xfrm>
            <a:off x="365760" y="1143000"/>
            <a:ext cx="5029200"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68400"/>
            <a:ext cx="4937760" cy="320040"/>
          </a:xfrm>
          <a:prstGeom prst="rect">
            <a:avLst/>
          </a:prstGeom>
          <a:noFill/>
        </p:spPr>
        <p:txBody>
          <a:bodyPr wrap="square">
            <a:spAutoFit/>
          </a:bodyPr>
          <a:lstStyle/>
          <a:p>
            <a:pPr algn="l"/>
            <a:r>
              <a:rPr sz="1200" b="1" i="0">
                <a:solidFill>
                  <a:srgbClr val="FFFFFF"/>
                </a:solidFill>
                <a:latin typeface="Times New Roman"/>
              </a:rPr>
              <a:t>Bang thong ke theo giai doan bien doi</a:t>
            </a:r>
          </a:p>
        </p:txBody>
      </p:sp>
      <p:graphicFrame>
        <p:nvGraphicFramePr>
          <p:cNvPr id="10" name="Table 9"/>
          <p:cNvGraphicFramePr>
            <a:graphicFrameLocks noGrp="1"/>
          </p:cNvGraphicFramePr>
          <p:nvPr/>
        </p:nvGraphicFramePr>
        <p:xfrm>
          <a:off x="365760" y="1508760"/>
          <a:ext cx="11430000" cy="1828800"/>
        </p:xfrm>
        <a:graphic>
          <a:graphicData uri="http://schemas.openxmlformats.org/drawingml/2006/table">
            <a:tbl>
              <a:tblPr firstRow="1" bandRow="1">
                <a:tableStyleId>{5C22544A-7EE6-4342-B048-85BDC9FD1C3A}</a:tableStyleId>
              </a:tblPr>
              <a:tblGrid>
                <a:gridCol w="3200400"/>
                <a:gridCol w="1645920"/>
                <a:gridCol w="1645920"/>
                <a:gridCol w="2011680"/>
                <a:gridCol w="2926080"/>
              </a:tblGrid>
              <a:tr h="365760">
                <a:tc>
                  <a:txBody>
                    <a:bodyPr/>
                    <a:lstStyle/>
                    <a:p>
                      <a:pPr algn="ctr"/>
                      <a:r>
                        <a:rPr sz="1300" b="1">
                          <a:solidFill>
                            <a:srgbClr val="FFFFFF"/>
                          </a:solidFill>
                          <a:latin typeface="Times New Roman"/>
                        </a:rPr>
                        <a:t>Chuan</a:t>
                      </a:r>
                    </a:p>
                  </a:txBody>
                  <a:tcPr>
                    <a:solidFill>
                      <a:srgbClr val="1F4E79"/>
                    </a:solidFill>
                  </a:tcPr>
                </a:tc>
                <a:tc>
                  <a:txBody>
                    <a:bodyPr/>
                    <a:lstStyle/>
                    <a:p>
                      <a:pPr algn="ctr"/>
                      <a:r>
                        <a:rPr sz="1300" b="1">
                          <a:solidFill>
                            <a:srgbClr val="FFFFFF"/>
                          </a:solidFill>
                          <a:latin typeface="Times New Roman"/>
                        </a:rPr>
                        <a:t>Mean</a:t>
                      </a:r>
                    </a:p>
                  </a:txBody>
                  <a:tcPr>
                    <a:solidFill>
                      <a:srgbClr val="1F4E79"/>
                    </a:solidFill>
                  </a:tcPr>
                </a:tc>
                <a:tc>
                  <a:txBody>
                    <a:bodyPr/>
                    <a:lstStyle/>
                    <a:p>
                      <a:pPr algn="ctr"/>
                      <a:r>
                        <a:rPr sz="1300" b="1">
                          <a:solidFill>
                            <a:srgbClr val="FFFFFF"/>
                          </a:solidFill>
                          <a:latin typeface="Times New Roman"/>
                        </a:rPr>
                        <a:t>Std</a:t>
                      </a:r>
                    </a:p>
                  </a:txBody>
                  <a:tcPr>
                    <a:solidFill>
                      <a:srgbClr val="1F4E79"/>
                    </a:solidFill>
                  </a:tcPr>
                </a:tc>
                <a:tc>
                  <a:txBody>
                    <a:bodyPr/>
                    <a:lstStyle/>
                    <a:p>
                      <a:pPr algn="ctr"/>
                      <a:r>
                        <a:rPr sz="1300" b="1">
                          <a:solidFill>
                            <a:srgbClr val="FFFFFF"/>
                          </a:solidFill>
                          <a:latin typeface="Times New Roman"/>
                        </a:rPr>
                        <a:t>Skewness</a:t>
                      </a:r>
                    </a:p>
                  </a:txBody>
                  <a:tcPr>
                    <a:solidFill>
                      <a:srgbClr val="1F4E79"/>
                    </a:solidFill>
                  </a:tcPr>
                </a:tc>
                <a:tc>
                  <a:txBody>
                    <a:bodyPr/>
                    <a:lstStyle/>
                    <a:p>
                      <a:pPr algn="ctr"/>
                      <a:r>
                        <a:rPr sz="1300" b="1">
                          <a:solidFill>
                            <a:srgbClr val="FFFFFF"/>
                          </a:solidFill>
                          <a:latin typeface="Times New Roman"/>
                        </a:rPr>
                        <a:t>Kurtosis</a:t>
                      </a:r>
                    </a:p>
                  </a:txBody>
                  <a:tcPr>
                    <a:solidFill>
                      <a:srgbClr val="1F4E79"/>
                    </a:solidFill>
                  </a:tcPr>
                </a:tc>
              </a:tr>
              <a:tr h="365760">
                <a:tc>
                  <a:txBody>
                    <a:bodyPr/>
                    <a:lstStyle/>
                    <a:p>
                      <a:pPr algn="l"/>
                      <a:r>
                        <a:rPr sz="1200" b="0">
                          <a:solidFill>
                            <a:srgbClr val="1A1A1A"/>
                          </a:solidFill>
                          <a:latin typeface="Times New Roman"/>
                        </a:rPr>
                        <a:t>Raw Sales</a:t>
                      </a:r>
                    </a:p>
                  </a:txBody>
                  <a:tcPr>
                    <a:solidFill>
                      <a:srgbClr val="FFFFFF"/>
                    </a:solidFill>
                  </a:tcPr>
                </a:tc>
                <a:tc>
                  <a:txBody>
                    <a:bodyPr/>
                    <a:lstStyle/>
                    <a:p>
                      <a:pPr algn="ctr"/>
                      <a:r>
                        <a:rPr sz="1200" b="0">
                          <a:solidFill>
                            <a:srgbClr val="1A1A1A"/>
                          </a:solidFill>
                          <a:latin typeface="Times New Roman"/>
                        </a:rPr>
                        <a:t>~63,400</a:t>
                      </a:r>
                    </a:p>
                  </a:txBody>
                  <a:tcPr>
                    <a:solidFill>
                      <a:srgbClr val="FFFFFF"/>
                    </a:solidFill>
                  </a:tcPr>
                </a:tc>
                <a:tc>
                  <a:txBody>
                    <a:bodyPr/>
                    <a:lstStyle/>
                    <a:p>
                      <a:pPr algn="ctr"/>
                      <a:r>
                        <a:rPr sz="1200" b="0">
                          <a:solidFill>
                            <a:srgbClr val="1A1A1A"/>
                          </a:solidFill>
                          <a:latin typeface="Times New Roman"/>
                        </a:rPr>
                        <a:t>~8,200</a:t>
                      </a:r>
                    </a:p>
                  </a:txBody>
                  <a:tcPr>
                    <a:solidFill>
                      <a:srgbClr val="FFFFFF"/>
                    </a:solidFill>
                  </a:tcPr>
                </a:tc>
                <a:tc>
                  <a:txBody>
                    <a:bodyPr/>
                    <a:lstStyle/>
                    <a:p>
                      <a:pPr algn="ctr"/>
                      <a:r>
                        <a:rPr sz="1200" b="0">
                          <a:solidFill>
                            <a:srgbClr val="1A1A1A"/>
                          </a:solidFill>
                          <a:latin typeface="Times New Roman"/>
                        </a:rPr>
                        <a:t>0.42</a:t>
                      </a:r>
                    </a:p>
                  </a:txBody>
                  <a:tcPr>
                    <a:solidFill>
                      <a:srgbClr val="FFFFFF"/>
                    </a:solidFill>
                  </a:tcPr>
                </a:tc>
                <a:tc>
                  <a:txBody>
                    <a:bodyPr/>
                    <a:lstStyle/>
                    <a:p>
                      <a:pPr algn="ctr"/>
                      <a:r>
                        <a:rPr sz="1200" b="0">
                          <a:solidFill>
                            <a:srgbClr val="1A1A1A"/>
                          </a:solidFill>
                          <a:latin typeface="Times New Roman"/>
                        </a:rPr>
                        <a:t>2.81</a:t>
                      </a:r>
                    </a:p>
                  </a:txBody>
                  <a:tcPr>
                    <a:solidFill>
                      <a:srgbClr val="FFFFFF"/>
                    </a:solidFill>
                  </a:tcPr>
                </a:tc>
              </a:tr>
              <a:tr h="365760">
                <a:tc>
                  <a:txBody>
                    <a:bodyPr/>
                    <a:lstStyle/>
                    <a:p>
                      <a:pPr algn="l"/>
                      <a:r>
                        <a:rPr sz="1200" b="0">
                          <a:solidFill>
                            <a:srgbClr val="1A1A1A"/>
                          </a:solidFill>
                          <a:latin typeface="Times New Roman"/>
                        </a:rPr>
                        <a:t>log(1+Sales)</a:t>
                      </a:r>
                    </a:p>
                  </a:txBody>
                  <a:tcPr>
                    <a:solidFill>
                      <a:srgbClr val="F2F4F8"/>
                    </a:solidFill>
                  </a:tcPr>
                </a:tc>
                <a:tc>
                  <a:txBody>
                    <a:bodyPr/>
                    <a:lstStyle/>
                    <a:p>
                      <a:pPr algn="ctr"/>
                      <a:r>
                        <a:rPr sz="1200" b="0">
                          <a:solidFill>
                            <a:srgbClr val="1A1A1A"/>
                          </a:solidFill>
                          <a:latin typeface="Times New Roman"/>
                        </a:rPr>
                        <a:t>11.06</a:t>
                      </a:r>
                    </a:p>
                  </a:txBody>
                  <a:tcPr>
                    <a:solidFill>
                      <a:srgbClr val="F2F4F8"/>
                    </a:solidFill>
                  </a:tcPr>
                </a:tc>
                <a:tc>
                  <a:txBody>
                    <a:bodyPr/>
                    <a:lstStyle/>
                    <a:p>
                      <a:pPr algn="ctr"/>
                      <a:r>
                        <a:rPr sz="1200" b="0">
                          <a:solidFill>
                            <a:srgbClr val="1A1A1A"/>
                          </a:solidFill>
                          <a:latin typeface="Times New Roman"/>
                        </a:rPr>
                        <a:t>0.13</a:t>
                      </a:r>
                    </a:p>
                  </a:txBody>
                  <a:tcPr>
                    <a:solidFill>
                      <a:srgbClr val="F2F4F8"/>
                    </a:solidFill>
                  </a:tcPr>
                </a:tc>
                <a:tc>
                  <a:txBody>
                    <a:bodyPr/>
                    <a:lstStyle/>
                    <a:p>
                      <a:pPr algn="ctr"/>
                      <a:r>
                        <a:rPr sz="1200" b="0">
                          <a:solidFill>
                            <a:srgbClr val="1A1A1A"/>
                          </a:solidFill>
                          <a:latin typeface="Times New Roman"/>
                        </a:rPr>
                        <a:t>0.11</a:t>
                      </a:r>
                    </a:p>
                  </a:txBody>
                  <a:tcPr>
                    <a:solidFill>
                      <a:srgbClr val="F2F4F8"/>
                    </a:solidFill>
                  </a:tcPr>
                </a:tc>
                <a:tc>
                  <a:txBody>
                    <a:bodyPr/>
                    <a:lstStyle/>
                    <a:p>
                      <a:pPr algn="ctr"/>
                      <a:r>
                        <a:rPr sz="1200" b="0">
                          <a:solidFill>
                            <a:srgbClr val="1A1A1A"/>
                          </a:solidFill>
                          <a:latin typeface="Times New Roman"/>
                        </a:rPr>
                        <a:t>2.74</a:t>
                      </a:r>
                    </a:p>
                  </a:txBody>
                  <a:tcPr>
                    <a:solidFill>
                      <a:srgbClr val="F2F4F8"/>
                    </a:solidFill>
                  </a:tcPr>
                </a:tc>
              </a:tr>
              <a:tr h="365760">
                <a:tc>
                  <a:txBody>
                    <a:bodyPr/>
                    <a:lstStyle/>
                    <a:p>
                      <a:pPr algn="l"/>
                      <a:r>
                        <a:rPr sz="1200" b="0">
                          <a:solidFill>
                            <a:srgbClr val="1A1A1A"/>
                          </a:solidFill>
                          <a:latin typeface="Times New Roman"/>
                        </a:rPr>
                        <a:t>∇log  [d=1]</a:t>
                      </a:r>
                    </a:p>
                  </a:txBody>
                  <a:tcPr>
                    <a:solidFill>
                      <a:srgbClr val="FFFFFF"/>
                    </a:solidFill>
                  </a:tcPr>
                </a:tc>
                <a:tc>
                  <a:txBody>
                    <a:bodyPr/>
                    <a:lstStyle/>
                    <a:p>
                      <a:pPr algn="ctr"/>
                      <a:r>
                        <a:rPr sz="1200" b="0">
                          <a:solidFill>
                            <a:srgbClr val="1A1A1A"/>
                          </a:solidFill>
                          <a:latin typeface="Times New Roman"/>
                        </a:rPr>
                        <a:t>≈ 0</a:t>
                      </a:r>
                    </a:p>
                  </a:txBody>
                  <a:tcPr>
                    <a:solidFill>
                      <a:srgbClr val="FFFFFF"/>
                    </a:solidFill>
                  </a:tcPr>
                </a:tc>
                <a:tc>
                  <a:txBody>
                    <a:bodyPr/>
                    <a:lstStyle/>
                    <a:p>
                      <a:pPr algn="ctr"/>
                      <a:r>
                        <a:rPr sz="1200" b="0">
                          <a:solidFill>
                            <a:srgbClr val="1A1A1A"/>
                          </a:solidFill>
                          <a:latin typeface="Times New Roman"/>
                        </a:rPr>
                        <a:t>0.046</a:t>
                      </a:r>
                    </a:p>
                  </a:txBody>
                  <a:tcPr>
                    <a:solidFill>
                      <a:srgbClr val="FFFFFF"/>
                    </a:solidFill>
                  </a:tcPr>
                </a:tc>
                <a:tc>
                  <a:txBody>
                    <a:bodyPr/>
                    <a:lstStyle/>
                    <a:p>
                      <a:pPr algn="ctr"/>
                      <a:r>
                        <a:rPr sz="1200" b="0">
                          <a:solidFill>
                            <a:srgbClr val="1A1A1A"/>
                          </a:solidFill>
                          <a:latin typeface="Times New Roman"/>
                        </a:rPr>
                        <a:t>-0.08</a:t>
                      </a:r>
                    </a:p>
                  </a:txBody>
                  <a:tcPr>
                    <a:solidFill>
                      <a:srgbClr val="FFFFFF"/>
                    </a:solidFill>
                  </a:tcPr>
                </a:tc>
                <a:tc>
                  <a:txBody>
                    <a:bodyPr/>
                    <a:lstStyle/>
                    <a:p>
                      <a:pPr algn="ctr"/>
                      <a:r>
                        <a:rPr sz="1200" b="0">
                          <a:solidFill>
                            <a:srgbClr val="1A1A1A"/>
                          </a:solidFill>
                          <a:latin typeface="Times New Roman"/>
                        </a:rPr>
                        <a:t>2.90</a:t>
                      </a:r>
                    </a:p>
                  </a:txBody>
                  <a:tcPr>
                    <a:solidFill>
                      <a:srgbClr val="FFFFFF"/>
                    </a:solidFill>
                  </a:tcPr>
                </a:tc>
              </a:tr>
              <a:tr h="365760">
                <a:tc>
                  <a:txBody>
                    <a:bodyPr/>
                    <a:lstStyle/>
                    <a:p>
                      <a:pPr algn="l"/>
                      <a:r>
                        <a:rPr sz="1200" b="0">
                          <a:solidFill>
                            <a:srgbClr val="1A1A1A"/>
                          </a:solidFill>
                          <a:latin typeface="Times New Roman"/>
                        </a:rPr>
                        <a:t>∇∇7log [d=1,D=1]</a:t>
                      </a:r>
                    </a:p>
                  </a:txBody>
                  <a:tcPr>
                    <a:solidFill>
                      <a:srgbClr val="F2F4F8"/>
                    </a:solidFill>
                  </a:tcPr>
                </a:tc>
                <a:tc>
                  <a:txBody>
                    <a:bodyPr/>
                    <a:lstStyle/>
                    <a:p>
                      <a:pPr algn="ctr"/>
                      <a:r>
                        <a:rPr sz="1200" b="0">
                          <a:solidFill>
                            <a:srgbClr val="1A1A1A"/>
                          </a:solidFill>
                          <a:latin typeface="Times New Roman"/>
                        </a:rPr>
                        <a:t>≈ 0</a:t>
                      </a:r>
                    </a:p>
                  </a:txBody>
                  <a:tcPr>
                    <a:solidFill>
                      <a:srgbClr val="F2F4F8"/>
                    </a:solidFill>
                  </a:tcPr>
                </a:tc>
                <a:tc>
                  <a:txBody>
                    <a:bodyPr/>
                    <a:lstStyle/>
                    <a:p>
                      <a:pPr algn="ctr"/>
                      <a:r>
                        <a:rPr sz="1200" b="0">
                          <a:solidFill>
                            <a:srgbClr val="1A1A1A"/>
                          </a:solidFill>
                          <a:latin typeface="Times New Roman"/>
                        </a:rPr>
                        <a:t>0.041</a:t>
                      </a:r>
                    </a:p>
                  </a:txBody>
                  <a:tcPr>
                    <a:solidFill>
                      <a:srgbClr val="F2F4F8"/>
                    </a:solidFill>
                  </a:tcPr>
                </a:tc>
                <a:tc>
                  <a:txBody>
                    <a:bodyPr/>
                    <a:lstStyle/>
                    <a:p>
                      <a:pPr algn="ctr"/>
                      <a:r>
                        <a:rPr sz="1200" b="0">
                          <a:solidFill>
                            <a:srgbClr val="1A1A1A"/>
                          </a:solidFill>
                          <a:latin typeface="Times New Roman"/>
                        </a:rPr>
                        <a:t>-0.05</a:t>
                      </a:r>
                    </a:p>
                  </a:txBody>
                  <a:tcPr>
                    <a:solidFill>
                      <a:srgbClr val="F2F4F8"/>
                    </a:solidFill>
                  </a:tcPr>
                </a:tc>
                <a:tc>
                  <a:txBody>
                    <a:bodyPr/>
                    <a:lstStyle/>
                    <a:p>
                      <a:pPr algn="ctr"/>
                      <a:r>
                        <a:rPr sz="1200" b="0">
                          <a:solidFill>
                            <a:srgbClr val="1A1A1A"/>
                          </a:solidFill>
                          <a:latin typeface="Times New Roman"/>
                        </a:rPr>
                        <a:t>2.85</a:t>
                      </a:r>
                    </a:p>
                  </a:txBody>
                  <a:tcPr>
                    <a:solidFill>
                      <a:srgbClr val="F2F4F8"/>
                    </a:solidFill>
                  </a:tcPr>
                </a:tc>
              </a:tr>
            </a:tbl>
          </a:graphicData>
        </a:graphic>
      </p:graphicFrame>
      <p:sp>
        <p:nvSpPr>
          <p:cNvPr id="11" name="Rectangle 10"/>
          <p:cNvSpPr/>
          <p:nvPr/>
        </p:nvSpPr>
        <p:spPr>
          <a:xfrm>
            <a:off x="365760" y="3520440"/>
            <a:ext cx="3200400" cy="3200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3545840"/>
            <a:ext cx="3108960" cy="320040"/>
          </a:xfrm>
          <a:prstGeom prst="rect">
            <a:avLst/>
          </a:prstGeom>
          <a:noFill/>
        </p:spPr>
        <p:txBody>
          <a:bodyPr wrap="square">
            <a:spAutoFit/>
          </a:bodyPr>
          <a:lstStyle/>
          <a:p>
            <a:pPr algn="l"/>
            <a:r>
              <a:rPr sz="1200" b="1" i="0">
                <a:solidFill>
                  <a:srgbClr val="FFFFFF"/>
                </a:solidFill>
                <a:latin typeface="Times New Roman"/>
              </a:rPr>
              <a:t>Bien giai bien doi</a:t>
            </a:r>
          </a:p>
        </p:txBody>
      </p:sp>
      <p:graphicFrame>
        <p:nvGraphicFramePr>
          <p:cNvPr id="13" name="Table 12"/>
          <p:cNvGraphicFramePr>
            <a:graphicFrameLocks noGrp="1"/>
          </p:cNvGraphicFramePr>
          <p:nvPr/>
        </p:nvGraphicFramePr>
        <p:xfrm>
          <a:off x="365760" y="3886200"/>
          <a:ext cx="11430000" cy="2286000"/>
        </p:xfrm>
        <a:graphic>
          <a:graphicData uri="http://schemas.openxmlformats.org/drawingml/2006/table">
            <a:tbl>
              <a:tblPr firstRow="1" bandRow="1">
                <a:tableStyleId>{5C22544A-7EE6-4342-B048-85BDC9FD1C3A}</a:tableStyleId>
              </a:tblPr>
              <a:tblGrid>
                <a:gridCol w="2011680"/>
                <a:gridCol w="9418320"/>
              </a:tblGrid>
              <a:tr h="571500">
                <a:tc>
                  <a:txBody>
                    <a:bodyPr/>
                    <a:lstStyle/>
                    <a:p>
                      <a:pPr algn="ctr"/>
                      <a:r>
                        <a:rPr sz="1300" b="1">
                          <a:solidFill>
                            <a:srgbClr val="FFFFFF"/>
                          </a:solidFill>
                          <a:latin typeface="Times New Roman"/>
                        </a:rPr>
                        <a:t>Bien doi</a:t>
                      </a:r>
                    </a:p>
                  </a:txBody>
                  <a:tcPr>
                    <a:solidFill>
                      <a:srgbClr val="1F4E79"/>
                    </a:solidFill>
                  </a:tcPr>
                </a:tc>
                <a:tc>
                  <a:txBody>
                    <a:bodyPr/>
                    <a:lstStyle/>
                    <a:p>
                      <a:pPr algn="ctr"/>
                      <a:r>
                        <a:rPr sz="1300" b="1">
                          <a:solidFill>
                            <a:srgbClr val="FFFFFF"/>
                          </a:solidFill>
                          <a:latin typeface="Times New Roman"/>
                        </a:rPr>
                        <a:t>Ly do</a:t>
                      </a:r>
                    </a:p>
                  </a:txBody>
                  <a:tcPr>
                    <a:solidFill>
                      <a:srgbClr val="1F4E79"/>
                    </a:solidFill>
                  </a:tcPr>
                </a:tc>
              </a:tr>
              <a:tr h="571500">
                <a:tc>
                  <a:txBody>
                    <a:bodyPr/>
                    <a:lstStyle/>
                    <a:p>
                      <a:pPr algn="l"/>
                      <a:r>
                        <a:rPr sz="1200" b="0">
                          <a:solidFill>
                            <a:srgbClr val="1A1A1A"/>
                          </a:solidFill>
                          <a:latin typeface="Times New Roman"/>
                        </a:rPr>
                        <a:t>log(1+y)</a:t>
                      </a:r>
                    </a:p>
                  </a:txBody>
                  <a:tcPr>
                    <a:solidFill>
                      <a:srgbClr val="FFFFFF"/>
                    </a:solidFill>
                  </a:tcPr>
                </a:tc>
                <a:tc>
                  <a:txBody>
                    <a:bodyPr/>
                    <a:lstStyle/>
                    <a:p>
                      <a:pPr algn="ctr"/>
                      <a:r>
                        <a:rPr sz="1200" b="0">
                          <a:solidFill>
                            <a:srgbClr val="1A1A1A"/>
                          </a:solidFill>
                          <a:latin typeface="Times New Roman"/>
                        </a:rPr>
                        <a:t>Giam skewness 0.42-&gt;0.11; on dinh phuong sai; chuyen seasonality nhan-&gt;cong</a:t>
                      </a:r>
                    </a:p>
                  </a:txBody>
                  <a:tcPr>
                    <a:solidFill>
                      <a:srgbClr val="FFFFFF"/>
                    </a:solidFill>
                  </a:tcPr>
                </a:tc>
              </a:tr>
              <a:tr h="571500">
                <a:tc>
                  <a:txBody>
                    <a:bodyPr/>
                    <a:lstStyle/>
                    <a:p>
                      <a:pPr algn="l"/>
                      <a:r>
                        <a:rPr sz="1200" b="0">
                          <a:solidFill>
                            <a:srgbClr val="1A1A1A"/>
                          </a:solidFill>
                          <a:latin typeface="Times New Roman"/>
                        </a:rPr>
                        <a:t>Sai phan d=1</a:t>
                      </a:r>
                    </a:p>
                  </a:txBody>
                  <a:tcPr>
                    <a:solidFill>
                      <a:srgbClr val="F2F4F8"/>
                    </a:solidFill>
                  </a:tcPr>
                </a:tc>
                <a:tc>
                  <a:txBody>
                    <a:bodyPr/>
                    <a:lstStyle/>
                    <a:p>
                      <a:pPr algn="ctr"/>
                      <a:r>
                        <a:rPr sz="1200" b="0">
                          <a:solidFill>
                            <a:srgbClr val="1A1A1A"/>
                          </a:solidFill>
                          <a:latin typeface="Times New Roman"/>
                        </a:rPr>
                        <a:t>Loai bo trend; xac nhan boi ADF (p&lt;0.001) va KPSS (p&gt;0.10) sau sai phan</a:t>
                      </a:r>
                    </a:p>
                  </a:txBody>
                  <a:tcPr>
                    <a:solidFill>
                      <a:srgbClr val="F2F4F8"/>
                    </a:solidFill>
                  </a:tcPr>
                </a:tc>
              </a:tr>
              <a:tr h="571500">
                <a:tc>
                  <a:txBody>
                    <a:bodyPr/>
                    <a:lstStyle/>
                    <a:p>
                      <a:pPr algn="l"/>
                      <a:r>
                        <a:rPr sz="1200" b="0">
                          <a:solidFill>
                            <a:srgbClr val="1A1A1A"/>
                          </a:solidFill>
                          <a:latin typeface="Times New Roman"/>
                        </a:rPr>
                        <a:t>Sai phan D=1 s=7</a:t>
                      </a:r>
                    </a:p>
                  </a:txBody>
                  <a:tcPr>
                    <a:solidFill>
                      <a:srgbClr val="FFFFFF"/>
                    </a:solidFill>
                  </a:tcPr>
                </a:tc>
                <a:tc>
                  <a:txBody>
                    <a:bodyPr/>
                    <a:lstStyle/>
                    <a:p>
                      <a:pPr algn="ctr"/>
                      <a:r>
                        <a:rPr sz="1200" b="0">
                          <a:solidFill>
                            <a:srgbClr val="1A1A1A"/>
                          </a:solidFill>
                          <a:latin typeface="Times New Roman"/>
                        </a:rPr>
                        <a:t>Loai bo thanh phan chu ky tuan; ACF decay cham tai boi so 7 tren chuan chua seasonal-diff</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Kiem Dinh Tinh Dung</a:t>
            </a:r>
          </a:p>
        </p:txBody>
      </p:sp>
      <p:sp>
        <p:nvSpPr>
          <p:cNvPr id="6" name="TextBox 5"/>
          <p:cNvSpPr txBox="1"/>
          <p:nvPr/>
        </p:nvSpPr>
        <p:spPr>
          <a:xfrm>
            <a:off x="365760" y="640080"/>
            <a:ext cx="10972800" cy="329184"/>
          </a:xfrm>
          <a:prstGeom prst="rect">
            <a:avLst/>
          </a:prstGeom>
          <a:noFill/>
        </p:spPr>
        <p:txBody>
          <a:bodyPr wrap="square">
            <a:spAutoFit/>
          </a:bodyPr>
          <a:lstStyle/>
          <a:p>
            <a:pPr algn="l"/>
            <a:r>
              <a:rPr sz="1300" b="0" i="0">
                <a:solidFill>
                  <a:srgbClr val="BDD7EE"/>
                </a:solidFill>
                <a:latin typeface="Times New Roman"/>
              </a:rPr>
              <a:t>ADF (H0: unit root)  &amp;  KPSS (H0: stationary)</a:t>
            </a:r>
          </a:p>
        </p:txBody>
      </p:sp>
      <p:sp>
        <p:nvSpPr>
          <p:cNvPr id="7" name="Rectangle 6"/>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9" name="TextBox 8"/>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8 / 14</a:t>
            </a:r>
          </a:p>
        </p:txBody>
      </p:sp>
      <p:sp>
        <p:nvSpPr>
          <p:cNvPr id="10" name="Rectangle 9"/>
          <p:cNvSpPr/>
          <p:nvPr/>
        </p:nvSpPr>
        <p:spPr>
          <a:xfrm>
            <a:off x="365760" y="1143000"/>
            <a:ext cx="4114800"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1168400"/>
            <a:ext cx="4023360" cy="320040"/>
          </a:xfrm>
          <a:prstGeom prst="rect">
            <a:avLst/>
          </a:prstGeom>
          <a:noFill/>
        </p:spPr>
        <p:txBody>
          <a:bodyPr wrap="square">
            <a:spAutoFit/>
          </a:bodyPr>
          <a:lstStyle/>
          <a:p>
            <a:pPr algn="l"/>
            <a:r>
              <a:rPr sz="1200" b="1" i="0">
                <a:solidFill>
                  <a:srgbClr val="FFFFFF"/>
                </a:solidFill>
                <a:latin typeface="Times New Roman"/>
              </a:rPr>
              <a:t>ADF Test</a:t>
            </a:r>
          </a:p>
        </p:txBody>
      </p:sp>
      <p:graphicFrame>
        <p:nvGraphicFramePr>
          <p:cNvPr id="12" name="Table 11"/>
          <p:cNvGraphicFramePr>
            <a:graphicFrameLocks noGrp="1"/>
          </p:cNvGraphicFramePr>
          <p:nvPr/>
        </p:nvGraphicFramePr>
        <p:xfrm>
          <a:off x="365760" y="1508760"/>
          <a:ext cx="11430000" cy="1417320"/>
        </p:xfrm>
        <a:graphic>
          <a:graphicData uri="http://schemas.openxmlformats.org/drawingml/2006/table">
            <a:tbl>
              <a:tblPr firstRow="1" bandRow="1">
                <a:tableStyleId>{5C22544A-7EE6-4342-B048-85BDC9FD1C3A}</a:tableStyleId>
              </a:tblPr>
              <a:tblGrid>
                <a:gridCol w="3840480"/>
                <a:gridCol w="2103120"/>
                <a:gridCol w="1645920"/>
                <a:gridCol w="3840480"/>
              </a:tblGrid>
              <a:tr h="354330">
                <a:tc>
                  <a:txBody>
                    <a:bodyPr/>
                    <a:lstStyle/>
                    <a:p>
                      <a:pPr algn="ctr"/>
                      <a:r>
                        <a:rPr sz="1300" b="1">
                          <a:solidFill>
                            <a:srgbClr val="FFFFFF"/>
                          </a:solidFill>
                          <a:latin typeface="Times New Roman"/>
                        </a:rPr>
                        <a:t>Chuan</a:t>
                      </a:r>
                    </a:p>
                  </a:txBody>
                  <a:tcPr>
                    <a:solidFill>
                      <a:srgbClr val="1F4E79"/>
                    </a:solidFill>
                  </a:tcPr>
                </a:tc>
                <a:tc>
                  <a:txBody>
                    <a:bodyPr/>
                    <a:lstStyle/>
                    <a:p>
                      <a:pPr algn="ctr"/>
                      <a:r>
                        <a:rPr sz="1300" b="1">
                          <a:solidFill>
                            <a:srgbClr val="FFFFFF"/>
                          </a:solidFill>
                          <a:latin typeface="Times New Roman"/>
                        </a:rPr>
                        <a:t>ADF Stat</a:t>
                      </a:r>
                    </a:p>
                  </a:txBody>
                  <a:tcPr>
                    <a:solidFill>
                      <a:srgbClr val="1F4E79"/>
                    </a:solidFill>
                  </a:tcPr>
                </a:tc>
                <a:tc>
                  <a:txBody>
                    <a:bodyPr/>
                    <a:lstStyle/>
                    <a:p>
                      <a:pPr algn="ctr"/>
                      <a:r>
                        <a:rPr sz="1300" b="1">
                          <a:solidFill>
                            <a:srgbClr val="FFFFFF"/>
                          </a:solidFill>
                          <a:latin typeface="Times New Roman"/>
                        </a:rPr>
                        <a:t>p-value</a:t>
                      </a:r>
                    </a:p>
                  </a:txBody>
                  <a:tcPr>
                    <a:solidFill>
                      <a:srgbClr val="1F4E79"/>
                    </a:solidFill>
                  </a:tcPr>
                </a:tc>
                <a:tc>
                  <a:txBody>
                    <a:bodyPr/>
                    <a:lstStyle/>
                    <a:p>
                      <a:pPr algn="ctr"/>
                      <a:r>
                        <a:rPr sz="1300" b="1">
                          <a:solidFill>
                            <a:srgbClr val="FFFFFF"/>
                          </a:solidFill>
                          <a:latin typeface="Times New Roman"/>
                        </a:rPr>
                        <a:t>Ket luan</a:t>
                      </a:r>
                    </a:p>
                  </a:txBody>
                  <a:tcPr>
                    <a:solidFill>
                      <a:srgbClr val="1F4E79"/>
                    </a:solidFill>
                  </a:tcPr>
                </a:tc>
              </a:tr>
              <a:tr h="354330">
                <a:tc>
                  <a:txBody>
                    <a:bodyPr/>
                    <a:lstStyle/>
                    <a:p>
                      <a:pPr algn="l"/>
                      <a:r>
                        <a:rPr sz="1200" b="0">
                          <a:solidFill>
                            <a:srgbClr val="1A1A1A"/>
                          </a:solidFill>
                          <a:latin typeface="Times New Roman"/>
                        </a:rPr>
                        <a:t>log(1+Sales) - Level</a:t>
                      </a:r>
                    </a:p>
                  </a:txBody>
                  <a:tcPr>
                    <a:solidFill>
                      <a:srgbClr val="FFFFFF"/>
                    </a:solidFill>
                  </a:tcPr>
                </a:tc>
                <a:tc>
                  <a:txBody>
                    <a:bodyPr/>
                    <a:lstStyle/>
                    <a:p>
                      <a:pPr algn="ctr"/>
                      <a:r>
                        <a:rPr sz="1200" b="0">
                          <a:solidFill>
                            <a:srgbClr val="1A1A1A"/>
                          </a:solidFill>
                          <a:latin typeface="Times New Roman"/>
                        </a:rPr>
                        <a:t>-2.31</a:t>
                      </a:r>
                    </a:p>
                  </a:txBody>
                  <a:tcPr>
                    <a:solidFill>
                      <a:srgbClr val="FFFFFF"/>
                    </a:solidFill>
                  </a:tcPr>
                </a:tc>
                <a:tc>
                  <a:txBody>
                    <a:bodyPr/>
                    <a:lstStyle/>
                    <a:p>
                      <a:pPr algn="ctr"/>
                      <a:r>
                        <a:rPr sz="1200" b="0">
                          <a:solidFill>
                            <a:srgbClr val="1A1A1A"/>
                          </a:solidFill>
                          <a:latin typeface="Times New Roman"/>
                        </a:rPr>
                        <a:t>0.168</a:t>
                      </a:r>
                    </a:p>
                  </a:txBody>
                  <a:tcPr>
                    <a:solidFill>
                      <a:srgbClr val="FFFFFF"/>
                    </a:solidFill>
                  </a:tcPr>
                </a:tc>
                <a:tc>
                  <a:txBody>
                    <a:bodyPr/>
                    <a:lstStyle/>
                    <a:p>
                      <a:pPr algn="ctr"/>
                      <a:r>
                        <a:rPr sz="1200" b="0">
                          <a:solidFill>
                            <a:srgbClr val="C0392B"/>
                          </a:solidFill>
                          <a:latin typeface="Times New Roman"/>
                        </a:rPr>
                        <a:t>Non-stationary</a:t>
                      </a:r>
                    </a:p>
                  </a:txBody>
                  <a:tcPr>
                    <a:solidFill>
                      <a:srgbClr val="FAD7D0"/>
                    </a:solidFill>
                  </a:tcPr>
                </a:tc>
              </a:tr>
              <a:tr h="354330">
                <a:tc>
                  <a:txBody>
                    <a:bodyPr/>
                    <a:lstStyle/>
                    <a:p>
                      <a:pPr algn="l"/>
                      <a:r>
                        <a:rPr sz="1200" b="0">
                          <a:solidFill>
                            <a:srgbClr val="1A1A1A"/>
                          </a:solidFill>
                          <a:latin typeface="Times New Roman"/>
                        </a:rPr>
                        <a:t>∇log - d=1</a:t>
                      </a:r>
                    </a:p>
                  </a:txBody>
                  <a:tcPr>
                    <a:solidFill>
                      <a:srgbClr val="F2F4F8"/>
                    </a:solidFill>
                  </a:tcPr>
                </a:tc>
                <a:tc>
                  <a:txBody>
                    <a:bodyPr/>
                    <a:lstStyle/>
                    <a:p>
                      <a:pPr algn="ctr"/>
                      <a:r>
                        <a:rPr sz="1200" b="0">
                          <a:solidFill>
                            <a:srgbClr val="1A1A1A"/>
                          </a:solidFill>
                          <a:latin typeface="Times New Roman"/>
                        </a:rPr>
                        <a:t>-8.74</a:t>
                      </a:r>
                    </a:p>
                  </a:txBody>
                  <a:tcPr>
                    <a:solidFill>
                      <a:srgbClr val="F2F4F8"/>
                    </a:solidFill>
                  </a:tcPr>
                </a:tc>
                <a:tc>
                  <a:txBody>
                    <a:bodyPr/>
                    <a:lstStyle/>
                    <a:p>
                      <a:pPr algn="ctr"/>
                      <a:r>
                        <a:rPr sz="1200" b="0">
                          <a:solidFill>
                            <a:srgbClr val="1A1A1A"/>
                          </a:solidFill>
                          <a:latin typeface="Times New Roman"/>
                        </a:rPr>
                        <a:t>&lt;0.001</a:t>
                      </a:r>
                    </a:p>
                  </a:txBody>
                  <a:tcPr>
                    <a:solidFill>
                      <a:srgbClr val="F2F4F8"/>
                    </a:solidFill>
                  </a:tcPr>
                </a:tc>
                <a:tc>
                  <a:txBody>
                    <a:bodyPr/>
                    <a:lstStyle/>
                    <a:p>
                      <a:pPr algn="ctr"/>
                      <a:r>
                        <a:rPr sz="1200" b="0">
                          <a:solidFill>
                            <a:srgbClr val="1A7A4A"/>
                          </a:solidFill>
                          <a:latin typeface="Times New Roman"/>
                        </a:rPr>
                        <a:t>Stationary</a:t>
                      </a:r>
                    </a:p>
                  </a:txBody>
                  <a:tcPr>
                    <a:solidFill>
                      <a:srgbClr val="D5F0E0"/>
                    </a:solidFill>
                  </a:tcPr>
                </a:tc>
              </a:tr>
              <a:tr h="354330">
                <a:tc>
                  <a:txBody>
                    <a:bodyPr/>
                    <a:lstStyle/>
                    <a:p>
                      <a:pPr algn="l"/>
                      <a:r>
                        <a:rPr sz="1200" b="0">
                          <a:solidFill>
                            <a:srgbClr val="1A1A1A"/>
                          </a:solidFill>
                          <a:latin typeface="Times New Roman"/>
                        </a:rPr>
                        <a:t>∇∇7log - d=1,D=1</a:t>
                      </a:r>
                    </a:p>
                  </a:txBody>
                  <a:tcPr>
                    <a:solidFill>
                      <a:srgbClr val="FFFFFF"/>
                    </a:solidFill>
                  </a:tcPr>
                </a:tc>
                <a:tc>
                  <a:txBody>
                    <a:bodyPr/>
                    <a:lstStyle/>
                    <a:p>
                      <a:pPr algn="ctr"/>
                      <a:r>
                        <a:rPr sz="1200" b="0">
                          <a:solidFill>
                            <a:srgbClr val="1A1A1A"/>
                          </a:solidFill>
                          <a:latin typeface="Times New Roman"/>
                        </a:rPr>
                        <a:t>-6.12</a:t>
                      </a:r>
                    </a:p>
                  </a:txBody>
                  <a:tcPr>
                    <a:solidFill>
                      <a:srgbClr val="FFFFFF"/>
                    </a:solidFill>
                  </a:tcPr>
                </a:tc>
                <a:tc>
                  <a:txBody>
                    <a:bodyPr/>
                    <a:lstStyle/>
                    <a:p>
                      <a:pPr algn="ctr"/>
                      <a:r>
                        <a:rPr sz="1200" b="0">
                          <a:solidFill>
                            <a:srgbClr val="1A1A1A"/>
                          </a:solidFill>
                          <a:latin typeface="Times New Roman"/>
                        </a:rPr>
                        <a:t>&lt;0.001</a:t>
                      </a:r>
                    </a:p>
                  </a:txBody>
                  <a:tcPr>
                    <a:solidFill>
                      <a:srgbClr val="FFFFFF"/>
                    </a:solidFill>
                  </a:tcPr>
                </a:tc>
                <a:tc>
                  <a:txBody>
                    <a:bodyPr/>
                    <a:lstStyle/>
                    <a:p>
                      <a:pPr algn="ctr"/>
                      <a:r>
                        <a:rPr sz="1200" b="0">
                          <a:solidFill>
                            <a:srgbClr val="1A7A4A"/>
                          </a:solidFill>
                          <a:latin typeface="Times New Roman"/>
                        </a:rPr>
                        <a:t>Stationary</a:t>
                      </a:r>
                    </a:p>
                  </a:txBody>
                  <a:tcPr>
                    <a:solidFill>
                      <a:srgbClr val="D5F0E0"/>
                    </a:solidFill>
                  </a:tcPr>
                </a:tc>
              </a:tr>
            </a:tbl>
          </a:graphicData>
        </a:graphic>
      </p:graphicFrame>
      <p:sp>
        <p:nvSpPr>
          <p:cNvPr id="13" name="Rectangle 12"/>
          <p:cNvSpPr/>
          <p:nvPr/>
        </p:nvSpPr>
        <p:spPr>
          <a:xfrm>
            <a:off x="365760" y="3017520"/>
            <a:ext cx="4114800"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3042920"/>
            <a:ext cx="4023360" cy="320040"/>
          </a:xfrm>
          <a:prstGeom prst="rect">
            <a:avLst/>
          </a:prstGeom>
          <a:noFill/>
        </p:spPr>
        <p:txBody>
          <a:bodyPr wrap="square">
            <a:spAutoFit/>
          </a:bodyPr>
          <a:lstStyle/>
          <a:p>
            <a:pPr algn="l"/>
            <a:r>
              <a:rPr sz="1200" b="1" i="0">
                <a:solidFill>
                  <a:srgbClr val="FFFFFF"/>
                </a:solidFill>
                <a:latin typeface="Times New Roman"/>
              </a:rPr>
              <a:t>KPSS Test</a:t>
            </a:r>
          </a:p>
        </p:txBody>
      </p:sp>
      <p:graphicFrame>
        <p:nvGraphicFramePr>
          <p:cNvPr id="15" name="Table 14"/>
          <p:cNvGraphicFramePr>
            <a:graphicFrameLocks noGrp="1"/>
          </p:cNvGraphicFramePr>
          <p:nvPr/>
        </p:nvGraphicFramePr>
        <p:xfrm>
          <a:off x="365760" y="3383280"/>
          <a:ext cx="11430000" cy="1417320"/>
        </p:xfrm>
        <a:graphic>
          <a:graphicData uri="http://schemas.openxmlformats.org/drawingml/2006/table">
            <a:tbl>
              <a:tblPr firstRow="1" bandRow="1">
                <a:tableStyleId>{5C22544A-7EE6-4342-B048-85BDC9FD1C3A}</a:tableStyleId>
              </a:tblPr>
              <a:tblGrid>
                <a:gridCol w="3840480"/>
                <a:gridCol w="2103120"/>
                <a:gridCol w="1645920"/>
                <a:gridCol w="3840480"/>
              </a:tblGrid>
              <a:tr h="354330">
                <a:tc>
                  <a:txBody>
                    <a:bodyPr/>
                    <a:lstStyle/>
                    <a:p>
                      <a:pPr algn="ctr"/>
                      <a:r>
                        <a:rPr sz="1300" b="1">
                          <a:solidFill>
                            <a:srgbClr val="FFFFFF"/>
                          </a:solidFill>
                          <a:latin typeface="Times New Roman"/>
                        </a:rPr>
                        <a:t>Chuan</a:t>
                      </a:r>
                    </a:p>
                  </a:txBody>
                  <a:tcPr>
                    <a:solidFill>
                      <a:srgbClr val="1F4E79"/>
                    </a:solidFill>
                  </a:tcPr>
                </a:tc>
                <a:tc>
                  <a:txBody>
                    <a:bodyPr/>
                    <a:lstStyle/>
                    <a:p>
                      <a:pPr algn="ctr"/>
                      <a:r>
                        <a:rPr sz="1300" b="1">
                          <a:solidFill>
                            <a:srgbClr val="FFFFFF"/>
                          </a:solidFill>
                          <a:latin typeface="Times New Roman"/>
                        </a:rPr>
                        <a:t>KPSS Stat</a:t>
                      </a:r>
                    </a:p>
                  </a:txBody>
                  <a:tcPr>
                    <a:solidFill>
                      <a:srgbClr val="1F4E79"/>
                    </a:solidFill>
                  </a:tcPr>
                </a:tc>
                <a:tc>
                  <a:txBody>
                    <a:bodyPr/>
                    <a:lstStyle/>
                    <a:p>
                      <a:pPr algn="ctr"/>
                      <a:r>
                        <a:rPr sz="1300" b="1">
                          <a:solidFill>
                            <a:srgbClr val="FFFFFF"/>
                          </a:solidFill>
                          <a:latin typeface="Times New Roman"/>
                        </a:rPr>
                        <a:t>p-value</a:t>
                      </a:r>
                    </a:p>
                  </a:txBody>
                  <a:tcPr>
                    <a:solidFill>
                      <a:srgbClr val="1F4E79"/>
                    </a:solidFill>
                  </a:tcPr>
                </a:tc>
                <a:tc>
                  <a:txBody>
                    <a:bodyPr/>
                    <a:lstStyle/>
                    <a:p>
                      <a:pPr algn="ctr"/>
                      <a:r>
                        <a:rPr sz="1300" b="1">
                          <a:solidFill>
                            <a:srgbClr val="FFFFFF"/>
                          </a:solidFill>
                          <a:latin typeface="Times New Roman"/>
                        </a:rPr>
                        <a:t>Ket luan</a:t>
                      </a:r>
                    </a:p>
                  </a:txBody>
                  <a:tcPr>
                    <a:solidFill>
                      <a:srgbClr val="1F4E79"/>
                    </a:solidFill>
                  </a:tcPr>
                </a:tc>
              </a:tr>
              <a:tr h="354330">
                <a:tc>
                  <a:txBody>
                    <a:bodyPr/>
                    <a:lstStyle/>
                    <a:p>
                      <a:pPr algn="l"/>
                      <a:r>
                        <a:rPr sz="1200" b="0">
                          <a:solidFill>
                            <a:srgbClr val="1A1A1A"/>
                          </a:solidFill>
                          <a:latin typeface="Times New Roman"/>
                        </a:rPr>
                        <a:t>log(1+Sales) - Level</a:t>
                      </a:r>
                    </a:p>
                  </a:txBody>
                  <a:tcPr>
                    <a:solidFill>
                      <a:srgbClr val="FFFFFF"/>
                    </a:solidFill>
                  </a:tcPr>
                </a:tc>
                <a:tc>
                  <a:txBody>
                    <a:bodyPr/>
                    <a:lstStyle/>
                    <a:p>
                      <a:pPr algn="ctr"/>
                      <a:r>
                        <a:rPr sz="1200" b="0">
                          <a:solidFill>
                            <a:srgbClr val="1A1A1A"/>
                          </a:solidFill>
                          <a:latin typeface="Times New Roman"/>
                        </a:rPr>
                        <a:t>0.480</a:t>
                      </a:r>
                    </a:p>
                  </a:txBody>
                  <a:tcPr>
                    <a:solidFill>
                      <a:srgbClr val="FFFFFF"/>
                    </a:solidFill>
                  </a:tcPr>
                </a:tc>
                <a:tc>
                  <a:txBody>
                    <a:bodyPr/>
                    <a:lstStyle/>
                    <a:p>
                      <a:pPr algn="ctr"/>
                      <a:r>
                        <a:rPr sz="1200" b="0">
                          <a:solidFill>
                            <a:srgbClr val="1A1A1A"/>
                          </a:solidFill>
                          <a:latin typeface="Times New Roman"/>
                        </a:rPr>
                        <a:t>0.039</a:t>
                      </a:r>
                    </a:p>
                  </a:txBody>
                  <a:tcPr>
                    <a:solidFill>
                      <a:srgbClr val="FFFFFF"/>
                    </a:solidFill>
                  </a:tcPr>
                </a:tc>
                <a:tc>
                  <a:txBody>
                    <a:bodyPr/>
                    <a:lstStyle/>
                    <a:p>
                      <a:pPr algn="ctr"/>
                      <a:r>
                        <a:rPr sz="1200" b="0">
                          <a:solidFill>
                            <a:srgbClr val="C0392B"/>
                          </a:solidFill>
                          <a:latin typeface="Times New Roman"/>
                        </a:rPr>
                        <a:t>Non-stationary</a:t>
                      </a:r>
                    </a:p>
                  </a:txBody>
                  <a:tcPr>
                    <a:solidFill>
                      <a:srgbClr val="FAD7D0"/>
                    </a:solidFill>
                  </a:tcPr>
                </a:tc>
              </a:tr>
              <a:tr h="354330">
                <a:tc>
                  <a:txBody>
                    <a:bodyPr/>
                    <a:lstStyle/>
                    <a:p>
                      <a:pPr algn="l"/>
                      <a:r>
                        <a:rPr sz="1200" b="0">
                          <a:solidFill>
                            <a:srgbClr val="1A1A1A"/>
                          </a:solidFill>
                          <a:latin typeface="Times New Roman"/>
                        </a:rPr>
                        <a:t>∇log - d=1</a:t>
                      </a:r>
                    </a:p>
                  </a:txBody>
                  <a:tcPr>
                    <a:solidFill>
                      <a:srgbClr val="F2F4F8"/>
                    </a:solidFill>
                  </a:tcPr>
                </a:tc>
                <a:tc>
                  <a:txBody>
                    <a:bodyPr/>
                    <a:lstStyle/>
                    <a:p>
                      <a:pPr algn="ctr"/>
                      <a:r>
                        <a:rPr sz="1200" b="0">
                          <a:solidFill>
                            <a:srgbClr val="1A1A1A"/>
                          </a:solidFill>
                          <a:latin typeface="Times New Roman"/>
                        </a:rPr>
                        <a:t>0.083</a:t>
                      </a:r>
                    </a:p>
                  </a:txBody>
                  <a:tcPr>
                    <a:solidFill>
                      <a:srgbClr val="F2F4F8"/>
                    </a:solidFill>
                  </a:tcPr>
                </a:tc>
                <a:tc>
                  <a:txBody>
                    <a:bodyPr/>
                    <a:lstStyle/>
                    <a:p>
                      <a:pPr algn="ctr"/>
                      <a:r>
                        <a:rPr sz="1200" b="0">
                          <a:solidFill>
                            <a:srgbClr val="1A1A1A"/>
                          </a:solidFill>
                          <a:latin typeface="Times New Roman"/>
                        </a:rPr>
                        <a:t>&gt;0.10</a:t>
                      </a:r>
                    </a:p>
                  </a:txBody>
                  <a:tcPr>
                    <a:solidFill>
                      <a:srgbClr val="F2F4F8"/>
                    </a:solidFill>
                  </a:tcPr>
                </a:tc>
                <a:tc>
                  <a:txBody>
                    <a:bodyPr/>
                    <a:lstStyle/>
                    <a:p>
                      <a:pPr algn="ctr"/>
                      <a:r>
                        <a:rPr sz="1200" b="0">
                          <a:solidFill>
                            <a:srgbClr val="1A7A4A"/>
                          </a:solidFill>
                          <a:latin typeface="Times New Roman"/>
                        </a:rPr>
                        <a:t>Stationary</a:t>
                      </a:r>
                    </a:p>
                  </a:txBody>
                  <a:tcPr>
                    <a:solidFill>
                      <a:srgbClr val="D5F0E0"/>
                    </a:solidFill>
                  </a:tcPr>
                </a:tc>
              </a:tr>
              <a:tr h="354330">
                <a:tc>
                  <a:txBody>
                    <a:bodyPr/>
                    <a:lstStyle/>
                    <a:p>
                      <a:pPr algn="l"/>
                      <a:r>
                        <a:rPr sz="1200" b="0">
                          <a:solidFill>
                            <a:srgbClr val="1A1A1A"/>
                          </a:solidFill>
                          <a:latin typeface="Times New Roman"/>
                        </a:rPr>
                        <a:t>∇∇7log - d=1,D=1</a:t>
                      </a:r>
                    </a:p>
                  </a:txBody>
                  <a:tcPr>
                    <a:solidFill>
                      <a:srgbClr val="FFFFFF"/>
                    </a:solidFill>
                  </a:tcPr>
                </a:tc>
                <a:tc>
                  <a:txBody>
                    <a:bodyPr/>
                    <a:lstStyle/>
                    <a:p>
                      <a:pPr algn="ctr"/>
                      <a:r>
                        <a:rPr sz="1200" b="0">
                          <a:solidFill>
                            <a:srgbClr val="1A1A1A"/>
                          </a:solidFill>
                          <a:latin typeface="Times New Roman"/>
                        </a:rPr>
                        <a:t>0.061</a:t>
                      </a:r>
                    </a:p>
                  </a:txBody>
                  <a:tcPr>
                    <a:solidFill>
                      <a:srgbClr val="FFFFFF"/>
                    </a:solidFill>
                  </a:tcPr>
                </a:tc>
                <a:tc>
                  <a:txBody>
                    <a:bodyPr/>
                    <a:lstStyle/>
                    <a:p>
                      <a:pPr algn="ctr"/>
                      <a:r>
                        <a:rPr sz="1200" b="0">
                          <a:solidFill>
                            <a:srgbClr val="1A1A1A"/>
                          </a:solidFill>
                          <a:latin typeface="Times New Roman"/>
                        </a:rPr>
                        <a:t>&gt;0.10</a:t>
                      </a:r>
                    </a:p>
                  </a:txBody>
                  <a:tcPr>
                    <a:solidFill>
                      <a:srgbClr val="FFFFFF"/>
                    </a:solidFill>
                  </a:tcPr>
                </a:tc>
                <a:tc>
                  <a:txBody>
                    <a:bodyPr/>
                    <a:lstStyle/>
                    <a:p>
                      <a:pPr algn="ctr"/>
                      <a:r>
                        <a:rPr sz="1200" b="0">
                          <a:solidFill>
                            <a:srgbClr val="1A7A4A"/>
                          </a:solidFill>
                          <a:latin typeface="Times New Roman"/>
                        </a:rPr>
                        <a:t>Stationary</a:t>
                      </a:r>
                    </a:p>
                  </a:txBody>
                  <a:tcPr>
                    <a:solidFill>
                      <a:srgbClr val="D5F0E0"/>
                    </a:solidFill>
                  </a:tcPr>
                </a:tc>
              </a:tr>
            </a:tbl>
          </a:graphicData>
        </a:graphic>
      </p:graphicFrame>
      <p:pic>
        <p:nvPicPr>
          <p:cNvPr id="16" name="Picture 15" descr="image.png"/>
          <p:cNvPicPr>
            <a:picLocks noChangeAspect="1"/>
          </p:cNvPicPr>
          <p:nvPr/>
        </p:nvPicPr>
        <p:blipFill>
          <a:blip r:embed="rId2"/>
          <a:stretch>
            <a:fillRect/>
          </a:stretch>
        </p:blipFill>
        <p:spPr>
          <a:xfrm>
            <a:off x="365760" y="4892040"/>
            <a:ext cx="11430000" cy="1298448"/>
          </a:xfrm>
          <a:prstGeom prst="rect">
            <a:avLst/>
          </a:prstGeom>
        </p:spPr>
      </p:pic>
      <p:sp>
        <p:nvSpPr>
          <p:cNvPr id="17" name="Rectangle 16"/>
          <p:cNvSpPr/>
          <p:nvPr/>
        </p:nvSpPr>
        <p:spPr>
          <a:xfrm>
            <a:off x="365760" y="6291072"/>
            <a:ext cx="11430000" cy="1645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81928"/>
            <a:ext cx="11155680" cy="201168"/>
          </a:xfrm>
          <a:prstGeom prst="rect">
            <a:avLst/>
          </a:prstGeom>
          <a:noFill/>
        </p:spPr>
        <p:txBody>
          <a:bodyPr wrap="square">
            <a:spAutoFit/>
          </a:bodyPr>
          <a:lstStyle/>
          <a:p>
            <a:pPr algn="l"/>
            <a:r>
              <a:rPr sz="1200" b="1" i="0">
                <a:solidFill>
                  <a:srgbClr val="FFFFFF"/>
                </a:solidFill>
                <a:latin typeface="Times New Roman"/>
              </a:rPr>
              <a:t>-&gt; Ket luan: d=1, D=1, s=7  |  Ca ADF va KPSS dong thuan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ACF &amp; PACF — Xac Dinh Order Mo Hinh</a:t>
            </a:r>
          </a:p>
        </p:txBody>
      </p:sp>
      <p:sp>
        <p:nvSpPr>
          <p:cNvPr id="5" name="Rectangle 4"/>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7" name="TextBox 6"/>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9 / 14</a:t>
            </a:r>
          </a:p>
        </p:txBody>
      </p:sp>
      <p:sp>
        <p:nvSpPr>
          <p:cNvPr id="8" name="Rectangle 7"/>
          <p:cNvSpPr/>
          <p:nvPr/>
        </p:nvSpPr>
        <p:spPr>
          <a:xfrm>
            <a:off x="365760" y="1143000"/>
            <a:ext cx="4572000"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68400"/>
            <a:ext cx="4480560" cy="320040"/>
          </a:xfrm>
          <a:prstGeom prst="rect">
            <a:avLst/>
          </a:prstGeom>
          <a:noFill/>
        </p:spPr>
        <p:txBody>
          <a:bodyPr wrap="square">
            <a:spAutoFit/>
          </a:bodyPr>
          <a:lstStyle/>
          <a:p>
            <a:pPr algn="l"/>
            <a:r>
              <a:rPr sz="1200" b="1" i="0">
                <a:solidFill>
                  <a:srgbClr val="FFFFFF"/>
                </a:solidFill>
                <a:latin typeface="Times New Roman"/>
              </a:rPr>
              <a:t>Dien giai ACF/PACF theo giai doan</a:t>
            </a:r>
          </a:p>
        </p:txBody>
      </p:sp>
      <p:graphicFrame>
        <p:nvGraphicFramePr>
          <p:cNvPr id="10" name="Table 9"/>
          <p:cNvGraphicFramePr>
            <a:graphicFrameLocks noGrp="1"/>
          </p:cNvGraphicFramePr>
          <p:nvPr/>
        </p:nvGraphicFramePr>
        <p:xfrm>
          <a:off x="365760" y="1508760"/>
          <a:ext cx="11430000" cy="1691640"/>
        </p:xfrm>
        <a:graphic>
          <a:graphicData uri="http://schemas.openxmlformats.org/drawingml/2006/table">
            <a:tbl>
              <a:tblPr firstRow="1" bandRow="1">
                <a:tableStyleId>{5C22544A-7EE6-4342-B048-85BDC9FD1C3A}</a:tableStyleId>
              </a:tblPr>
              <a:tblGrid>
                <a:gridCol w="2743200"/>
                <a:gridCol w="2926080"/>
                <a:gridCol w="2560320"/>
                <a:gridCol w="3200400"/>
              </a:tblGrid>
              <a:tr h="422910">
                <a:tc>
                  <a:txBody>
                    <a:bodyPr/>
                    <a:lstStyle/>
                    <a:p>
                      <a:pPr algn="ctr"/>
                      <a:r>
                        <a:rPr sz="1300" b="1">
                          <a:solidFill>
                            <a:srgbClr val="FFFFFF"/>
                          </a:solidFill>
                          <a:latin typeface="Times New Roman"/>
                        </a:rPr>
                        <a:t>Chuan</a:t>
                      </a:r>
                    </a:p>
                  </a:txBody>
                  <a:tcPr>
                    <a:solidFill>
                      <a:srgbClr val="1F4E79"/>
                    </a:solidFill>
                  </a:tcPr>
                </a:tc>
                <a:tc>
                  <a:txBody>
                    <a:bodyPr/>
                    <a:lstStyle/>
                    <a:p>
                      <a:pPr algn="ctr"/>
                      <a:r>
                        <a:rPr sz="1300" b="1">
                          <a:solidFill>
                            <a:srgbClr val="FFFFFF"/>
                          </a:solidFill>
                          <a:latin typeface="Times New Roman"/>
                        </a:rPr>
                        <a:t>ACF pattern</a:t>
                      </a:r>
                    </a:p>
                  </a:txBody>
                  <a:tcPr>
                    <a:solidFill>
                      <a:srgbClr val="1F4E79"/>
                    </a:solidFill>
                  </a:tcPr>
                </a:tc>
                <a:tc>
                  <a:txBody>
                    <a:bodyPr/>
                    <a:lstStyle/>
                    <a:p>
                      <a:pPr algn="ctr"/>
                      <a:r>
                        <a:rPr sz="1300" b="1">
                          <a:solidFill>
                            <a:srgbClr val="FFFFFF"/>
                          </a:solidFill>
                          <a:latin typeface="Times New Roman"/>
                        </a:rPr>
                        <a:t>PACF pattern</a:t>
                      </a:r>
                    </a:p>
                  </a:txBody>
                  <a:tcPr>
                    <a:solidFill>
                      <a:srgbClr val="1F4E79"/>
                    </a:solidFill>
                  </a:tcPr>
                </a:tc>
                <a:tc>
                  <a:txBody>
                    <a:bodyPr/>
                    <a:lstStyle/>
                    <a:p>
                      <a:pPr algn="ctr"/>
                      <a:r>
                        <a:rPr sz="1300" b="1">
                          <a:solidFill>
                            <a:srgbClr val="FFFFFF"/>
                          </a:solidFill>
                          <a:latin typeface="Times New Roman"/>
                        </a:rPr>
                        <a:t>Ket luan</a:t>
                      </a:r>
                    </a:p>
                  </a:txBody>
                  <a:tcPr>
                    <a:solidFill>
                      <a:srgbClr val="1F4E79"/>
                    </a:solidFill>
                  </a:tcPr>
                </a:tc>
              </a:tr>
              <a:tr h="422910">
                <a:tc>
                  <a:txBody>
                    <a:bodyPr/>
                    <a:lstStyle/>
                    <a:p>
                      <a:pPr algn="l"/>
                      <a:r>
                        <a:rPr sz="1200" b="0">
                          <a:solidFill>
                            <a:srgbClr val="1A1A1A"/>
                          </a:solidFill>
                          <a:latin typeface="Times New Roman"/>
                        </a:rPr>
                        <a:t>Level log-sales</a:t>
                      </a:r>
                    </a:p>
                  </a:txBody>
                  <a:tcPr>
                    <a:solidFill>
                      <a:srgbClr val="FFFFFF"/>
                    </a:solidFill>
                  </a:tcPr>
                </a:tc>
                <a:tc>
                  <a:txBody>
                    <a:bodyPr/>
                    <a:lstStyle/>
                    <a:p>
                      <a:pPr algn="ctr"/>
                      <a:r>
                        <a:rPr sz="1200" b="0">
                          <a:solidFill>
                            <a:srgbClr val="1A1A1A"/>
                          </a:solidFill>
                          <a:latin typeface="Times New Roman"/>
                        </a:rPr>
                        <a:t>Decay cham duong</a:t>
                      </a:r>
                    </a:p>
                  </a:txBody>
                  <a:tcPr>
                    <a:solidFill>
                      <a:srgbClr val="FFFFFF"/>
                    </a:solidFill>
                  </a:tcPr>
                </a:tc>
                <a:tc>
                  <a:txBody>
                    <a:bodyPr/>
                    <a:lstStyle/>
                    <a:p>
                      <a:pPr algn="ctr"/>
                      <a:r>
                        <a:rPr sz="1200" b="0">
                          <a:solidFill>
                            <a:srgbClr val="1A1A1A"/>
                          </a:solidFill>
                          <a:latin typeface="Times New Roman"/>
                        </a:rPr>
                        <a:t>Cat sau lag 1</a:t>
                      </a:r>
                    </a:p>
                  </a:txBody>
                  <a:tcPr>
                    <a:solidFill>
                      <a:srgbClr val="FFFFFF"/>
                    </a:solidFill>
                  </a:tcPr>
                </a:tc>
                <a:tc>
                  <a:txBody>
                    <a:bodyPr/>
                    <a:lstStyle/>
                    <a:p>
                      <a:pPr algn="ctr"/>
                      <a:r>
                        <a:rPr sz="1200" b="0">
                          <a:solidFill>
                            <a:srgbClr val="1A1A1A"/>
                          </a:solidFill>
                          <a:latin typeface="Times New Roman"/>
                        </a:rPr>
                        <a:t>Non-stationary -&gt; d=1</a:t>
                      </a:r>
                    </a:p>
                  </a:txBody>
                  <a:tcPr>
                    <a:solidFill>
                      <a:srgbClr val="FFFFFF"/>
                    </a:solidFill>
                  </a:tcPr>
                </a:tc>
              </a:tr>
              <a:tr h="422910">
                <a:tc>
                  <a:txBody>
                    <a:bodyPr/>
                    <a:lstStyle/>
                    <a:p>
                      <a:pPr algn="l"/>
                      <a:r>
                        <a:rPr sz="1200" b="0">
                          <a:solidFill>
                            <a:srgbClr val="1A1A1A"/>
                          </a:solidFill>
                          <a:latin typeface="Times New Roman"/>
                        </a:rPr>
                        <a:t>∇log - d=1</a:t>
                      </a:r>
                    </a:p>
                  </a:txBody>
                  <a:tcPr>
                    <a:solidFill>
                      <a:srgbClr val="F2F4F8"/>
                    </a:solidFill>
                  </a:tcPr>
                </a:tc>
                <a:tc>
                  <a:txBody>
                    <a:bodyPr/>
                    <a:lstStyle/>
                    <a:p>
                      <a:pPr algn="ctr"/>
                      <a:r>
                        <a:rPr sz="1200" b="0">
                          <a:solidFill>
                            <a:srgbClr val="1A1A1A"/>
                          </a:solidFill>
                          <a:latin typeface="Times New Roman"/>
                        </a:rPr>
                        <a:t>Spike lag 1 &amp; 7; seasonal</a:t>
                      </a:r>
                    </a:p>
                  </a:txBody>
                  <a:tcPr>
                    <a:solidFill>
                      <a:srgbClr val="F2F4F8"/>
                    </a:solidFill>
                  </a:tcPr>
                </a:tc>
                <a:tc>
                  <a:txBody>
                    <a:bodyPr/>
                    <a:lstStyle/>
                    <a:p>
                      <a:pPr algn="ctr"/>
                      <a:r>
                        <a:rPr sz="1200" b="0">
                          <a:solidFill>
                            <a:srgbClr val="1A1A1A"/>
                          </a:solidFill>
                          <a:latin typeface="Times New Roman"/>
                        </a:rPr>
                        <a:t>Spike lag 1 &amp; 7</a:t>
                      </a:r>
                    </a:p>
                  </a:txBody>
                  <a:tcPr>
                    <a:solidFill>
                      <a:srgbClr val="F2F4F8"/>
                    </a:solidFill>
                  </a:tcPr>
                </a:tc>
                <a:tc>
                  <a:txBody>
                    <a:bodyPr/>
                    <a:lstStyle/>
                    <a:p>
                      <a:pPr algn="ctr"/>
                      <a:r>
                        <a:rPr sz="1200" b="0">
                          <a:solidFill>
                            <a:srgbClr val="1A1A1A"/>
                          </a:solidFill>
                          <a:latin typeface="Times New Roman"/>
                        </a:rPr>
                        <a:t>Can AR &amp; MA mua</a:t>
                      </a:r>
                    </a:p>
                  </a:txBody>
                  <a:tcPr>
                    <a:solidFill>
                      <a:srgbClr val="F2F4F8"/>
                    </a:solidFill>
                  </a:tcPr>
                </a:tc>
              </a:tr>
              <a:tr h="422910">
                <a:tc>
                  <a:txBody>
                    <a:bodyPr/>
                    <a:lstStyle/>
                    <a:p>
                      <a:pPr algn="l"/>
                      <a:r>
                        <a:rPr sz="1200" b="0">
                          <a:solidFill>
                            <a:srgbClr val="1A1A1A"/>
                          </a:solidFill>
                          <a:latin typeface="Times New Roman"/>
                        </a:rPr>
                        <a:t>∇∇7log - d=1,D=1</a:t>
                      </a:r>
                    </a:p>
                  </a:txBody>
                  <a:tcPr>
                    <a:solidFill>
                      <a:srgbClr val="FFFFFF"/>
                    </a:solidFill>
                  </a:tcPr>
                </a:tc>
                <a:tc>
                  <a:txBody>
                    <a:bodyPr/>
                    <a:lstStyle/>
                    <a:p>
                      <a:pPr algn="ctr"/>
                      <a:r>
                        <a:rPr sz="1200" b="0">
                          <a:solidFill>
                            <a:srgbClr val="1A1A1A"/>
                          </a:solidFill>
                          <a:latin typeface="Times New Roman"/>
                        </a:rPr>
                        <a:t>1 spike lag 1; 1 spike 7</a:t>
                      </a:r>
                    </a:p>
                  </a:txBody>
                  <a:tcPr>
                    <a:solidFill>
                      <a:srgbClr val="FFFFFF"/>
                    </a:solidFill>
                  </a:tcPr>
                </a:tc>
                <a:tc>
                  <a:txBody>
                    <a:bodyPr/>
                    <a:lstStyle/>
                    <a:p>
                      <a:pPr algn="ctr"/>
                      <a:r>
                        <a:rPr sz="1200" b="0">
                          <a:solidFill>
                            <a:srgbClr val="1A1A1A"/>
                          </a:solidFill>
                          <a:latin typeface="Times New Roman"/>
                        </a:rPr>
                        <a:t>1 spike lag 1</a:t>
                      </a:r>
                    </a:p>
                  </a:txBody>
                  <a:tcPr>
                    <a:solidFill>
                      <a:srgbClr val="FFFFFF"/>
                    </a:solidFill>
                  </a:tcPr>
                </a:tc>
                <a:tc>
                  <a:txBody>
                    <a:bodyPr/>
                    <a:lstStyle/>
                    <a:p>
                      <a:pPr algn="ctr"/>
                      <a:r>
                        <a:rPr sz="1200" b="0">
                          <a:solidFill>
                            <a:srgbClr val="1A1A1A"/>
                          </a:solidFill>
                          <a:latin typeface="Times New Roman"/>
                        </a:rPr>
                        <a:t>-&gt; SARIMA(1,1,1)(0,1,1,7)</a:t>
                      </a:r>
                    </a:p>
                  </a:txBody>
                  <a:tcPr>
                    <a:solidFill>
                      <a:srgbClr val="FFFFFF"/>
                    </a:solidFill>
                  </a:tcPr>
                </a:tc>
              </a:tr>
            </a:tbl>
          </a:graphicData>
        </a:graphic>
      </p:graphicFrame>
      <p:sp>
        <p:nvSpPr>
          <p:cNvPr id="11" name="Rectangle 10"/>
          <p:cNvSpPr/>
          <p:nvPr/>
        </p:nvSpPr>
        <p:spPr>
          <a:xfrm>
            <a:off x="365760" y="3291840"/>
            <a:ext cx="11430000" cy="137160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291840"/>
            <a:ext cx="64008" cy="13716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355848"/>
            <a:ext cx="10972800" cy="329184"/>
          </a:xfrm>
          <a:prstGeom prst="rect">
            <a:avLst/>
          </a:prstGeom>
          <a:noFill/>
        </p:spPr>
        <p:txBody>
          <a:bodyPr wrap="square">
            <a:spAutoFit/>
          </a:bodyPr>
          <a:lstStyle/>
          <a:p>
            <a:pPr algn="l"/>
            <a:r>
              <a:rPr sz="1300" b="1" i="0">
                <a:solidFill>
                  <a:srgbClr val="1F4E79"/>
                </a:solidFill>
                <a:latin typeface="Times New Roman"/>
              </a:rPr>
              <a:t>Cach doc ACF/PACF -&gt; SARIMA order:</a:t>
            </a:r>
          </a:p>
        </p:txBody>
      </p:sp>
      <p:sp>
        <p:nvSpPr>
          <p:cNvPr id="14" name="TextBox 13"/>
          <p:cNvSpPr txBox="1"/>
          <p:nvPr/>
        </p:nvSpPr>
        <p:spPr>
          <a:xfrm>
            <a:off x="548640" y="3703320"/>
            <a:ext cx="11155680" cy="914400"/>
          </a:xfrm>
          <a:prstGeom prst="rect">
            <a:avLst/>
          </a:prstGeom>
          <a:noFill/>
        </p:spPr>
        <p:txBody>
          <a:bodyPr wrap="square">
            <a:spAutoFit/>
          </a:bodyPr>
          <a:lstStyle/>
          <a:p>
            <a:pPr>
              <a:spcAft>
                <a:spcPts val="600"/>
              </a:spcAft>
            </a:pPr>
            <a:r>
              <a:rPr sz="1300">
                <a:solidFill>
                  <a:srgbClr val="1A1A1A"/>
                </a:solidFill>
                <a:latin typeface="Times New Roman"/>
              </a:rPr>
              <a:t>ACF spike tai lag 7 -&gt; seasonal MA(1): Q=1</a:t>
            </a:r>
          </a:p>
          <a:p>
            <a:pPr>
              <a:spcAft>
                <a:spcPts val="600"/>
              </a:spcAft>
            </a:pPr>
            <a:r>
              <a:rPr sz="1300">
                <a:solidFill>
                  <a:srgbClr val="1A1A1A"/>
                </a:solidFill>
                <a:latin typeface="Times New Roman"/>
              </a:rPr>
              <a:t>PACF khong spike tai lag 7 -&gt; khong can seasonal AR: P=0</a:t>
            </a:r>
          </a:p>
          <a:p>
            <a:pPr>
              <a:spcAft>
                <a:spcPts val="600"/>
              </a:spcAft>
            </a:pPr>
            <a:r>
              <a:rPr sz="1300">
                <a:solidFill>
                  <a:srgbClr val="1A1A1A"/>
                </a:solidFill>
                <a:latin typeface="Times New Roman"/>
              </a:rPr>
              <a:t>ACF va PACF cung spike tai lag 1 -&gt; AR(1) va MA(1): p=1, q=1</a:t>
            </a:r>
          </a:p>
          <a:p>
            <a:pPr>
              <a:spcAft>
                <a:spcPts val="600"/>
              </a:spcAft>
            </a:pPr>
            <a:r>
              <a:rPr sz="1300">
                <a:solidFill>
                  <a:srgbClr val="1A1A1A"/>
                </a:solidFill>
                <a:latin typeface="Times New Roman"/>
              </a:rPr>
              <a:t>Xac nhan: SARIMA(1,1,1)(0,1,1)[7]  &lt;-  candidate chinh</a:t>
            </a:r>
          </a:p>
        </p:txBody>
      </p:sp>
      <p:pic>
        <p:nvPicPr>
          <p:cNvPr id="15" name="Picture 14" descr="image.png"/>
          <p:cNvPicPr>
            <a:picLocks noChangeAspect="1"/>
          </p:cNvPicPr>
          <p:nvPr/>
        </p:nvPicPr>
        <p:blipFill>
          <a:blip r:embed="rId2"/>
          <a:stretch>
            <a:fillRect/>
          </a:stretch>
        </p:blipFill>
        <p:spPr>
          <a:xfrm>
            <a:off x="365760" y="4754880"/>
            <a:ext cx="11430000" cy="14630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Lua Chon Mo Hinh — So Sanh Candidates</a:t>
            </a:r>
          </a:p>
        </p:txBody>
      </p:sp>
      <p:sp>
        <p:nvSpPr>
          <p:cNvPr id="6" name="Rectangle 5"/>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8" name="TextBox 7"/>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10 / 14</a:t>
            </a:r>
          </a:p>
        </p:txBody>
      </p:sp>
      <p:sp>
        <p:nvSpPr>
          <p:cNvPr id="9" name="Rectangle 8"/>
          <p:cNvSpPr/>
          <p:nvPr/>
        </p:nvSpPr>
        <p:spPr>
          <a:xfrm>
            <a:off x="365760" y="1143000"/>
            <a:ext cx="5486400"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168400"/>
            <a:ext cx="5394960" cy="320040"/>
          </a:xfrm>
          <a:prstGeom prst="rect">
            <a:avLst/>
          </a:prstGeom>
          <a:noFill/>
        </p:spPr>
        <p:txBody>
          <a:bodyPr wrap="square">
            <a:spAutoFit/>
          </a:bodyPr>
          <a:lstStyle/>
          <a:p>
            <a:pPr algn="l"/>
            <a:r>
              <a:rPr sz="1200" b="1" i="0">
                <a:solidFill>
                  <a:srgbClr val="FFFFFF"/>
                </a:solidFill>
                <a:latin typeface="Times New Roman"/>
              </a:rPr>
              <a:t>Grid so sanh 5 candidate SARIMA (sorted by BIC)</a:t>
            </a:r>
          </a:p>
        </p:txBody>
      </p:sp>
      <p:graphicFrame>
        <p:nvGraphicFramePr>
          <p:cNvPr id="11" name="Table 10"/>
          <p:cNvGraphicFramePr>
            <a:graphicFrameLocks noGrp="1"/>
          </p:cNvGraphicFramePr>
          <p:nvPr/>
        </p:nvGraphicFramePr>
        <p:xfrm>
          <a:off x="365760" y="1508760"/>
          <a:ext cx="11430000" cy="2103120"/>
        </p:xfrm>
        <a:graphic>
          <a:graphicData uri="http://schemas.openxmlformats.org/drawingml/2006/table">
            <a:tbl>
              <a:tblPr firstRow="1" bandRow="1">
                <a:tableStyleId>{5C22544A-7EE6-4342-B048-85BDC9FD1C3A}</a:tableStyleId>
              </a:tblPr>
              <a:tblGrid>
                <a:gridCol w="4023360"/>
                <a:gridCol w="1371600"/>
                <a:gridCol w="1371600"/>
                <a:gridCol w="1188720"/>
                <a:gridCol w="3474720"/>
              </a:tblGrid>
              <a:tr h="350520">
                <a:tc>
                  <a:txBody>
                    <a:bodyPr/>
                    <a:lstStyle/>
                    <a:p>
                      <a:pPr algn="ctr"/>
                      <a:r>
                        <a:rPr sz="1300" b="1">
                          <a:solidFill>
                            <a:srgbClr val="FFFFFF"/>
                          </a:solidFill>
                          <a:latin typeface="Times New Roman"/>
                        </a:rPr>
                        <a:t>Mo hinh</a:t>
                      </a:r>
                    </a:p>
                  </a:txBody>
                  <a:tcPr>
                    <a:solidFill>
                      <a:srgbClr val="1F4E79"/>
                    </a:solidFill>
                  </a:tcPr>
                </a:tc>
                <a:tc>
                  <a:txBody>
                    <a:bodyPr/>
                    <a:lstStyle/>
                    <a:p>
                      <a:pPr algn="ctr"/>
                      <a:r>
                        <a:rPr sz="1300" b="1">
                          <a:solidFill>
                            <a:srgbClr val="FFFFFF"/>
                          </a:solidFill>
                          <a:latin typeface="Times New Roman"/>
                        </a:rPr>
                        <a:t>AIC</a:t>
                      </a:r>
                    </a:p>
                  </a:txBody>
                  <a:tcPr>
                    <a:solidFill>
                      <a:srgbClr val="1F4E79"/>
                    </a:solidFill>
                  </a:tcPr>
                </a:tc>
                <a:tc>
                  <a:txBody>
                    <a:bodyPr/>
                    <a:lstStyle/>
                    <a:p>
                      <a:pPr algn="ctr"/>
                      <a:r>
                        <a:rPr sz="1300" b="1">
                          <a:solidFill>
                            <a:srgbClr val="FFFFFF"/>
                          </a:solidFill>
                          <a:latin typeface="Times New Roman"/>
                        </a:rPr>
                        <a:t>BIC</a:t>
                      </a:r>
                    </a:p>
                  </a:txBody>
                  <a:tcPr>
                    <a:solidFill>
                      <a:srgbClr val="1F4E79"/>
                    </a:solidFill>
                  </a:tcPr>
                </a:tc>
                <a:tc>
                  <a:txBody>
                    <a:bodyPr/>
                    <a:lstStyle/>
                    <a:p>
                      <a:pPr algn="ctr"/>
                      <a:r>
                        <a:rPr sz="1300" b="1">
                          <a:solidFill>
                            <a:srgbClr val="FFFFFF"/>
                          </a:solidFill>
                          <a:latin typeface="Times New Roman"/>
                        </a:rPr>
                        <a:t>Params</a:t>
                      </a:r>
                    </a:p>
                  </a:txBody>
                  <a:tcPr>
                    <a:solidFill>
                      <a:srgbClr val="1F4E79"/>
                    </a:solidFill>
                  </a:tcPr>
                </a:tc>
                <a:tc>
                  <a:txBody>
                    <a:bodyPr/>
                    <a:lstStyle/>
                    <a:p>
                      <a:pPr algn="ctr"/>
                      <a:r>
                        <a:rPr sz="1300" b="1">
                          <a:solidFill>
                            <a:srgbClr val="FFFFFF"/>
                          </a:solidFill>
                          <a:latin typeface="Times New Roman"/>
                        </a:rPr>
                        <a:t>Ghi chu</a:t>
                      </a:r>
                    </a:p>
                  </a:txBody>
                  <a:tcPr>
                    <a:solidFill>
                      <a:srgbClr val="1F4E79"/>
                    </a:solidFill>
                  </a:tcPr>
                </a:tc>
              </a:tr>
              <a:tr h="350520">
                <a:tc>
                  <a:txBody>
                    <a:bodyPr/>
                    <a:lstStyle/>
                    <a:p>
                      <a:pPr algn="l"/>
                      <a:r>
                        <a:rPr sz="1200" b="0">
                          <a:solidFill>
                            <a:srgbClr val="1A7A4A"/>
                          </a:solidFill>
                          <a:latin typeface="Times New Roman"/>
                        </a:rPr>
                        <a:t>SARIMA(1,1,1)(0,1,1,7)  &lt;- BEST</a:t>
                      </a:r>
                    </a:p>
                  </a:txBody>
                  <a:tcPr>
                    <a:solidFill>
                      <a:srgbClr val="D5F0E0"/>
                    </a:solidFill>
                  </a:tcPr>
                </a:tc>
                <a:tc>
                  <a:txBody>
                    <a:bodyPr/>
                    <a:lstStyle/>
                    <a:p>
                      <a:pPr algn="ctr"/>
                      <a:r>
                        <a:rPr sz="1200" b="0">
                          <a:solidFill>
                            <a:srgbClr val="1A1A1A"/>
                          </a:solidFill>
                          <a:latin typeface="Times New Roman"/>
                        </a:rPr>
                        <a:t>-136.63</a:t>
                      </a:r>
                    </a:p>
                  </a:txBody>
                  <a:tcPr>
                    <a:solidFill>
                      <a:srgbClr val="FFFFFF"/>
                    </a:solidFill>
                  </a:tcPr>
                </a:tc>
                <a:tc>
                  <a:txBody>
                    <a:bodyPr/>
                    <a:lstStyle/>
                    <a:p>
                      <a:pPr algn="ctr"/>
                      <a:r>
                        <a:rPr sz="1200" b="0">
                          <a:solidFill>
                            <a:srgbClr val="1A1A1A"/>
                          </a:solidFill>
                          <a:latin typeface="Times New Roman"/>
                        </a:rPr>
                        <a:t>-127.47</a:t>
                      </a:r>
                    </a:p>
                  </a:txBody>
                  <a:tcPr>
                    <a:solidFill>
                      <a:srgbClr val="FFFFFF"/>
                    </a:solidFill>
                  </a:tcPr>
                </a:tc>
                <a:tc>
                  <a:txBody>
                    <a:bodyPr/>
                    <a:lstStyle/>
                    <a:p>
                      <a:pPr algn="ctr"/>
                      <a:r>
                        <a:rPr sz="1200" b="0">
                          <a:solidFill>
                            <a:srgbClr val="1A1A1A"/>
                          </a:solidFill>
                          <a:latin typeface="Times New Roman"/>
                        </a:rPr>
                        <a:t>3</a:t>
                      </a:r>
                    </a:p>
                  </a:txBody>
                  <a:tcPr>
                    <a:solidFill>
                      <a:srgbClr val="FFFFFF"/>
                    </a:solidFill>
                  </a:tcPr>
                </a:tc>
                <a:tc>
                  <a:txBody>
                    <a:bodyPr/>
                    <a:lstStyle/>
                    <a:p>
                      <a:pPr algn="ctr"/>
                      <a:r>
                        <a:rPr sz="1200" b="0">
                          <a:solidFill>
                            <a:srgbClr val="1A1A1A"/>
                          </a:solidFill>
                          <a:latin typeface="Times New Roman"/>
                        </a:rPr>
                        <a:t>BIC thap nhat; P=0 toi uu</a:t>
                      </a:r>
                    </a:p>
                  </a:txBody>
                  <a:tcPr>
                    <a:solidFill>
                      <a:srgbClr val="FFFFFF"/>
                    </a:solidFill>
                  </a:tcPr>
                </a:tc>
              </a:tr>
              <a:tr h="350520">
                <a:tc>
                  <a:txBody>
                    <a:bodyPr/>
                    <a:lstStyle/>
                    <a:p>
                      <a:pPr algn="l"/>
                      <a:r>
                        <a:rPr sz="1200" b="0">
                          <a:solidFill>
                            <a:srgbClr val="1A1A1A"/>
                          </a:solidFill>
                          <a:latin typeface="Times New Roman"/>
                        </a:rPr>
                        <a:t>SARIMA(0,1,1)(1,1,1,7)</a:t>
                      </a:r>
                    </a:p>
                  </a:txBody>
                  <a:tcPr>
                    <a:solidFill>
                      <a:srgbClr val="F2F4F8"/>
                    </a:solidFill>
                  </a:tcPr>
                </a:tc>
                <a:tc>
                  <a:txBody>
                    <a:bodyPr/>
                    <a:lstStyle/>
                    <a:p>
                      <a:pPr algn="ctr"/>
                      <a:r>
                        <a:rPr sz="1200" b="0">
                          <a:solidFill>
                            <a:srgbClr val="1A1A1A"/>
                          </a:solidFill>
                          <a:latin typeface="Times New Roman"/>
                        </a:rPr>
                        <a:t>-130.33</a:t>
                      </a:r>
                    </a:p>
                  </a:txBody>
                  <a:tcPr>
                    <a:solidFill>
                      <a:srgbClr val="F2F4F8"/>
                    </a:solidFill>
                  </a:tcPr>
                </a:tc>
                <a:tc>
                  <a:txBody>
                    <a:bodyPr/>
                    <a:lstStyle/>
                    <a:p>
                      <a:pPr algn="ctr"/>
                      <a:r>
                        <a:rPr sz="1200" b="0">
                          <a:solidFill>
                            <a:srgbClr val="1A1A1A"/>
                          </a:solidFill>
                          <a:latin typeface="Times New Roman"/>
                        </a:rPr>
                        <a:t>-121.17</a:t>
                      </a:r>
                    </a:p>
                  </a:txBody>
                  <a:tcPr>
                    <a:solidFill>
                      <a:srgbClr val="F2F4F8"/>
                    </a:solidFill>
                  </a:tcPr>
                </a:tc>
                <a:tc>
                  <a:txBody>
                    <a:bodyPr/>
                    <a:lstStyle/>
                    <a:p>
                      <a:pPr algn="ctr"/>
                      <a:r>
                        <a:rPr sz="1200" b="0">
                          <a:solidFill>
                            <a:srgbClr val="1A1A1A"/>
                          </a:solidFill>
                          <a:latin typeface="Times New Roman"/>
                        </a:rPr>
                        <a:t>4</a:t>
                      </a:r>
                    </a:p>
                  </a:txBody>
                  <a:tcPr>
                    <a:solidFill>
                      <a:srgbClr val="F2F4F8"/>
                    </a:solidFill>
                  </a:tcPr>
                </a:tc>
                <a:tc>
                  <a:txBody>
                    <a:bodyPr/>
                    <a:lstStyle/>
                    <a:p>
                      <a:pPr algn="ctr"/>
                      <a:r>
                        <a:rPr sz="1200" b="0">
                          <a:solidFill>
                            <a:srgbClr val="1A1A1A"/>
                          </a:solidFill>
                          <a:latin typeface="Times New Roman"/>
                        </a:rPr>
                        <a:t>Khong co AR term</a:t>
                      </a:r>
                    </a:p>
                  </a:txBody>
                  <a:tcPr>
                    <a:solidFill>
                      <a:srgbClr val="F2F4F8"/>
                    </a:solidFill>
                  </a:tcPr>
                </a:tc>
              </a:tr>
              <a:tr h="350520">
                <a:tc>
                  <a:txBody>
                    <a:bodyPr/>
                    <a:lstStyle/>
                    <a:p>
                      <a:pPr algn="l"/>
                      <a:r>
                        <a:rPr sz="1200" b="0">
                          <a:solidFill>
                            <a:srgbClr val="1A1A1A"/>
                          </a:solidFill>
                          <a:latin typeface="Times New Roman"/>
                        </a:rPr>
                        <a:t>SARIMA(1,1,1)(1,1,1,7)</a:t>
                      </a:r>
                    </a:p>
                  </a:txBody>
                  <a:tcPr>
                    <a:solidFill>
                      <a:srgbClr val="FFFFFF"/>
                    </a:solidFill>
                  </a:tcPr>
                </a:tc>
                <a:tc>
                  <a:txBody>
                    <a:bodyPr/>
                    <a:lstStyle/>
                    <a:p>
                      <a:pPr algn="ctr"/>
                      <a:r>
                        <a:rPr sz="1200" b="0">
                          <a:solidFill>
                            <a:srgbClr val="1A1A1A"/>
                          </a:solidFill>
                          <a:latin typeface="Times New Roman"/>
                        </a:rPr>
                        <a:t>-129.90</a:t>
                      </a:r>
                    </a:p>
                  </a:txBody>
                  <a:tcPr>
                    <a:solidFill>
                      <a:srgbClr val="FFFFFF"/>
                    </a:solidFill>
                  </a:tcPr>
                </a:tc>
                <a:tc>
                  <a:txBody>
                    <a:bodyPr/>
                    <a:lstStyle/>
                    <a:p>
                      <a:pPr algn="ctr"/>
                      <a:r>
                        <a:rPr sz="1200" b="0">
                          <a:solidFill>
                            <a:srgbClr val="1A1A1A"/>
                          </a:solidFill>
                          <a:latin typeface="Times New Roman"/>
                        </a:rPr>
                        <a:t>-118.45</a:t>
                      </a:r>
                    </a:p>
                  </a:txBody>
                  <a:tcPr>
                    <a:solidFill>
                      <a:srgbClr val="FFFFFF"/>
                    </a:solidFill>
                  </a:tcPr>
                </a:tc>
                <a:tc>
                  <a:txBody>
                    <a:bodyPr/>
                    <a:lstStyle/>
                    <a:p>
                      <a:pPr algn="ctr"/>
                      <a:r>
                        <a:rPr sz="1200" b="0">
                          <a:solidFill>
                            <a:srgbClr val="1A1A1A"/>
                          </a:solidFill>
                          <a:latin typeface="Times New Roman"/>
                        </a:rPr>
                        <a:t>5</a:t>
                      </a:r>
                    </a:p>
                  </a:txBody>
                  <a:tcPr>
                    <a:solidFill>
                      <a:srgbClr val="FFFFFF"/>
                    </a:solidFill>
                  </a:tcPr>
                </a:tc>
                <a:tc>
                  <a:txBody>
                    <a:bodyPr/>
                    <a:lstStyle/>
                    <a:p>
                      <a:pPr algn="ctr"/>
                      <a:r>
                        <a:rPr sz="1200" b="0">
                          <a:solidFill>
                            <a:srgbClr val="1A1A1A"/>
                          </a:solidFill>
                          <a:latin typeface="Times New Roman"/>
                        </a:rPr>
                        <a:t>AIC tot, BIC bi penalty</a:t>
                      </a:r>
                    </a:p>
                  </a:txBody>
                  <a:tcPr>
                    <a:solidFill>
                      <a:srgbClr val="FFFFFF"/>
                    </a:solidFill>
                  </a:tcPr>
                </a:tc>
              </a:tr>
              <a:tr h="350520">
                <a:tc>
                  <a:txBody>
                    <a:bodyPr/>
                    <a:lstStyle/>
                    <a:p>
                      <a:pPr algn="l"/>
                      <a:r>
                        <a:rPr sz="1200" b="0">
                          <a:solidFill>
                            <a:srgbClr val="1A1A1A"/>
                          </a:solidFill>
                          <a:latin typeface="Times New Roman"/>
                        </a:rPr>
                        <a:t>SARIMA(2,1,1)(1,1,1,7)</a:t>
                      </a:r>
                    </a:p>
                  </a:txBody>
                  <a:tcPr>
                    <a:solidFill>
                      <a:srgbClr val="F2F4F8"/>
                    </a:solidFill>
                  </a:tcPr>
                </a:tc>
                <a:tc>
                  <a:txBody>
                    <a:bodyPr/>
                    <a:lstStyle/>
                    <a:p>
                      <a:pPr algn="ctr"/>
                      <a:r>
                        <a:rPr sz="1200" b="0">
                          <a:solidFill>
                            <a:srgbClr val="1A1A1A"/>
                          </a:solidFill>
                          <a:latin typeface="Times New Roman"/>
                        </a:rPr>
                        <a:t>-129.70</a:t>
                      </a:r>
                    </a:p>
                  </a:txBody>
                  <a:tcPr>
                    <a:solidFill>
                      <a:srgbClr val="F2F4F8"/>
                    </a:solidFill>
                  </a:tcPr>
                </a:tc>
                <a:tc>
                  <a:txBody>
                    <a:bodyPr/>
                    <a:lstStyle/>
                    <a:p>
                      <a:pPr algn="ctr"/>
                      <a:r>
                        <a:rPr sz="1200" b="0">
                          <a:solidFill>
                            <a:srgbClr val="1A1A1A"/>
                          </a:solidFill>
                          <a:latin typeface="Times New Roman"/>
                        </a:rPr>
                        <a:t>-115.95</a:t>
                      </a:r>
                    </a:p>
                  </a:txBody>
                  <a:tcPr>
                    <a:solidFill>
                      <a:srgbClr val="F2F4F8"/>
                    </a:solidFill>
                  </a:tcPr>
                </a:tc>
                <a:tc>
                  <a:txBody>
                    <a:bodyPr/>
                    <a:lstStyle/>
                    <a:p>
                      <a:pPr algn="ctr"/>
                      <a:r>
                        <a:rPr sz="1200" b="0">
                          <a:solidFill>
                            <a:srgbClr val="1A1A1A"/>
                          </a:solidFill>
                          <a:latin typeface="Times New Roman"/>
                        </a:rPr>
                        <a:t>6</a:t>
                      </a:r>
                    </a:p>
                  </a:txBody>
                  <a:tcPr>
                    <a:solidFill>
                      <a:srgbClr val="F2F4F8"/>
                    </a:solidFill>
                  </a:tcPr>
                </a:tc>
                <a:tc>
                  <a:txBody>
                    <a:bodyPr/>
                    <a:lstStyle/>
                    <a:p>
                      <a:pPr algn="ctr"/>
                      <a:r>
                        <a:rPr sz="1200" b="0">
                          <a:solidFill>
                            <a:srgbClr val="1A1A1A"/>
                          </a:solidFill>
                          <a:latin typeface="Times New Roman"/>
                        </a:rPr>
                        <a:t>Qua nhieu tham so</a:t>
                      </a:r>
                    </a:p>
                  </a:txBody>
                  <a:tcPr>
                    <a:solidFill>
                      <a:srgbClr val="F2F4F8"/>
                    </a:solidFill>
                  </a:tcPr>
                </a:tc>
              </a:tr>
              <a:tr h="350520">
                <a:tc>
                  <a:txBody>
                    <a:bodyPr/>
                    <a:lstStyle/>
                    <a:p>
                      <a:pPr algn="l"/>
                      <a:r>
                        <a:rPr sz="1200" b="0">
                          <a:solidFill>
                            <a:srgbClr val="1A1A1A"/>
                          </a:solidFill>
                          <a:latin typeface="Times New Roman"/>
                        </a:rPr>
                        <a:t>SARIMA(1,1,0)(1,1,1,7)</a:t>
                      </a:r>
                    </a:p>
                  </a:txBody>
                  <a:tcPr>
                    <a:solidFill>
                      <a:srgbClr val="FFFFFF"/>
                    </a:solidFill>
                  </a:tcPr>
                </a:tc>
                <a:tc>
                  <a:txBody>
                    <a:bodyPr/>
                    <a:lstStyle/>
                    <a:p>
                      <a:pPr algn="ctr"/>
                      <a:r>
                        <a:rPr sz="1200" b="0">
                          <a:solidFill>
                            <a:srgbClr val="1A1A1A"/>
                          </a:solidFill>
                          <a:latin typeface="Times New Roman"/>
                        </a:rPr>
                        <a:t>-116.68</a:t>
                      </a:r>
                    </a:p>
                  </a:txBody>
                  <a:tcPr>
                    <a:solidFill>
                      <a:srgbClr val="FFFFFF"/>
                    </a:solidFill>
                  </a:tcPr>
                </a:tc>
                <a:tc>
                  <a:txBody>
                    <a:bodyPr/>
                    <a:lstStyle/>
                    <a:p>
                      <a:pPr algn="ctr"/>
                      <a:r>
                        <a:rPr sz="1200" b="0">
                          <a:solidFill>
                            <a:srgbClr val="1A1A1A"/>
                          </a:solidFill>
                          <a:latin typeface="Times New Roman"/>
                        </a:rPr>
                        <a:t>-107.47</a:t>
                      </a:r>
                    </a:p>
                  </a:txBody>
                  <a:tcPr>
                    <a:solidFill>
                      <a:srgbClr val="FFFFFF"/>
                    </a:solidFill>
                  </a:tcPr>
                </a:tc>
                <a:tc>
                  <a:txBody>
                    <a:bodyPr/>
                    <a:lstStyle/>
                    <a:p>
                      <a:pPr algn="ctr"/>
                      <a:r>
                        <a:rPr sz="1200" b="0">
                          <a:solidFill>
                            <a:srgbClr val="1A1A1A"/>
                          </a:solidFill>
                          <a:latin typeface="Times New Roman"/>
                        </a:rPr>
                        <a:t>5</a:t>
                      </a:r>
                    </a:p>
                  </a:txBody>
                  <a:tcPr>
                    <a:solidFill>
                      <a:srgbClr val="FFFFFF"/>
                    </a:solidFill>
                  </a:tcPr>
                </a:tc>
                <a:tc>
                  <a:txBody>
                    <a:bodyPr/>
                    <a:lstStyle/>
                    <a:p>
                      <a:pPr algn="ctr"/>
                      <a:r>
                        <a:rPr sz="1200" b="0">
                          <a:solidFill>
                            <a:srgbClr val="1A1A1A"/>
                          </a:solidFill>
                          <a:latin typeface="Times New Roman"/>
                        </a:rPr>
                        <a:t>Yeu nhat</a:t>
                      </a:r>
                    </a:p>
                  </a:txBody>
                  <a:tcPr>
                    <a:solidFill>
                      <a:srgbClr val="FFFFFF"/>
                    </a:solidFill>
                  </a:tcPr>
                </a:tc>
              </a:tr>
            </a:tbl>
          </a:graphicData>
        </a:graphic>
      </p:graphicFrame>
      <p:sp>
        <p:nvSpPr>
          <p:cNvPr id="12" name="Rectangle 11"/>
          <p:cNvSpPr/>
          <p:nvPr/>
        </p:nvSpPr>
        <p:spPr>
          <a:xfrm>
            <a:off x="365760" y="3749039"/>
            <a:ext cx="5029200" cy="3200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3774439"/>
            <a:ext cx="4937760" cy="320040"/>
          </a:xfrm>
          <a:prstGeom prst="rect">
            <a:avLst/>
          </a:prstGeom>
          <a:noFill/>
        </p:spPr>
        <p:txBody>
          <a:bodyPr wrap="square">
            <a:spAutoFit/>
          </a:bodyPr>
          <a:lstStyle/>
          <a:p>
            <a:pPr algn="l"/>
            <a:r>
              <a:rPr sz="1200" b="1" i="0">
                <a:solidFill>
                  <a:srgbClr val="FFFFFF"/>
                </a:solidFill>
                <a:latin typeface="Times New Roman"/>
              </a:rPr>
              <a:t>Vi sao SARIMA(1,1,1)(0,1,1,7) thang?</a:t>
            </a:r>
          </a:p>
        </p:txBody>
      </p:sp>
      <p:sp>
        <p:nvSpPr>
          <p:cNvPr id="14" name="TextBox 13"/>
          <p:cNvSpPr txBox="1"/>
          <p:nvPr/>
        </p:nvSpPr>
        <p:spPr>
          <a:xfrm>
            <a:off x="365760" y="4160520"/>
            <a:ext cx="11430000" cy="2011680"/>
          </a:xfrm>
          <a:prstGeom prst="rect">
            <a:avLst/>
          </a:prstGeom>
          <a:noFill/>
        </p:spPr>
        <p:txBody>
          <a:bodyPr wrap="square">
            <a:spAutoFit/>
          </a:bodyPr>
          <a:lstStyle/>
          <a:p>
            <a:pPr>
              <a:spcAft>
                <a:spcPts val="800"/>
              </a:spcAft>
            </a:pPr>
            <a:r>
              <a:rPr sz="1300">
                <a:solidFill>
                  <a:srgbClr val="1A1A1A"/>
                </a:solidFill>
                <a:latin typeface="Times New Roman"/>
              </a:rPr>
              <a:t>P=0: PACF khong spike tai lag 7 sau seasonal-diff</a:t>
            </a:r>
          </a:p>
          <a:p>
            <a:pPr>
              <a:spcAft>
                <a:spcPts val="800"/>
              </a:spcAft>
            </a:pPr>
            <a:r>
              <a:rPr sz="1300">
                <a:solidFill>
                  <a:srgbClr val="1A1A1A"/>
                </a:solidFill>
                <a:latin typeface="Times New Roman"/>
              </a:rPr>
              <a:t>BIC phat manh so tham so thua -&gt; mo hinh don gian hon duoc uu tien</a:t>
            </a:r>
          </a:p>
          <a:p>
            <a:pPr>
              <a:spcAft>
                <a:spcPts val="800"/>
              </a:spcAft>
            </a:pPr>
            <a:r>
              <a:rPr sz="1300">
                <a:solidFill>
                  <a:srgbClr val="1A1A1A"/>
                </a:solidFill>
                <a:latin typeface="Times New Roman"/>
              </a:rPr>
              <a:t>Nhat quan voi ket qua ACF/PACF o Phan 9</a:t>
            </a:r>
          </a:p>
          <a:p>
            <a:pPr>
              <a:spcAft>
                <a:spcPts val="800"/>
              </a:spcAft>
            </a:pPr>
            <a:r>
              <a:rPr sz="1300">
                <a:solidFill>
                  <a:srgbClr val="1A1A1A"/>
                </a:solidFill>
                <a:latin typeface="Times New Roman"/>
              </a:rPr>
              <a:t>Tat ca he so (ar.L1, ma.L1, ma.S.L7) deu significant (p&lt;0.05)</a:t>
            </a:r>
          </a:p>
        </p:txBody>
      </p:sp>
      <p:sp>
        <p:nvSpPr>
          <p:cNvPr id="15" name="Rectangle 14"/>
          <p:cNvSpPr/>
          <p:nvPr/>
        </p:nvSpPr>
        <p:spPr>
          <a:xfrm>
            <a:off x="365760" y="6291072"/>
            <a:ext cx="11430000" cy="1645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281928"/>
            <a:ext cx="11155680" cy="201168"/>
          </a:xfrm>
          <a:prstGeom prst="rect">
            <a:avLst/>
          </a:prstGeom>
          <a:noFill/>
        </p:spPr>
        <p:txBody>
          <a:bodyPr wrap="square">
            <a:spAutoFit/>
          </a:bodyPr>
          <a:lstStyle/>
          <a:p>
            <a:pPr algn="l"/>
            <a:r>
              <a:rPr sz="1200" b="1" i="0">
                <a:solidFill>
                  <a:srgbClr val="FFFFFF"/>
                </a:solidFill>
                <a:latin typeface="Times New Roman"/>
              </a:rPr>
              <a:t>-&gt; Mo hinh chon: SARIMA(1,1,1)(0,1,1)[7]  |  AIC=-136.6  |  BIC=-127.5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Chan Doan Phan Du — Residual Diagnostics</a:t>
            </a:r>
          </a:p>
        </p:txBody>
      </p:sp>
      <p:sp>
        <p:nvSpPr>
          <p:cNvPr id="5" name="Rectangle 4"/>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7" name="TextBox 6"/>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11 / 14</a:t>
            </a:r>
          </a:p>
        </p:txBody>
      </p:sp>
      <p:pic>
        <p:nvPicPr>
          <p:cNvPr id="8" name="Picture 7" descr="image.png"/>
          <p:cNvPicPr>
            <a:picLocks noChangeAspect="1"/>
          </p:cNvPicPr>
          <p:nvPr/>
        </p:nvPicPr>
        <p:blipFill>
          <a:blip r:embed="rId2"/>
          <a:stretch>
            <a:fillRect/>
          </a:stretch>
        </p:blipFill>
        <p:spPr>
          <a:xfrm>
            <a:off x="274320" y="1143000"/>
            <a:ext cx="7132320" cy="5029200"/>
          </a:xfrm>
          <a:prstGeom prst="rect">
            <a:avLst/>
          </a:prstGeom>
        </p:spPr>
      </p:pic>
      <p:sp>
        <p:nvSpPr>
          <p:cNvPr id="9" name="Rectangle 8"/>
          <p:cNvSpPr/>
          <p:nvPr/>
        </p:nvSpPr>
        <p:spPr>
          <a:xfrm>
            <a:off x="7589520" y="1143000"/>
            <a:ext cx="4297680"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2672" y="1168400"/>
            <a:ext cx="4206240" cy="320040"/>
          </a:xfrm>
          <a:prstGeom prst="rect">
            <a:avLst/>
          </a:prstGeom>
          <a:noFill/>
        </p:spPr>
        <p:txBody>
          <a:bodyPr wrap="square">
            <a:spAutoFit/>
          </a:bodyPr>
          <a:lstStyle/>
          <a:p>
            <a:pPr algn="l"/>
            <a:r>
              <a:rPr sz="1200" b="1" i="0">
                <a:solidFill>
                  <a:srgbClr val="FFFFFF"/>
                </a:solidFill>
                <a:latin typeface="Times New Roman"/>
              </a:rPr>
              <a:t>Kiem dinh thong ke</a:t>
            </a:r>
          </a:p>
        </p:txBody>
      </p:sp>
      <p:graphicFrame>
        <p:nvGraphicFramePr>
          <p:cNvPr id="11" name="Table 10"/>
          <p:cNvGraphicFramePr>
            <a:graphicFrameLocks noGrp="1"/>
          </p:cNvGraphicFramePr>
          <p:nvPr/>
        </p:nvGraphicFramePr>
        <p:xfrm>
          <a:off x="7589520" y="1508760"/>
          <a:ext cx="4297680" cy="2103120"/>
        </p:xfrm>
        <a:graphic>
          <a:graphicData uri="http://schemas.openxmlformats.org/drawingml/2006/table">
            <a:tbl>
              <a:tblPr firstRow="1" bandRow="1">
                <a:tableStyleId>{5C22544A-7EE6-4342-B048-85BDC9FD1C3A}</a:tableStyleId>
              </a:tblPr>
              <a:tblGrid>
                <a:gridCol w="1737360"/>
                <a:gridCol w="1188720"/>
                <a:gridCol w="1371600"/>
              </a:tblGrid>
              <a:tr h="350520">
                <a:tc>
                  <a:txBody>
                    <a:bodyPr/>
                    <a:lstStyle/>
                    <a:p>
                      <a:pPr algn="ctr"/>
                      <a:r>
                        <a:rPr sz="1200" b="1">
                          <a:solidFill>
                            <a:srgbClr val="FFFFFF"/>
                          </a:solidFill>
                          <a:latin typeface="Times New Roman"/>
                        </a:rPr>
                        <a:t>Kiem dinh</a:t>
                      </a:r>
                    </a:p>
                  </a:txBody>
                  <a:tcPr>
                    <a:solidFill>
                      <a:srgbClr val="1F4E79"/>
                    </a:solidFill>
                  </a:tcPr>
                </a:tc>
                <a:tc>
                  <a:txBody>
                    <a:bodyPr/>
                    <a:lstStyle/>
                    <a:p>
                      <a:pPr algn="ctr"/>
                      <a:r>
                        <a:rPr sz="1200" b="1">
                          <a:solidFill>
                            <a:srgbClr val="FFFFFF"/>
                          </a:solidFill>
                          <a:latin typeface="Times New Roman"/>
                        </a:rPr>
                        <a:t>p / Gia tri</a:t>
                      </a:r>
                    </a:p>
                  </a:txBody>
                  <a:tcPr>
                    <a:solidFill>
                      <a:srgbClr val="1F4E79"/>
                    </a:solidFill>
                  </a:tcPr>
                </a:tc>
                <a:tc>
                  <a:txBody>
                    <a:bodyPr/>
                    <a:lstStyle/>
                    <a:p>
                      <a:pPr algn="ctr"/>
                      <a:r>
                        <a:rPr sz="1200" b="1">
                          <a:solidFill>
                            <a:srgbClr val="FFFFFF"/>
                          </a:solidFill>
                          <a:latin typeface="Times New Roman"/>
                        </a:rPr>
                        <a:t>Ket luan</a:t>
                      </a:r>
                    </a:p>
                  </a:txBody>
                  <a:tcPr>
                    <a:solidFill>
                      <a:srgbClr val="1F4E79"/>
                    </a:solidFill>
                  </a:tcPr>
                </a:tc>
              </a:tr>
              <a:tr h="350520">
                <a:tc>
                  <a:txBody>
                    <a:bodyPr/>
                    <a:lstStyle/>
                    <a:p>
                      <a:pPr algn="l"/>
                      <a:r>
                        <a:rPr sz="1100" b="0">
                          <a:solidFill>
                            <a:srgbClr val="1A1A1A"/>
                          </a:solidFill>
                          <a:latin typeface="Times New Roman"/>
                        </a:rPr>
                        <a:t>Ljung-Box lag 7</a:t>
                      </a:r>
                    </a:p>
                  </a:txBody>
                  <a:tcPr>
                    <a:solidFill>
                      <a:srgbClr val="FFFFFF"/>
                    </a:solidFill>
                  </a:tcPr>
                </a:tc>
                <a:tc>
                  <a:txBody>
                    <a:bodyPr/>
                    <a:lstStyle/>
                    <a:p>
                      <a:pPr algn="ctr"/>
                      <a:r>
                        <a:rPr sz="1100" b="0">
                          <a:solidFill>
                            <a:srgbClr val="1A1A1A"/>
                          </a:solidFill>
                          <a:latin typeface="Times New Roman"/>
                        </a:rPr>
                        <a:t>p &gt; 0.05</a:t>
                      </a:r>
                    </a:p>
                  </a:txBody>
                  <a:tcPr>
                    <a:solidFill>
                      <a:srgbClr val="FFFFFF"/>
                    </a:solidFill>
                  </a:tcPr>
                </a:tc>
                <a:tc>
                  <a:txBody>
                    <a:bodyPr/>
                    <a:lstStyle/>
                    <a:p>
                      <a:pPr algn="ctr"/>
                      <a:r>
                        <a:rPr sz="1100" b="0">
                          <a:solidFill>
                            <a:srgbClr val="1A7A4A"/>
                          </a:solidFill>
                          <a:latin typeface="Times New Roman"/>
                        </a:rPr>
                        <a:t>White noise</a:t>
                      </a:r>
                    </a:p>
                  </a:txBody>
                  <a:tcPr>
                    <a:solidFill>
                      <a:srgbClr val="D5F0E0"/>
                    </a:solidFill>
                  </a:tcPr>
                </a:tc>
              </a:tr>
              <a:tr h="350520">
                <a:tc>
                  <a:txBody>
                    <a:bodyPr/>
                    <a:lstStyle/>
                    <a:p>
                      <a:pPr algn="l"/>
                      <a:r>
                        <a:rPr sz="1100" b="0">
                          <a:solidFill>
                            <a:srgbClr val="1A1A1A"/>
                          </a:solidFill>
                          <a:latin typeface="Times New Roman"/>
                        </a:rPr>
                        <a:t>Ljung-Box lag 14</a:t>
                      </a:r>
                    </a:p>
                  </a:txBody>
                  <a:tcPr>
                    <a:solidFill>
                      <a:srgbClr val="F2F4F8"/>
                    </a:solidFill>
                  </a:tcPr>
                </a:tc>
                <a:tc>
                  <a:txBody>
                    <a:bodyPr/>
                    <a:lstStyle/>
                    <a:p>
                      <a:pPr algn="ctr"/>
                      <a:r>
                        <a:rPr sz="1100" b="0">
                          <a:solidFill>
                            <a:srgbClr val="1A1A1A"/>
                          </a:solidFill>
                          <a:latin typeface="Times New Roman"/>
                        </a:rPr>
                        <a:t>p &gt; 0.05</a:t>
                      </a:r>
                    </a:p>
                  </a:txBody>
                  <a:tcPr>
                    <a:solidFill>
                      <a:srgbClr val="F2F4F8"/>
                    </a:solidFill>
                  </a:tcPr>
                </a:tc>
                <a:tc>
                  <a:txBody>
                    <a:bodyPr/>
                    <a:lstStyle/>
                    <a:p>
                      <a:pPr algn="ctr"/>
                      <a:r>
                        <a:rPr sz="1100" b="0">
                          <a:solidFill>
                            <a:srgbClr val="1A7A4A"/>
                          </a:solidFill>
                          <a:latin typeface="Times New Roman"/>
                        </a:rPr>
                        <a:t>White noise</a:t>
                      </a:r>
                    </a:p>
                  </a:txBody>
                  <a:tcPr>
                    <a:solidFill>
                      <a:srgbClr val="D5F0E0"/>
                    </a:solidFill>
                  </a:tcPr>
                </a:tc>
              </a:tr>
              <a:tr h="350520">
                <a:tc>
                  <a:txBody>
                    <a:bodyPr/>
                    <a:lstStyle/>
                    <a:p>
                      <a:pPr algn="l"/>
                      <a:r>
                        <a:rPr sz="1100" b="0">
                          <a:solidFill>
                            <a:srgbClr val="1A1A1A"/>
                          </a:solidFill>
                          <a:latin typeface="Times New Roman"/>
                        </a:rPr>
                        <a:t>Ljung-Box lag 21</a:t>
                      </a:r>
                    </a:p>
                  </a:txBody>
                  <a:tcPr>
                    <a:solidFill>
                      <a:srgbClr val="FFFFFF"/>
                    </a:solidFill>
                  </a:tcPr>
                </a:tc>
                <a:tc>
                  <a:txBody>
                    <a:bodyPr/>
                    <a:lstStyle/>
                    <a:p>
                      <a:pPr algn="ctr"/>
                      <a:r>
                        <a:rPr sz="1100" b="0">
                          <a:solidFill>
                            <a:srgbClr val="1A1A1A"/>
                          </a:solidFill>
                          <a:latin typeface="Times New Roman"/>
                        </a:rPr>
                        <a:t>p &gt; 0.05</a:t>
                      </a:r>
                    </a:p>
                  </a:txBody>
                  <a:tcPr>
                    <a:solidFill>
                      <a:srgbClr val="FFFFFF"/>
                    </a:solidFill>
                  </a:tcPr>
                </a:tc>
                <a:tc>
                  <a:txBody>
                    <a:bodyPr/>
                    <a:lstStyle/>
                    <a:p>
                      <a:pPr algn="ctr"/>
                      <a:r>
                        <a:rPr sz="1100" b="0">
                          <a:solidFill>
                            <a:srgbClr val="1A7A4A"/>
                          </a:solidFill>
                          <a:latin typeface="Times New Roman"/>
                        </a:rPr>
                        <a:t>White noise</a:t>
                      </a:r>
                    </a:p>
                  </a:txBody>
                  <a:tcPr>
                    <a:solidFill>
                      <a:srgbClr val="D5F0E0"/>
                    </a:solidFill>
                  </a:tcPr>
                </a:tc>
              </a:tr>
              <a:tr h="350520">
                <a:tc>
                  <a:txBody>
                    <a:bodyPr/>
                    <a:lstStyle/>
                    <a:p>
                      <a:pPr algn="l"/>
                      <a:r>
                        <a:rPr sz="1100" b="0">
                          <a:solidFill>
                            <a:srgbClr val="1A1A1A"/>
                          </a:solidFill>
                          <a:latin typeface="Times New Roman"/>
                        </a:rPr>
                        <a:t>Jarque-Bera</a:t>
                      </a:r>
                    </a:p>
                  </a:txBody>
                  <a:tcPr>
                    <a:solidFill>
                      <a:srgbClr val="F2F4F8"/>
                    </a:solidFill>
                  </a:tcPr>
                </a:tc>
                <a:tc>
                  <a:txBody>
                    <a:bodyPr/>
                    <a:lstStyle/>
                    <a:p>
                      <a:pPr algn="ctr"/>
                      <a:r>
                        <a:rPr sz="1100" b="0">
                          <a:solidFill>
                            <a:srgbClr val="1A1A1A"/>
                          </a:solidFill>
                          <a:latin typeface="Times New Roman"/>
                        </a:rPr>
                        <a:t>p ~ 0.06</a:t>
                      </a:r>
                    </a:p>
                  </a:txBody>
                  <a:tcPr>
                    <a:solidFill>
                      <a:srgbClr val="F2F4F8"/>
                    </a:solidFill>
                  </a:tcPr>
                </a:tc>
                <a:tc>
                  <a:txBody>
                    <a:bodyPr/>
                    <a:lstStyle/>
                    <a:p>
                      <a:pPr algn="ctr"/>
                      <a:r>
                        <a:rPr sz="1100" b="0">
                          <a:solidFill>
                            <a:srgbClr val="555555"/>
                          </a:solidFill>
                          <a:latin typeface="Times New Roman"/>
                        </a:rPr>
                        <a:t>Marginal normal</a:t>
                      </a:r>
                    </a:p>
                  </a:txBody>
                  <a:tcPr>
                    <a:solidFill>
                      <a:srgbClr val="F2F4F8"/>
                    </a:solidFill>
                  </a:tcPr>
                </a:tc>
              </a:tr>
              <a:tr h="350520">
                <a:tc>
                  <a:txBody>
                    <a:bodyPr/>
                    <a:lstStyle/>
                    <a:p>
                      <a:pPr algn="l"/>
                      <a:r>
                        <a:rPr sz="1100" b="0">
                          <a:solidFill>
                            <a:srgbClr val="1A1A1A"/>
                          </a:solidFill>
                          <a:latin typeface="Times New Roman"/>
                        </a:rPr>
                        <a:t>Residual Mean</a:t>
                      </a:r>
                    </a:p>
                  </a:txBody>
                  <a:tcPr>
                    <a:solidFill>
                      <a:srgbClr val="FFFFFF"/>
                    </a:solidFill>
                  </a:tcPr>
                </a:tc>
                <a:tc>
                  <a:txBody>
                    <a:bodyPr/>
                    <a:lstStyle/>
                    <a:p>
                      <a:pPr algn="ctr"/>
                      <a:r>
                        <a:rPr sz="1100" b="0">
                          <a:solidFill>
                            <a:srgbClr val="1A1A1A"/>
                          </a:solidFill>
                          <a:latin typeface="Times New Roman"/>
                        </a:rPr>
                        <a:t>~ 0.000</a:t>
                      </a:r>
                    </a:p>
                  </a:txBody>
                  <a:tcPr>
                    <a:solidFill>
                      <a:srgbClr val="FFFFFF"/>
                    </a:solidFill>
                  </a:tcPr>
                </a:tc>
                <a:tc>
                  <a:txBody>
                    <a:bodyPr/>
                    <a:lstStyle/>
                    <a:p>
                      <a:pPr algn="ctr"/>
                      <a:r>
                        <a:rPr sz="1100" b="0">
                          <a:solidFill>
                            <a:srgbClr val="1A7A4A"/>
                          </a:solidFill>
                          <a:latin typeface="Times New Roman"/>
                        </a:rPr>
                        <a:t>No bias</a:t>
                      </a:r>
                    </a:p>
                  </a:txBody>
                  <a:tcPr>
                    <a:solidFill>
                      <a:srgbClr val="D5F0E0"/>
                    </a:solidFill>
                  </a:tcPr>
                </a:tc>
              </a:tr>
            </a:tbl>
          </a:graphicData>
        </a:graphic>
      </p:graphicFrame>
      <p:sp>
        <p:nvSpPr>
          <p:cNvPr id="12" name="Rectangle 11"/>
          <p:cNvSpPr/>
          <p:nvPr/>
        </p:nvSpPr>
        <p:spPr>
          <a:xfrm>
            <a:off x="7589520" y="3703320"/>
            <a:ext cx="4297680" cy="24688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3703320"/>
            <a:ext cx="4297680" cy="3200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62672" y="3728720"/>
            <a:ext cx="4206240" cy="320040"/>
          </a:xfrm>
          <a:prstGeom prst="rect">
            <a:avLst/>
          </a:prstGeom>
          <a:noFill/>
        </p:spPr>
        <p:txBody>
          <a:bodyPr wrap="square">
            <a:spAutoFit/>
          </a:bodyPr>
          <a:lstStyle/>
          <a:p>
            <a:pPr algn="l"/>
            <a:r>
              <a:rPr sz="1200" b="1" i="0">
                <a:solidFill>
                  <a:srgbClr val="FFFFFF"/>
                </a:solidFill>
                <a:latin typeface="Times New Roman"/>
              </a:rPr>
              <a:t>Dien giai</a:t>
            </a:r>
          </a:p>
        </p:txBody>
      </p:sp>
      <p:sp>
        <p:nvSpPr>
          <p:cNvPr id="15" name="TextBox 14"/>
          <p:cNvSpPr txBox="1"/>
          <p:nvPr/>
        </p:nvSpPr>
        <p:spPr>
          <a:xfrm>
            <a:off x="7635240" y="4069080"/>
            <a:ext cx="4206240" cy="2057400"/>
          </a:xfrm>
          <a:prstGeom prst="rect">
            <a:avLst/>
          </a:prstGeom>
          <a:noFill/>
        </p:spPr>
        <p:txBody>
          <a:bodyPr wrap="square">
            <a:spAutoFit/>
          </a:bodyPr>
          <a:lstStyle/>
          <a:p>
            <a:pPr>
              <a:spcAft>
                <a:spcPts val="800"/>
              </a:spcAft>
            </a:pPr>
            <a:r>
              <a:rPr sz="1200">
                <a:solidFill>
                  <a:srgbClr val="1A1A1A"/>
                </a:solidFill>
                <a:latin typeface="Times New Roman"/>
              </a:rPr>
              <a:t>LB tat ca lags: white noise -&gt; model OK</a:t>
            </a:r>
          </a:p>
          <a:p>
            <a:pPr>
              <a:spcAft>
                <a:spcPts val="800"/>
              </a:spcAft>
            </a:pPr>
            <a:r>
              <a:rPr sz="1200">
                <a:solidFill>
                  <a:srgbClr val="1A1A1A"/>
                </a:solidFill>
                <a:latin typeface="Times New Roman"/>
              </a:rPr>
              <a:t>JB marginal: duoi day nhe tu promo spikes -&gt; them activity dummy vao SARIMAX</a:t>
            </a:r>
          </a:p>
          <a:p>
            <a:pPr>
              <a:spcAft>
                <a:spcPts val="800"/>
              </a:spcAft>
            </a:pPr>
            <a:r>
              <a:rPr sz="1200">
                <a:solidFill>
                  <a:srgbClr val="1A1A1A"/>
                </a:solidFill>
                <a:latin typeface="Times New Roman"/>
              </a:rPr>
              <a:t>Q-Q plot: bam duong 45 tot o giua, lech nhe o duoi</a:t>
            </a:r>
          </a:p>
          <a:p>
            <a:pPr>
              <a:spcAft>
                <a:spcPts val="800"/>
              </a:spcAft>
            </a:pPr>
            <a:r>
              <a:rPr sz="1200">
                <a:solidFill>
                  <a:srgbClr val="1A1A1A"/>
                </a:solidFill>
                <a:latin typeface="Times New Roman"/>
              </a:rPr>
              <a:t>Khong co pattern he thong trong residuals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Ket Qua Du Bao — 14 Ngay Out-of-Sample</a:t>
            </a:r>
          </a:p>
        </p:txBody>
      </p:sp>
      <p:sp>
        <p:nvSpPr>
          <p:cNvPr id="6" name="Rectangle 5"/>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8" name="TextBox 7"/>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12 / 14</a:t>
            </a:r>
          </a:p>
        </p:txBody>
      </p:sp>
      <p:pic>
        <p:nvPicPr>
          <p:cNvPr id="9" name="Picture 8" descr="image.png"/>
          <p:cNvPicPr>
            <a:picLocks noChangeAspect="1"/>
          </p:cNvPicPr>
          <p:nvPr/>
        </p:nvPicPr>
        <p:blipFill>
          <a:blip r:embed="rId2"/>
          <a:stretch>
            <a:fillRect/>
          </a:stretch>
        </p:blipFill>
        <p:spPr>
          <a:xfrm>
            <a:off x="274320" y="1143000"/>
            <a:ext cx="7498079" cy="2606040"/>
          </a:xfrm>
          <a:prstGeom prst="rect">
            <a:avLst/>
          </a:prstGeom>
        </p:spPr>
      </p:pic>
      <p:pic>
        <p:nvPicPr>
          <p:cNvPr id="10" name="Picture 9" descr="image.png"/>
          <p:cNvPicPr>
            <a:picLocks noChangeAspect="1"/>
          </p:cNvPicPr>
          <p:nvPr/>
        </p:nvPicPr>
        <p:blipFill>
          <a:blip r:embed="rId3"/>
          <a:stretch>
            <a:fillRect/>
          </a:stretch>
        </p:blipFill>
        <p:spPr>
          <a:xfrm>
            <a:off x="274320" y="3822191"/>
            <a:ext cx="7498079" cy="2377440"/>
          </a:xfrm>
          <a:prstGeom prst="rect">
            <a:avLst/>
          </a:prstGeom>
        </p:spPr>
      </p:pic>
      <p:sp>
        <p:nvSpPr>
          <p:cNvPr id="11" name="Rectangle 10"/>
          <p:cNvSpPr/>
          <p:nvPr/>
        </p:nvSpPr>
        <p:spPr>
          <a:xfrm>
            <a:off x="7909560" y="1143000"/>
            <a:ext cx="3977639"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82712" y="1168400"/>
            <a:ext cx="3886199" cy="320040"/>
          </a:xfrm>
          <a:prstGeom prst="rect">
            <a:avLst/>
          </a:prstGeom>
          <a:noFill/>
        </p:spPr>
        <p:txBody>
          <a:bodyPr wrap="square">
            <a:spAutoFit/>
          </a:bodyPr>
          <a:lstStyle/>
          <a:p>
            <a:pPr algn="l"/>
            <a:r>
              <a:rPr sz="1200" b="1" i="0">
                <a:solidFill>
                  <a:srgbClr val="FFFFFF"/>
                </a:solidFill>
                <a:latin typeface="Times New Roman"/>
              </a:rPr>
              <a:t>Do chinh xac</a:t>
            </a:r>
          </a:p>
        </p:txBody>
      </p:sp>
      <p:graphicFrame>
        <p:nvGraphicFramePr>
          <p:cNvPr id="13" name="Table 12"/>
          <p:cNvGraphicFramePr>
            <a:graphicFrameLocks noGrp="1"/>
          </p:cNvGraphicFramePr>
          <p:nvPr/>
        </p:nvGraphicFramePr>
        <p:xfrm>
          <a:off x="7909560" y="1508760"/>
          <a:ext cx="3977640" cy="1691640"/>
        </p:xfrm>
        <a:graphic>
          <a:graphicData uri="http://schemas.openxmlformats.org/drawingml/2006/table">
            <a:tbl>
              <a:tblPr firstRow="1" bandRow="1">
                <a:tableStyleId>{5C22544A-7EE6-4342-B048-85BDC9FD1C3A}</a:tableStyleId>
              </a:tblPr>
              <a:tblGrid>
                <a:gridCol w="1371600"/>
                <a:gridCol w="1298448"/>
                <a:gridCol w="1307592"/>
              </a:tblGrid>
              <a:tr h="422910">
                <a:tc>
                  <a:txBody>
                    <a:bodyPr/>
                    <a:lstStyle/>
                    <a:p>
                      <a:pPr algn="ctr"/>
                      <a:r>
                        <a:rPr sz="1300" b="1">
                          <a:solidFill>
                            <a:srgbClr val="FFFFFF"/>
                          </a:solidFill>
                          <a:latin typeface="Times New Roman"/>
                        </a:rPr>
                        <a:t>Metric</a:t>
                      </a:r>
                    </a:p>
                  </a:txBody>
                  <a:tcPr>
                    <a:solidFill>
                      <a:srgbClr val="1F4E79"/>
                    </a:solidFill>
                  </a:tcPr>
                </a:tc>
                <a:tc>
                  <a:txBody>
                    <a:bodyPr/>
                    <a:lstStyle/>
                    <a:p>
                      <a:pPr algn="ctr"/>
                      <a:r>
                        <a:rPr sz="1300" b="1">
                          <a:solidFill>
                            <a:srgbClr val="FFFFFF"/>
                          </a:solidFill>
                          <a:latin typeface="Times New Roman"/>
                        </a:rPr>
                        <a:t>SARIMA</a:t>
                      </a:r>
                    </a:p>
                  </a:txBody>
                  <a:tcPr>
                    <a:solidFill>
                      <a:srgbClr val="1F4E79"/>
                    </a:solidFill>
                  </a:tcPr>
                </a:tc>
                <a:tc>
                  <a:txBody>
                    <a:bodyPr/>
                    <a:lstStyle/>
                    <a:p>
                      <a:pPr algn="ctr"/>
                      <a:r>
                        <a:rPr sz="1300" b="1">
                          <a:solidFill>
                            <a:srgbClr val="FFFFFF"/>
                          </a:solidFill>
                          <a:latin typeface="Times New Roman"/>
                        </a:rPr>
                        <a:t>SARIMAX</a:t>
                      </a:r>
                    </a:p>
                  </a:txBody>
                  <a:tcPr>
                    <a:solidFill>
                      <a:srgbClr val="1F4E79"/>
                    </a:solidFill>
                  </a:tcPr>
                </a:tc>
              </a:tr>
              <a:tr h="422910">
                <a:tc>
                  <a:txBody>
                    <a:bodyPr/>
                    <a:lstStyle/>
                    <a:p>
                      <a:pPr algn="l"/>
                      <a:r>
                        <a:rPr sz="1200" b="0">
                          <a:solidFill>
                            <a:srgbClr val="1A1A1A"/>
                          </a:solidFill>
                          <a:latin typeface="Times New Roman"/>
                        </a:rPr>
                        <a:t>MAPE</a:t>
                      </a:r>
                    </a:p>
                  </a:txBody>
                  <a:tcPr>
                    <a:solidFill>
                      <a:srgbClr val="FFFFFF"/>
                    </a:solidFill>
                  </a:tcPr>
                </a:tc>
                <a:tc>
                  <a:txBody>
                    <a:bodyPr/>
                    <a:lstStyle/>
                    <a:p>
                      <a:pPr algn="ctr"/>
                      <a:r>
                        <a:rPr sz="1200" b="0">
                          <a:solidFill>
                            <a:srgbClr val="1A1A1A"/>
                          </a:solidFill>
                          <a:latin typeface="Times New Roman"/>
                        </a:rPr>
                        <a:t>6.80%</a:t>
                      </a:r>
                    </a:p>
                  </a:txBody>
                  <a:tcPr>
                    <a:solidFill>
                      <a:srgbClr val="F2F4F8"/>
                    </a:solidFill>
                  </a:tcPr>
                </a:tc>
                <a:tc>
                  <a:txBody>
                    <a:bodyPr/>
                    <a:lstStyle/>
                    <a:p>
                      <a:pPr algn="ctr"/>
                      <a:r>
                        <a:rPr sz="1200" b="0">
                          <a:solidFill>
                            <a:srgbClr val="1A7A4A"/>
                          </a:solidFill>
                          <a:latin typeface="Times New Roman"/>
                        </a:rPr>
                        <a:t>6.25%</a:t>
                      </a:r>
                    </a:p>
                  </a:txBody>
                  <a:tcPr>
                    <a:solidFill>
                      <a:srgbClr val="D5F0E0"/>
                    </a:solidFill>
                  </a:tcPr>
                </a:tc>
              </a:tr>
              <a:tr h="422910">
                <a:tc>
                  <a:txBody>
                    <a:bodyPr/>
                    <a:lstStyle/>
                    <a:p>
                      <a:pPr algn="l"/>
                      <a:r>
                        <a:rPr sz="1200" b="0">
                          <a:solidFill>
                            <a:srgbClr val="1A1A1A"/>
                          </a:solidFill>
                          <a:latin typeface="Times New Roman"/>
                        </a:rPr>
                        <a:t>RMSE</a:t>
                      </a:r>
                    </a:p>
                  </a:txBody>
                  <a:tcPr>
                    <a:solidFill>
                      <a:srgbClr val="F2F4F8"/>
                    </a:solidFill>
                  </a:tcPr>
                </a:tc>
                <a:tc>
                  <a:txBody>
                    <a:bodyPr/>
                    <a:lstStyle/>
                    <a:p>
                      <a:pPr algn="ctr"/>
                      <a:r>
                        <a:rPr sz="1200" b="0">
                          <a:solidFill>
                            <a:srgbClr val="1A1A1A"/>
                          </a:solidFill>
                          <a:latin typeface="Times New Roman"/>
                        </a:rPr>
                        <a:t>4,652</a:t>
                      </a:r>
                    </a:p>
                  </a:txBody>
                  <a:tcPr>
                    <a:solidFill>
                      <a:srgbClr val="F2F4F8"/>
                    </a:solidFill>
                  </a:tcPr>
                </a:tc>
                <a:tc>
                  <a:txBody>
                    <a:bodyPr/>
                    <a:lstStyle/>
                    <a:p>
                      <a:pPr algn="ctr"/>
                      <a:r>
                        <a:rPr sz="1200" b="0">
                          <a:solidFill>
                            <a:srgbClr val="1A1A1A"/>
                          </a:solidFill>
                          <a:latin typeface="Times New Roman"/>
                        </a:rPr>
                        <a:t>4,903</a:t>
                      </a:r>
                    </a:p>
                  </a:txBody>
                  <a:tcPr>
                    <a:solidFill>
                      <a:srgbClr val="F2F4F8"/>
                    </a:solidFill>
                  </a:tcPr>
                </a:tc>
              </a:tr>
              <a:tr h="422910">
                <a:tc>
                  <a:txBody>
                    <a:bodyPr/>
                    <a:lstStyle/>
                    <a:p>
                      <a:pPr algn="l"/>
                      <a:r>
                        <a:rPr sz="1200" b="0">
                          <a:solidFill>
                            <a:srgbClr val="1A1A1A"/>
                          </a:solidFill>
                          <a:latin typeface="Times New Roman"/>
                        </a:rPr>
                        <a:t>AIC</a:t>
                      </a:r>
                    </a:p>
                  </a:txBody>
                  <a:tcPr>
                    <a:solidFill>
                      <a:srgbClr val="FFFFFF"/>
                    </a:solidFill>
                  </a:tcPr>
                </a:tc>
                <a:tc>
                  <a:txBody>
                    <a:bodyPr/>
                    <a:lstStyle/>
                    <a:p>
                      <a:pPr algn="ctr"/>
                      <a:r>
                        <a:rPr sz="1200" b="0">
                          <a:solidFill>
                            <a:srgbClr val="1A1A1A"/>
                          </a:solidFill>
                          <a:latin typeface="Times New Roman"/>
                        </a:rPr>
                        <a:t>-102.1</a:t>
                      </a:r>
                    </a:p>
                  </a:txBody>
                  <a:tcPr>
                    <a:solidFill>
                      <a:srgbClr val="FFFFFF"/>
                    </a:solidFill>
                  </a:tcPr>
                </a:tc>
                <a:tc>
                  <a:txBody>
                    <a:bodyPr/>
                    <a:lstStyle/>
                    <a:p>
                      <a:pPr algn="ctr"/>
                      <a:r>
                        <a:rPr sz="1200" b="0">
                          <a:solidFill>
                            <a:srgbClr val="1A7A4A"/>
                          </a:solidFill>
                          <a:latin typeface="Times New Roman"/>
                        </a:rPr>
                        <a:t>-111.2</a:t>
                      </a:r>
                    </a:p>
                  </a:txBody>
                  <a:tcPr>
                    <a:solidFill>
                      <a:srgbClr val="D5F0E0"/>
                    </a:solidFill>
                  </a:tcPr>
                </a:tc>
              </a:tr>
            </a:tbl>
          </a:graphicData>
        </a:graphic>
      </p:graphicFrame>
      <p:sp>
        <p:nvSpPr>
          <p:cNvPr id="14" name="Rectangle 13"/>
          <p:cNvSpPr/>
          <p:nvPr/>
        </p:nvSpPr>
        <p:spPr>
          <a:xfrm>
            <a:off x="7909560" y="3291840"/>
            <a:ext cx="3977639"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09560" y="3291840"/>
            <a:ext cx="3977639" cy="3200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3317240"/>
            <a:ext cx="3886199" cy="320040"/>
          </a:xfrm>
          <a:prstGeom prst="rect">
            <a:avLst/>
          </a:prstGeom>
          <a:noFill/>
        </p:spPr>
        <p:txBody>
          <a:bodyPr wrap="square">
            <a:spAutoFit/>
          </a:bodyPr>
          <a:lstStyle/>
          <a:p>
            <a:pPr algn="l"/>
            <a:r>
              <a:rPr sz="1200" b="1" i="0">
                <a:solidFill>
                  <a:srgbClr val="FFFFFF"/>
                </a:solidFill>
                <a:latin typeface="Times New Roman"/>
              </a:rPr>
              <a:t>Nhan xet</a:t>
            </a:r>
          </a:p>
        </p:txBody>
      </p:sp>
      <p:sp>
        <p:nvSpPr>
          <p:cNvPr id="17" name="TextBox 16"/>
          <p:cNvSpPr txBox="1"/>
          <p:nvPr/>
        </p:nvSpPr>
        <p:spPr>
          <a:xfrm>
            <a:off x="7955279" y="3675887"/>
            <a:ext cx="3840480" cy="2450592"/>
          </a:xfrm>
          <a:prstGeom prst="rect">
            <a:avLst/>
          </a:prstGeom>
          <a:noFill/>
        </p:spPr>
        <p:txBody>
          <a:bodyPr wrap="square">
            <a:spAutoFit/>
          </a:bodyPr>
          <a:lstStyle/>
          <a:p>
            <a:pPr>
              <a:spcAft>
                <a:spcPts val="800"/>
              </a:spcAft>
            </a:pPr>
            <a:r>
              <a:rPr sz="1300">
                <a:solidFill>
                  <a:srgbClr val="1A1A1A"/>
                </a:solidFill>
                <a:latin typeface="Times New Roman"/>
              </a:rPr>
              <a:t>Train 76 ngay -&gt; Forecast 14 ngay</a:t>
            </a:r>
          </a:p>
          <a:p>
            <a:pPr>
              <a:spcAft>
                <a:spcPts val="800"/>
              </a:spcAft>
            </a:pPr>
            <a:r>
              <a:rPr sz="1300">
                <a:solidFill>
                  <a:srgbClr val="1A1A1A"/>
                </a:solidFill>
                <a:latin typeface="Times New Roman"/>
              </a:rPr>
              <a:t>SARIMA: tot 7 ngay dau (APE 1-4%), diverge tuan 2</a:t>
            </a:r>
          </a:p>
          <a:p>
            <a:pPr>
              <a:spcAft>
                <a:spcPts val="800"/>
              </a:spcAft>
            </a:pPr>
            <a:r>
              <a:rPr sz="1300">
                <a:solidFill>
                  <a:srgbClr val="1A1A1A"/>
                </a:solidFill>
                <a:latin typeface="Times New Roman"/>
              </a:rPr>
              <a:t>SARIMAX: giam MAPE 1.6 pp nho promotion+weather</a:t>
            </a:r>
          </a:p>
          <a:p>
            <a:pPr>
              <a:spcAft>
                <a:spcPts val="800"/>
              </a:spcAft>
            </a:pPr>
            <a:r>
              <a:rPr sz="1300">
                <a:solidFill>
                  <a:srgbClr val="1A1A1A"/>
                </a:solidFill>
                <a:latin typeface="Times New Roman"/>
              </a:rPr>
              <a:t>AIC giam 10.5 -&gt; exog thuc su cai thien fit</a:t>
            </a:r>
          </a:p>
          <a:p>
            <a:pPr>
              <a:spcAft>
                <a:spcPts val="800"/>
              </a:spcAft>
            </a:pPr>
            <a:r>
              <a:rPr sz="1300">
                <a:solidFill>
                  <a:srgbClr val="1A1A1A"/>
                </a:solidFill>
                <a:latin typeface="Times New Roman"/>
              </a:rPr>
              <a:t>Systematic underforecast -&gt; promotion la driver chinh</a:t>
            </a:r>
          </a:p>
        </p:txBody>
      </p:sp>
      <p:sp>
        <p:nvSpPr>
          <p:cNvPr id="18" name="TextBox 17"/>
          <p:cNvSpPr txBox="1"/>
          <p:nvPr/>
        </p:nvSpPr>
        <p:spPr>
          <a:xfrm>
            <a:off x="274320" y="3758184"/>
            <a:ext cx="7498079" cy="182880"/>
          </a:xfrm>
          <a:prstGeom prst="rect">
            <a:avLst/>
          </a:prstGeom>
          <a:noFill/>
        </p:spPr>
        <p:txBody>
          <a:bodyPr wrap="square">
            <a:spAutoFit/>
          </a:bodyPr>
          <a:lstStyle/>
          <a:p>
            <a:pPr algn="l"/>
            <a:r>
              <a:rPr sz="900" b="0" i="1">
                <a:solidFill>
                  <a:srgbClr val="555555"/>
                </a:solidFill>
                <a:latin typeface="Times New Roman"/>
              </a:rPr>
              <a:t>SARIMA(1,1,1)(0,1,1)[7] — 14-day forecast</a:t>
            </a:r>
          </a:p>
        </p:txBody>
      </p:sp>
      <p:sp>
        <p:nvSpPr>
          <p:cNvPr id="19" name="TextBox 18"/>
          <p:cNvSpPr txBox="1"/>
          <p:nvPr/>
        </p:nvSpPr>
        <p:spPr>
          <a:xfrm>
            <a:off x="274320" y="6217920"/>
            <a:ext cx="7498079" cy="182880"/>
          </a:xfrm>
          <a:prstGeom prst="rect">
            <a:avLst/>
          </a:prstGeom>
          <a:noFill/>
        </p:spPr>
        <p:txBody>
          <a:bodyPr wrap="square">
            <a:spAutoFit/>
          </a:bodyPr>
          <a:lstStyle/>
          <a:p>
            <a:pPr algn="l"/>
            <a:r>
              <a:rPr sz="900" b="0" i="1">
                <a:solidFill>
                  <a:srgbClr val="555555"/>
                </a:solidFill>
                <a:latin typeface="Times New Roman"/>
              </a:rPr>
              <a:t>SARIMA vs SARIMAX — so sanh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Mo Rong sang SARIMAX — Bien Ngoai Sinh</a:t>
            </a:r>
          </a:p>
        </p:txBody>
      </p:sp>
      <p:sp>
        <p:nvSpPr>
          <p:cNvPr id="5" name="Rectangle 4"/>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7" name="TextBox 6"/>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13 / 14</a:t>
            </a:r>
          </a:p>
        </p:txBody>
      </p:sp>
      <p:sp>
        <p:nvSpPr>
          <p:cNvPr id="8" name="Rectangle 7"/>
          <p:cNvSpPr/>
          <p:nvPr/>
        </p:nvSpPr>
        <p:spPr>
          <a:xfrm>
            <a:off x="365760" y="1143000"/>
            <a:ext cx="5029200"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168400"/>
            <a:ext cx="4937760" cy="320040"/>
          </a:xfrm>
          <a:prstGeom prst="rect">
            <a:avLst/>
          </a:prstGeom>
          <a:noFill/>
        </p:spPr>
        <p:txBody>
          <a:bodyPr wrap="square">
            <a:spAutoFit/>
          </a:bodyPr>
          <a:lstStyle/>
          <a:p>
            <a:pPr algn="l"/>
            <a:r>
              <a:rPr sz="1200" b="1" i="0">
                <a:solidFill>
                  <a:srgbClr val="FFFFFF"/>
                </a:solidFill>
                <a:latin typeface="Times New Roman"/>
              </a:rPr>
              <a:t>Bien ngoai sinh dua vao mo hinh</a:t>
            </a:r>
          </a:p>
        </p:txBody>
      </p:sp>
      <p:graphicFrame>
        <p:nvGraphicFramePr>
          <p:cNvPr id="10" name="Table 9"/>
          <p:cNvGraphicFramePr>
            <a:graphicFrameLocks noGrp="1"/>
          </p:cNvGraphicFramePr>
          <p:nvPr/>
        </p:nvGraphicFramePr>
        <p:xfrm>
          <a:off x="365760" y="1508760"/>
          <a:ext cx="11430000" cy="1965960"/>
        </p:xfrm>
        <a:graphic>
          <a:graphicData uri="http://schemas.openxmlformats.org/drawingml/2006/table">
            <a:tbl>
              <a:tblPr firstRow="1" bandRow="1">
                <a:tableStyleId>{5C22544A-7EE6-4342-B048-85BDC9FD1C3A}</a:tableStyleId>
              </a:tblPr>
              <a:tblGrid>
                <a:gridCol w="2194560"/>
                <a:gridCol w="2194560"/>
                <a:gridCol w="7040880"/>
              </a:tblGrid>
              <a:tr h="393192">
                <a:tc>
                  <a:txBody>
                    <a:bodyPr/>
                    <a:lstStyle/>
                    <a:p>
                      <a:pPr algn="ctr"/>
                      <a:r>
                        <a:rPr sz="1300" b="1">
                          <a:solidFill>
                            <a:srgbClr val="FFFFFF"/>
                          </a:solidFill>
                          <a:latin typeface="Times New Roman"/>
                        </a:rPr>
                        <a:t>Bien</a:t>
                      </a:r>
                    </a:p>
                  </a:txBody>
                  <a:tcPr>
                    <a:solidFill>
                      <a:srgbClr val="1F4E79"/>
                    </a:solidFill>
                  </a:tcPr>
                </a:tc>
                <a:tc>
                  <a:txBody>
                    <a:bodyPr/>
                    <a:lstStyle/>
                    <a:p>
                      <a:pPr algn="ctr"/>
                      <a:r>
                        <a:rPr sz="1300" b="1">
                          <a:solidFill>
                            <a:srgbClr val="FFFFFF"/>
                          </a:solidFill>
                          <a:latin typeface="Times New Roman"/>
                        </a:rPr>
                        <a:t>Mo ta</a:t>
                      </a:r>
                    </a:p>
                  </a:txBody>
                  <a:tcPr>
                    <a:solidFill>
                      <a:srgbClr val="1F4E79"/>
                    </a:solidFill>
                  </a:tcPr>
                </a:tc>
                <a:tc>
                  <a:txBody>
                    <a:bodyPr/>
                    <a:lstStyle/>
                    <a:p>
                      <a:pPr algn="ctr"/>
                      <a:r>
                        <a:rPr sz="1300" b="1">
                          <a:solidFill>
                            <a:srgbClr val="FFFFFF"/>
                          </a:solidFill>
                          <a:latin typeface="Times New Roman"/>
                        </a:rPr>
                        <a:t>Dau he so &amp; Y nghia</a:t>
                      </a:r>
                    </a:p>
                  </a:txBody>
                  <a:tcPr>
                    <a:solidFill>
                      <a:srgbClr val="1F4E79"/>
                    </a:solidFill>
                  </a:tcPr>
                </a:tc>
              </a:tr>
              <a:tr h="393192">
                <a:tc>
                  <a:txBody>
                    <a:bodyPr/>
                    <a:lstStyle/>
                    <a:p>
                      <a:pPr algn="l"/>
                      <a:r>
                        <a:rPr sz="1200" b="0">
                          <a:solidFill>
                            <a:srgbClr val="1A1A1A"/>
                          </a:solidFill>
                          <a:latin typeface="Times New Roman"/>
                        </a:rPr>
                        <a:t>avg_temperature</a:t>
                      </a:r>
                    </a:p>
                  </a:txBody>
                  <a:tcPr>
                    <a:solidFill>
                      <a:srgbClr val="FFFFFF"/>
                    </a:solidFill>
                  </a:tcPr>
                </a:tc>
                <a:tc>
                  <a:txBody>
                    <a:bodyPr/>
                    <a:lstStyle/>
                    <a:p>
                      <a:pPr algn="ctr"/>
                      <a:r>
                        <a:rPr sz="1200" b="0">
                          <a:solidFill>
                            <a:srgbClr val="1A1A1A"/>
                          </a:solidFill>
                          <a:latin typeface="Times New Roman"/>
                        </a:rPr>
                        <a:t>Nhiet do TB (chuan hoa)</a:t>
                      </a:r>
                    </a:p>
                  </a:txBody>
                  <a:tcPr>
                    <a:solidFill>
                      <a:srgbClr val="FFFFFF"/>
                    </a:solidFill>
                  </a:tcPr>
                </a:tc>
                <a:tc>
                  <a:txBody>
                    <a:bodyPr/>
                    <a:lstStyle/>
                    <a:p>
                      <a:pPr algn="ctr"/>
                      <a:r>
                        <a:rPr sz="1200" b="0">
                          <a:solidFill>
                            <a:srgbClr val="1A1A1A"/>
                          </a:solidFill>
                          <a:latin typeface="Times New Roman"/>
                        </a:rPr>
                        <a:t>Duong (+) — nong -&gt; nhu cau tuoi tang</a:t>
                      </a:r>
                    </a:p>
                  </a:txBody>
                  <a:tcPr>
                    <a:solidFill>
                      <a:srgbClr val="FFFFFF"/>
                    </a:solidFill>
                  </a:tcPr>
                </a:tc>
              </a:tr>
              <a:tr h="393192">
                <a:tc>
                  <a:txBody>
                    <a:bodyPr/>
                    <a:lstStyle/>
                    <a:p>
                      <a:pPr algn="l"/>
                      <a:r>
                        <a:rPr sz="1200" b="0">
                          <a:solidFill>
                            <a:srgbClr val="1A1A1A"/>
                          </a:solidFill>
                          <a:latin typeface="Times New Roman"/>
                        </a:rPr>
                        <a:t>avg_precpt</a:t>
                      </a:r>
                    </a:p>
                  </a:txBody>
                  <a:tcPr>
                    <a:solidFill>
                      <a:srgbClr val="F2F4F8"/>
                    </a:solidFill>
                  </a:tcPr>
                </a:tc>
                <a:tc>
                  <a:txBody>
                    <a:bodyPr/>
                    <a:lstStyle/>
                    <a:p>
                      <a:pPr algn="ctr"/>
                      <a:r>
                        <a:rPr sz="1200" b="0">
                          <a:solidFill>
                            <a:srgbClr val="1A1A1A"/>
                          </a:solidFill>
                          <a:latin typeface="Times New Roman"/>
                        </a:rPr>
                        <a:t>Luong mua (chuan hoa)</a:t>
                      </a:r>
                    </a:p>
                  </a:txBody>
                  <a:tcPr>
                    <a:solidFill>
                      <a:srgbClr val="F2F4F8"/>
                    </a:solidFill>
                  </a:tcPr>
                </a:tc>
                <a:tc>
                  <a:txBody>
                    <a:bodyPr/>
                    <a:lstStyle/>
                    <a:p>
                      <a:pPr algn="ctr"/>
                      <a:r>
                        <a:rPr sz="1200" b="0">
                          <a:solidFill>
                            <a:srgbClr val="1A1A1A"/>
                          </a:solidFill>
                          <a:latin typeface="Times New Roman"/>
                        </a:rPr>
                        <a:t>Am (-)  — mua -&gt; it dat hang</a:t>
                      </a:r>
                    </a:p>
                  </a:txBody>
                  <a:tcPr>
                    <a:solidFill>
                      <a:srgbClr val="F2F4F8"/>
                    </a:solidFill>
                  </a:tcPr>
                </a:tc>
              </a:tr>
              <a:tr h="393192">
                <a:tc>
                  <a:txBody>
                    <a:bodyPr/>
                    <a:lstStyle/>
                    <a:p>
                      <a:pPr algn="l"/>
                      <a:r>
                        <a:rPr sz="1200" b="0">
                          <a:solidFill>
                            <a:srgbClr val="1A1A1A"/>
                          </a:solidFill>
                          <a:latin typeface="Times New Roman"/>
                        </a:rPr>
                        <a:t>holiday_flag</a:t>
                      </a:r>
                    </a:p>
                  </a:txBody>
                  <a:tcPr>
                    <a:solidFill>
                      <a:srgbClr val="FFFFFF"/>
                    </a:solidFill>
                  </a:tcPr>
                </a:tc>
                <a:tc>
                  <a:txBody>
                    <a:bodyPr/>
                    <a:lstStyle/>
                    <a:p>
                      <a:pPr algn="ctr"/>
                      <a:r>
                        <a:rPr sz="1200" b="0">
                          <a:solidFill>
                            <a:srgbClr val="1A1A1A"/>
                          </a:solidFill>
                          <a:latin typeface="Times New Roman"/>
                        </a:rPr>
                        <a:t>Ngay le  (binary)</a:t>
                      </a:r>
                    </a:p>
                  </a:txBody>
                  <a:tcPr>
                    <a:solidFill>
                      <a:srgbClr val="FFFFFF"/>
                    </a:solidFill>
                  </a:tcPr>
                </a:tc>
                <a:tc>
                  <a:txBody>
                    <a:bodyPr/>
                    <a:lstStyle/>
                    <a:p>
                      <a:pPr algn="ctr"/>
                      <a:r>
                        <a:rPr sz="1200" b="0">
                          <a:solidFill>
                            <a:srgbClr val="1A1A1A"/>
                          </a:solidFill>
                          <a:latin typeface="Times New Roman"/>
                        </a:rPr>
                        <a:t>Duong lon (+) — spike doanh so</a:t>
                      </a:r>
                    </a:p>
                  </a:txBody>
                  <a:tcPr>
                    <a:solidFill>
                      <a:srgbClr val="FFFFFF"/>
                    </a:solidFill>
                  </a:tcPr>
                </a:tc>
              </a:tr>
              <a:tr h="393192">
                <a:tc>
                  <a:txBody>
                    <a:bodyPr/>
                    <a:lstStyle/>
                    <a:p>
                      <a:pPr algn="l"/>
                      <a:r>
                        <a:rPr sz="1200" b="0">
                          <a:solidFill>
                            <a:srgbClr val="1A1A1A"/>
                          </a:solidFill>
                          <a:latin typeface="Times New Roman"/>
                        </a:rPr>
                        <a:t>activity_flag</a:t>
                      </a:r>
                    </a:p>
                  </a:txBody>
                  <a:tcPr>
                    <a:solidFill>
                      <a:srgbClr val="F2F4F8"/>
                    </a:solidFill>
                  </a:tcPr>
                </a:tc>
                <a:tc>
                  <a:txBody>
                    <a:bodyPr/>
                    <a:lstStyle/>
                    <a:p>
                      <a:pPr algn="ctr"/>
                      <a:r>
                        <a:rPr sz="1200" b="0">
                          <a:solidFill>
                            <a:srgbClr val="1A1A1A"/>
                          </a:solidFill>
                          <a:latin typeface="Times New Roman"/>
                        </a:rPr>
                        <a:t>Ngay KM  (binary)</a:t>
                      </a:r>
                    </a:p>
                  </a:txBody>
                  <a:tcPr>
                    <a:solidFill>
                      <a:srgbClr val="F2F4F8"/>
                    </a:solidFill>
                  </a:tcPr>
                </a:tc>
                <a:tc>
                  <a:txBody>
                    <a:bodyPr/>
                    <a:lstStyle/>
                    <a:p>
                      <a:pPr algn="ctr"/>
                      <a:r>
                        <a:rPr sz="1200" b="0">
                          <a:solidFill>
                            <a:srgbClr val="1A1A1A"/>
                          </a:solidFill>
                          <a:latin typeface="Times New Roman"/>
                        </a:rPr>
                        <a:t>Duong lon nhat — driver quan trong nhat</a:t>
                      </a:r>
                    </a:p>
                  </a:txBody>
                  <a:tcPr>
                    <a:solidFill>
                      <a:srgbClr val="F2F4F8"/>
                    </a:solidFill>
                  </a:tcPr>
                </a:tc>
              </a:tr>
            </a:tbl>
          </a:graphicData>
        </a:graphic>
      </p:graphicFrame>
      <p:sp>
        <p:nvSpPr>
          <p:cNvPr id="11" name="Rectangle 10"/>
          <p:cNvSpPr/>
          <p:nvPr/>
        </p:nvSpPr>
        <p:spPr>
          <a:xfrm>
            <a:off x="365760" y="3611880"/>
            <a:ext cx="4114800" cy="3200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3637280"/>
            <a:ext cx="4023360" cy="320040"/>
          </a:xfrm>
          <a:prstGeom prst="rect">
            <a:avLst/>
          </a:prstGeom>
          <a:noFill/>
        </p:spPr>
        <p:txBody>
          <a:bodyPr wrap="square">
            <a:spAutoFit/>
          </a:bodyPr>
          <a:lstStyle/>
          <a:p>
            <a:pPr algn="l"/>
            <a:r>
              <a:rPr sz="1200" b="1" i="0">
                <a:solidFill>
                  <a:srgbClr val="FFFFFF"/>
                </a:solidFill>
                <a:latin typeface="Times New Roman"/>
              </a:rPr>
              <a:t>So sanh SARIMA vs SARIMAX</a:t>
            </a:r>
          </a:p>
        </p:txBody>
      </p:sp>
      <p:graphicFrame>
        <p:nvGraphicFramePr>
          <p:cNvPr id="13" name="Table 12"/>
          <p:cNvGraphicFramePr>
            <a:graphicFrameLocks noGrp="1"/>
          </p:cNvGraphicFramePr>
          <p:nvPr/>
        </p:nvGraphicFramePr>
        <p:xfrm>
          <a:off x="365760" y="3977639"/>
          <a:ext cx="11430000" cy="1737360"/>
        </p:xfrm>
        <a:graphic>
          <a:graphicData uri="http://schemas.openxmlformats.org/drawingml/2006/table">
            <a:tbl>
              <a:tblPr firstRow="1" bandRow="1">
                <a:tableStyleId>{5C22544A-7EE6-4342-B048-85BDC9FD1C3A}</a:tableStyleId>
              </a:tblPr>
              <a:tblGrid>
                <a:gridCol w="2194560"/>
                <a:gridCol w="2194560"/>
                <a:gridCol w="2194560"/>
                <a:gridCol w="4846320"/>
              </a:tblGrid>
              <a:tr h="347472">
                <a:tc>
                  <a:txBody>
                    <a:bodyPr/>
                    <a:lstStyle/>
                    <a:p>
                      <a:pPr algn="ctr"/>
                      <a:r>
                        <a:rPr sz="1300" b="1">
                          <a:solidFill>
                            <a:srgbClr val="FFFFFF"/>
                          </a:solidFill>
                          <a:latin typeface="Times New Roman"/>
                        </a:rPr>
                        <a:t>Metric</a:t>
                      </a:r>
                    </a:p>
                  </a:txBody>
                  <a:tcPr>
                    <a:solidFill>
                      <a:srgbClr val="1F4E79"/>
                    </a:solidFill>
                  </a:tcPr>
                </a:tc>
                <a:tc>
                  <a:txBody>
                    <a:bodyPr/>
                    <a:lstStyle/>
                    <a:p>
                      <a:pPr algn="ctr"/>
                      <a:r>
                        <a:rPr sz="1300" b="1">
                          <a:solidFill>
                            <a:srgbClr val="FFFFFF"/>
                          </a:solidFill>
                          <a:latin typeface="Times New Roman"/>
                        </a:rPr>
                        <a:t>SARIMA</a:t>
                      </a:r>
                    </a:p>
                  </a:txBody>
                  <a:tcPr>
                    <a:solidFill>
                      <a:srgbClr val="1F4E79"/>
                    </a:solidFill>
                  </a:tcPr>
                </a:tc>
                <a:tc>
                  <a:txBody>
                    <a:bodyPr/>
                    <a:lstStyle/>
                    <a:p>
                      <a:pPr algn="ctr"/>
                      <a:r>
                        <a:rPr sz="1300" b="1">
                          <a:solidFill>
                            <a:srgbClr val="FFFFFF"/>
                          </a:solidFill>
                          <a:latin typeface="Times New Roman"/>
                        </a:rPr>
                        <a:t>SARIMAX</a:t>
                      </a:r>
                    </a:p>
                  </a:txBody>
                  <a:tcPr>
                    <a:solidFill>
                      <a:srgbClr val="1F4E79"/>
                    </a:solidFill>
                  </a:tcPr>
                </a:tc>
                <a:tc>
                  <a:txBody>
                    <a:bodyPr/>
                    <a:lstStyle/>
                    <a:p>
                      <a:pPr algn="ctr"/>
                      <a:r>
                        <a:rPr sz="1300" b="1">
                          <a:solidFill>
                            <a:srgbClr val="FFFFFF"/>
                          </a:solidFill>
                          <a:latin typeface="Times New Roman"/>
                        </a:rPr>
                        <a:t>Improvement</a:t>
                      </a:r>
                    </a:p>
                  </a:txBody>
                  <a:tcPr>
                    <a:solidFill>
                      <a:srgbClr val="1F4E79"/>
                    </a:solidFill>
                  </a:tcPr>
                </a:tc>
              </a:tr>
              <a:tr h="347472">
                <a:tc>
                  <a:txBody>
                    <a:bodyPr/>
                    <a:lstStyle/>
                    <a:p>
                      <a:pPr algn="l"/>
                      <a:r>
                        <a:rPr sz="1200" b="0">
                          <a:solidFill>
                            <a:srgbClr val="1A1A1A"/>
                          </a:solidFill>
                          <a:latin typeface="Times New Roman"/>
                        </a:rPr>
                        <a:t>MAPE (14-day)</a:t>
                      </a:r>
                    </a:p>
                  </a:txBody>
                  <a:tcPr>
                    <a:solidFill>
                      <a:srgbClr val="FFFFFF"/>
                    </a:solidFill>
                  </a:tcPr>
                </a:tc>
                <a:tc>
                  <a:txBody>
                    <a:bodyPr/>
                    <a:lstStyle/>
                    <a:p>
                      <a:pPr algn="ctr"/>
                      <a:r>
                        <a:rPr sz="1200" b="0">
                          <a:solidFill>
                            <a:srgbClr val="1A1A1A"/>
                          </a:solidFill>
                          <a:latin typeface="Times New Roman"/>
                        </a:rPr>
                        <a:t>6.80%</a:t>
                      </a:r>
                    </a:p>
                  </a:txBody>
                  <a:tcPr>
                    <a:solidFill>
                      <a:srgbClr val="FFFFFF"/>
                    </a:solidFill>
                  </a:tcPr>
                </a:tc>
                <a:tc>
                  <a:txBody>
                    <a:bodyPr/>
                    <a:lstStyle/>
                    <a:p>
                      <a:pPr algn="ctr"/>
                      <a:r>
                        <a:rPr sz="1200" b="0">
                          <a:solidFill>
                            <a:srgbClr val="1A1A1A"/>
                          </a:solidFill>
                          <a:latin typeface="Times New Roman"/>
                        </a:rPr>
                        <a:t>6.25%</a:t>
                      </a:r>
                    </a:p>
                  </a:txBody>
                  <a:tcPr>
                    <a:solidFill>
                      <a:srgbClr val="FFFFFF"/>
                    </a:solidFill>
                  </a:tcPr>
                </a:tc>
                <a:tc>
                  <a:txBody>
                    <a:bodyPr/>
                    <a:lstStyle/>
                    <a:p>
                      <a:pPr algn="ctr"/>
                      <a:r>
                        <a:rPr sz="1200" b="0">
                          <a:solidFill>
                            <a:srgbClr val="1A1A1A"/>
                          </a:solidFill>
                          <a:latin typeface="Times New Roman"/>
                        </a:rPr>
                        <a:t>-0.54 pp</a:t>
                      </a:r>
                    </a:p>
                  </a:txBody>
                  <a:tcPr>
                    <a:solidFill>
                      <a:srgbClr val="FFFFFF"/>
                    </a:solidFill>
                  </a:tcPr>
                </a:tc>
              </a:tr>
              <a:tr h="347472">
                <a:tc>
                  <a:txBody>
                    <a:bodyPr/>
                    <a:lstStyle/>
                    <a:p>
                      <a:pPr algn="l"/>
                      <a:r>
                        <a:rPr sz="1200" b="0">
                          <a:solidFill>
                            <a:srgbClr val="1A1A1A"/>
                          </a:solidFill>
                          <a:latin typeface="Times New Roman"/>
                        </a:rPr>
                        <a:t>RMSE</a:t>
                      </a:r>
                    </a:p>
                  </a:txBody>
                  <a:tcPr>
                    <a:solidFill>
                      <a:srgbClr val="F2F4F8"/>
                    </a:solidFill>
                  </a:tcPr>
                </a:tc>
                <a:tc>
                  <a:txBody>
                    <a:bodyPr/>
                    <a:lstStyle/>
                    <a:p>
                      <a:pPr algn="ctr"/>
                      <a:r>
                        <a:rPr sz="1200" b="0">
                          <a:solidFill>
                            <a:srgbClr val="1A1A1A"/>
                          </a:solidFill>
                          <a:latin typeface="Times New Roman"/>
                        </a:rPr>
                        <a:t>4,652</a:t>
                      </a:r>
                    </a:p>
                  </a:txBody>
                  <a:tcPr>
                    <a:solidFill>
                      <a:srgbClr val="F2F4F8"/>
                    </a:solidFill>
                  </a:tcPr>
                </a:tc>
                <a:tc>
                  <a:txBody>
                    <a:bodyPr/>
                    <a:lstStyle/>
                    <a:p>
                      <a:pPr algn="ctr"/>
                      <a:r>
                        <a:rPr sz="1200" b="0">
                          <a:solidFill>
                            <a:srgbClr val="1A1A1A"/>
                          </a:solidFill>
                          <a:latin typeface="Times New Roman"/>
                        </a:rPr>
                        <a:t>4,903</a:t>
                      </a:r>
                    </a:p>
                  </a:txBody>
                  <a:tcPr>
                    <a:solidFill>
                      <a:srgbClr val="F2F4F8"/>
                    </a:solidFill>
                  </a:tcPr>
                </a:tc>
                <a:tc>
                  <a:txBody>
                    <a:bodyPr/>
                    <a:lstStyle/>
                    <a:p>
                      <a:pPr algn="ctr"/>
                      <a:r>
                        <a:rPr sz="1200" b="0">
                          <a:solidFill>
                            <a:srgbClr val="1A1A1A"/>
                          </a:solidFill>
                          <a:latin typeface="Times New Roman"/>
                        </a:rPr>
                        <a:t>--250</a:t>
                      </a:r>
                    </a:p>
                  </a:txBody>
                  <a:tcPr>
                    <a:solidFill>
                      <a:srgbClr val="F2F4F8"/>
                    </a:solidFill>
                  </a:tcPr>
                </a:tc>
              </a:tr>
              <a:tr h="347472">
                <a:tc>
                  <a:txBody>
                    <a:bodyPr/>
                    <a:lstStyle/>
                    <a:p>
                      <a:pPr algn="l"/>
                      <a:r>
                        <a:rPr sz="1200" b="0">
                          <a:solidFill>
                            <a:srgbClr val="1A1A1A"/>
                          </a:solidFill>
                          <a:latin typeface="Times New Roman"/>
                        </a:rPr>
                        <a:t>AIC</a:t>
                      </a:r>
                    </a:p>
                  </a:txBody>
                  <a:tcPr>
                    <a:solidFill>
                      <a:srgbClr val="FFFFFF"/>
                    </a:solidFill>
                  </a:tcPr>
                </a:tc>
                <a:tc>
                  <a:txBody>
                    <a:bodyPr/>
                    <a:lstStyle/>
                    <a:p>
                      <a:pPr algn="ctr"/>
                      <a:r>
                        <a:rPr sz="1200" b="0">
                          <a:solidFill>
                            <a:srgbClr val="1A1A1A"/>
                          </a:solidFill>
                          <a:latin typeface="Times New Roman"/>
                        </a:rPr>
                        <a:t>-102.1</a:t>
                      </a:r>
                    </a:p>
                  </a:txBody>
                  <a:tcPr>
                    <a:solidFill>
                      <a:srgbClr val="FFFFFF"/>
                    </a:solidFill>
                  </a:tcPr>
                </a:tc>
                <a:tc>
                  <a:txBody>
                    <a:bodyPr/>
                    <a:lstStyle/>
                    <a:p>
                      <a:pPr algn="ctr"/>
                      <a:r>
                        <a:rPr sz="1200" b="0">
                          <a:solidFill>
                            <a:srgbClr val="1A1A1A"/>
                          </a:solidFill>
                          <a:latin typeface="Times New Roman"/>
                        </a:rPr>
                        <a:t>-111.2</a:t>
                      </a:r>
                    </a:p>
                  </a:txBody>
                  <a:tcPr>
                    <a:solidFill>
                      <a:srgbClr val="FFFFFF"/>
                    </a:solidFill>
                  </a:tcPr>
                </a:tc>
                <a:tc>
                  <a:txBody>
                    <a:bodyPr/>
                    <a:lstStyle/>
                    <a:p>
                      <a:pPr algn="ctr"/>
                      <a:r>
                        <a:rPr sz="1200" b="0">
                          <a:solidFill>
                            <a:srgbClr val="1A1A1A"/>
                          </a:solidFill>
                          <a:latin typeface="Times New Roman"/>
                        </a:rPr>
                        <a:t>-9.1</a:t>
                      </a:r>
                    </a:p>
                  </a:txBody>
                  <a:tcPr>
                    <a:solidFill>
                      <a:srgbClr val="FFFFFF"/>
                    </a:solidFill>
                  </a:tcPr>
                </a:tc>
              </a:tr>
              <a:tr h="347472">
                <a:tc>
                  <a:txBody>
                    <a:bodyPr/>
                    <a:lstStyle/>
                    <a:p>
                      <a:pPr algn="l"/>
                      <a:r>
                        <a:rPr sz="1200" b="0">
                          <a:solidFill>
                            <a:srgbClr val="1A1A1A"/>
                          </a:solidFill>
                          <a:latin typeface="Times New Roman"/>
                        </a:rPr>
                        <a:t>Ljung-Box</a:t>
                      </a:r>
                    </a:p>
                  </a:txBody>
                  <a:tcPr>
                    <a:solidFill>
                      <a:srgbClr val="F2F4F8"/>
                    </a:solidFill>
                  </a:tcPr>
                </a:tc>
                <a:tc>
                  <a:txBody>
                    <a:bodyPr/>
                    <a:lstStyle/>
                    <a:p>
                      <a:pPr algn="ctr"/>
                      <a:r>
                        <a:rPr sz="1200" b="0">
                          <a:solidFill>
                            <a:srgbClr val="1A1A1A"/>
                          </a:solidFill>
                          <a:latin typeface="Times New Roman"/>
                        </a:rPr>
                        <a:t>Pass</a:t>
                      </a:r>
                    </a:p>
                  </a:txBody>
                  <a:tcPr>
                    <a:solidFill>
                      <a:srgbClr val="F2F4F8"/>
                    </a:solidFill>
                  </a:tcPr>
                </a:tc>
                <a:tc>
                  <a:txBody>
                    <a:bodyPr/>
                    <a:lstStyle/>
                    <a:p>
                      <a:pPr algn="ctr"/>
                      <a:r>
                        <a:rPr sz="1200" b="0">
                          <a:solidFill>
                            <a:srgbClr val="1A1A1A"/>
                          </a:solidFill>
                          <a:latin typeface="Times New Roman"/>
                        </a:rPr>
                        <a:t>Pass</a:t>
                      </a:r>
                    </a:p>
                  </a:txBody>
                  <a:tcPr>
                    <a:solidFill>
                      <a:srgbClr val="F2F4F8"/>
                    </a:solidFill>
                  </a:tcPr>
                </a:tc>
                <a:tc>
                  <a:txBody>
                    <a:bodyPr/>
                    <a:lstStyle/>
                    <a:p>
                      <a:pPr algn="ctr"/>
                      <a:r>
                        <a:rPr sz="1200" b="0">
                          <a:solidFill>
                            <a:srgbClr val="1A1A1A"/>
                          </a:solidFill>
                          <a:latin typeface="Times New Roman"/>
                        </a:rPr>
                        <a:t>—</a:t>
                      </a:r>
                    </a:p>
                  </a:txBody>
                  <a:tcPr>
                    <a:solidFill>
                      <a:srgbClr val="F2F4F8"/>
                    </a:solidFill>
                  </a:tcPr>
                </a:tc>
              </a:tr>
            </a:tbl>
          </a:graphicData>
        </a:graphic>
      </p:graphicFrame>
      <p:sp>
        <p:nvSpPr>
          <p:cNvPr id="14" name="Rectangle 13"/>
          <p:cNvSpPr/>
          <p:nvPr/>
        </p:nvSpPr>
        <p:spPr>
          <a:xfrm>
            <a:off x="365760" y="5852160"/>
            <a:ext cx="11430000" cy="59436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5852160"/>
            <a:ext cx="64008" cy="5943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897880"/>
            <a:ext cx="11155680" cy="502920"/>
          </a:xfrm>
          <a:prstGeom prst="rect">
            <a:avLst/>
          </a:prstGeom>
          <a:noFill/>
        </p:spPr>
        <p:txBody>
          <a:bodyPr wrap="square">
            <a:spAutoFit/>
          </a:bodyPr>
          <a:lstStyle/>
          <a:p>
            <a:pPr algn="l"/>
            <a:r>
              <a:rPr sz="1300" b="0" i="0">
                <a:solidFill>
                  <a:srgbClr val="1F4E79"/>
                </a:solidFill>
                <a:latin typeface="Times New Roman"/>
              </a:rPr>
              <a:t>-&gt; Ket luan: SARIMAX la mo hinh nen dung cho phan tich cuoi — exog co gia tri thuc su (AIC giam 9.1). Huong phat trien tuan 6: Tobit censoring correction + grid search day du.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45720"/>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0972800" cy="594360"/>
          </a:xfrm>
          <a:prstGeom prst="rect">
            <a:avLst/>
          </a:prstGeom>
          <a:noFill/>
        </p:spPr>
        <p:txBody>
          <a:bodyPr wrap="square">
            <a:spAutoFit/>
          </a:bodyPr>
          <a:lstStyle/>
          <a:p>
            <a:pPr algn="l"/>
            <a:r>
              <a:rPr sz="2700" b="1" i="0">
                <a:solidFill>
                  <a:srgbClr val="FFFFFF"/>
                </a:solidFill>
                <a:latin typeface="Times New Roman"/>
              </a:rPr>
              <a:t>Phan Cong Nhom &amp; Ke Hoach</a:t>
            </a:r>
          </a:p>
        </p:txBody>
      </p:sp>
      <p:sp>
        <p:nvSpPr>
          <p:cNvPr id="6" name="Rectangle 5"/>
          <p:cNvSpPr/>
          <p:nvPr/>
        </p:nvSpPr>
        <p:spPr>
          <a:xfrm>
            <a:off x="0" y="6492240"/>
            <a:ext cx="12188952"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9601200" cy="274320"/>
          </a:xfrm>
          <a:prstGeom prst="rect">
            <a:avLst/>
          </a:prstGeom>
          <a:noFill/>
        </p:spPr>
        <p:txBody>
          <a:bodyPr wrap="square">
            <a:spAutoFit/>
          </a:bodyPr>
          <a:lstStyle/>
          <a:p>
            <a:pPr algn="l"/>
            <a:r>
              <a:rPr sz="900" b="0" i="0">
                <a:solidFill>
                  <a:srgbClr val="BDD7EE"/>
                </a:solidFill>
                <a:latin typeface="Times New Roman"/>
              </a:rPr>
              <a:t>FreshRetailNet-50K  |  Week 5 Milestone  |  Time Series &amp; Forecasting</a:t>
            </a:r>
          </a:p>
        </p:txBody>
      </p:sp>
      <p:sp>
        <p:nvSpPr>
          <p:cNvPr id="8" name="TextBox 7"/>
          <p:cNvSpPr txBox="1"/>
          <p:nvPr/>
        </p:nvSpPr>
        <p:spPr>
          <a:xfrm>
            <a:off x="11338560" y="6519672"/>
            <a:ext cx="731520" cy="274320"/>
          </a:xfrm>
          <a:prstGeom prst="rect">
            <a:avLst/>
          </a:prstGeom>
          <a:noFill/>
        </p:spPr>
        <p:txBody>
          <a:bodyPr wrap="square">
            <a:spAutoFit/>
          </a:bodyPr>
          <a:lstStyle/>
          <a:p>
            <a:pPr algn="r"/>
            <a:r>
              <a:rPr sz="900" b="1" i="0">
                <a:solidFill>
                  <a:srgbClr val="FFFFFF"/>
                </a:solidFill>
                <a:latin typeface="Times New Roman"/>
              </a:rPr>
              <a:t>14 / 14</a:t>
            </a:r>
          </a:p>
        </p:txBody>
      </p:sp>
      <p:sp>
        <p:nvSpPr>
          <p:cNvPr id="9" name="Rectangle 8"/>
          <p:cNvSpPr/>
          <p:nvPr/>
        </p:nvSpPr>
        <p:spPr>
          <a:xfrm>
            <a:off x="365760" y="1143000"/>
            <a:ext cx="3200400"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168400"/>
            <a:ext cx="3108960" cy="320040"/>
          </a:xfrm>
          <a:prstGeom prst="rect">
            <a:avLst/>
          </a:prstGeom>
          <a:noFill/>
        </p:spPr>
        <p:txBody>
          <a:bodyPr wrap="square">
            <a:spAutoFit/>
          </a:bodyPr>
          <a:lstStyle/>
          <a:p>
            <a:pPr algn="l"/>
            <a:r>
              <a:rPr sz="1200" b="1" i="0">
                <a:solidFill>
                  <a:srgbClr val="FFFFFF"/>
                </a:solidFill>
                <a:latin typeface="Times New Roman"/>
              </a:rPr>
              <a:t>Phan cong cong viec</a:t>
            </a:r>
          </a:p>
        </p:txBody>
      </p:sp>
      <p:graphicFrame>
        <p:nvGraphicFramePr>
          <p:cNvPr id="11" name="Table 10"/>
          <p:cNvGraphicFramePr>
            <a:graphicFrameLocks noGrp="1"/>
          </p:cNvGraphicFramePr>
          <p:nvPr/>
        </p:nvGraphicFramePr>
        <p:xfrm>
          <a:off x="365760" y="1508760"/>
          <a:ext cx="7132320" cy="4526280"/>
        </p:xfrm>
        <a:graphic>
          <a:graphicData uri="http://schemas.openxmlformats.org/drawingml/2006/table">
            <a:tbl>
              <a:tblPr firstRow="1" bandRow="1">
                <a:tableStyleId>{5C22544A-7EE6-4342-B048-85BDC9FD1C3A}</a:tableStyleId>
              </a:tblPr>
              <a:tblGrid>
                <a:gridCol w="3657600"/>
                <a:gridCol w="1828800"/>
                <a:gridCol w="1645920"/>
              </a:tblGrid>
              <a:tr h="452628">
                <a:tc>
                  <a:txBody>
                    <a:bodyPr/>
                    <a:lstStyle/>
                    <a:p>
                      <a:pPr algn="ctr"/>
                      <a:r>
                        <a:rPr sz="1200" b="1">
                          <a:solidFill>
                            <a:srgbClr val="FFFFFF"/>
                          </a:solidFill>
                          <a:latin typeface="Times New Roman"/>
                        </a:rPr>
                        <a:t>Cong viec</a:t>
                      </a:r>
                    </a:p>
                  </a:txBody>
                  <a:tcPr>
                    <a:solidFill>
                      <a:srgbClr val="1F4E79"/>
                    </a:solidFill>
                  </a:tcPr>
                </a:tc>
                <a:tc>
                  <a:txBody>
                    <a:bodyPr/>
                    <a:lstStyle/>
                    <a:p>
                      <a:pPr algn="ctr"/>
                      <a:r>
                        <a:rPr sz="1200" b="1">
                          <a:solidFill>
                            <a:srgbClr val="FFFFFF"/>
                          </a:solidFill>
                          <a:latin typeface="Times New Roman"/>
                        </a:rPr>
                        <a:t>Nguoi phu trach</a:t>
                      </a:r>
                    </a:p>
                  </a:txBody>
                  <a:tcPr>
                    <a:solidFill>
                      <a:srgbClr val="1F4E79"/>
                    </a:solidFill>
                  </a:tcPr>
                </a:tc>
                <a:tc>
                  <a:txBody>
                    <a:bodyPr/>
                    <a:lstStyle/>
                    <a:p>
                      <a:pPr algn="ctr"/>
                      <a:r>
                        <a:rPr sz="1200" b="1">
                          <a:solidFill>
                            <a:srgbClr val="FFFFFF"/>
                          </a:solidFill>
                          <a:latin typeface="Times New Roman"/>
                        </a:rPr>
                        <a:t>Trang thai</a:t>
                      </a:r>
                    </a:p>
                  </a:txBody>
                  <a:tcPr>
                    <a:solidFill>
                      <a:srgbClr val="1F4E79"/>
                    </a:solidFill>
                  </a:tcPr>
                </a:tc>
              </a:tr>
              <a:tr h="452628">
                <a:tc>
                  <a:txBody>
                    <a:bodyPr/>
                    <a:lstStyle/>
                    <a:p>
                      <a:pPr algn="l"/>
                      <a:r>
                        <a:rPr sz="1100" b="0">
                          <a:solidFill>
                            <a:srgbClr val="1A1A1A"/>
                          </a:solidFill>
                          <a:latin typeface="Times New Roman"/>
                        </a:rPr>
                        <a:t>Nap DL, EDA, STL</a:t>
                      </a:r>
                    </a:p>
                  </a:txBody>
                  <a:tcPr>
                    <a:solidFill>
                      <a:srgbClr val="FFFFFF"/>
                    </a:solidFill>
                  </a:tcPr>
                </a:tc>
                <a:tc>
                  <a:txBody>
                    <a:bodyPr/>
                    <a:lstStyle/>
                    <a:p>
                      <a:pPr algn="ctr"/>
                      <a:r>
                        <a:rPr sz="1100" b="0">
                          <a:solidFill>
                            <a:srgbClr val="1A1A1A"/>
                          </a:solidFill>
                          <a:latin typeface="Times New Roman"/>
                        </a:rPr>
                        <a:t>Thanh vien A</a:t>
                      </a:r>
                    </a:p>
                  </a:txBody>
                  <a:tcPr>
                    <a:solidFill>
                      <a:srgbClr val="FFFFFF"/>
                    </a:solidFill>
                  </a:tcPr>
                </a:tc>
                <a:tc>
                  <a:txBody>
                    <a:bodyPr/>
                    <a:lstStyle/>
                    <a:p>
                      <a:pPr algn="ctr"/>
                      <a:r>
                        <a:rPr sz="1100" b="0">
                          <a:solidFill>
                            <a:srgbClr val="1A7A4A"/>
                          </a:solidFill>
                          <a:latin typeface="Times New Roman"/>
                        </a:rPr>
                        <a:t>Hoan thanh</a:t>
                      </a:r>
                    </a:p>
                  </a:txBody>
                  <a:tcPr>
                    <a:solidFill>
                      <a:srgbClr val="D5F0E0"/>
                    </a:solidFill>
                  </a:tcPr>
                </a:tc>
              </a:tr>
              <a:tr h="452628">
                <a:tc>
                  <a:txBody>
                    <a:bodyPr/>
                    <a:lstStyle/>
                    <a:p>
                      <a:pPr algn="l"/>
                      <a:r>
                        <a:rPr sz="1100" b="0">
                          <a:solidFill>
                            <a:srgbClr val="1A1A1A"/>
                          </a:solidFill>
                          <a:latin typeface="Times New Roman"/>
                        </a:rPr>
                        <a:t>ACF/PACF, kiem dinh dung</a:t>
                      </a:r>
                    </a:p>
                  </a:txBody>
                  <a:tcPr>
                    <a:solidFill>
                      <a:srgbClr val="F2F4F8"/>
                    </a:solidFill>
                  </a:tcPr>
                </a:tc>
                <a:tc>
                  <a:txBody>
                    <a:bodyPr/>
                    <a:lstStyle/>
                    <a:p>
                      <a:pPr algn="ctr"/>
                      <a:r>
                        <a:rPr sz="1100" b="0">
                          <a:solidFill>
                            <a:srgbClr val="1A1A1A"/>
                          </a:solidFill>
                          <a:latin typeface="Times New Roman"/>
                        </a:rPr>
                        <a:t>Thanh vien B</a:t>
                      </a:r>
                    </a:p>
                  </a:txBody>
                  <a:tcPr>
                    <a:solidFill>
                      <a:srgbClr val="F2F4F8"/>
                    </a:solidFill>
                  </a:tcPr>
                </a:tc>
                <a:tc>
                  <a:txBody>
                    <a:bodyPr/>
                    <a:lstStyle/>
                    <a:p>
                      <a:pPr algn="ctr"/>
                      <a:r>
                        <a:rPr sz="1100" b="0">
                          <a:solidFill>
                            <a:srgbClr val="1A7A4A"/>
                          </a:solidFill>
                          <a:latin typeface="Times New Roman"/>
                        </a:rPr>
                        <a:t>Hoan thanh</a:t>
                      </a:r>
                    </a:p>
                  </a:txBody>
                  <a:tcPr>
                    <a:solidFill>
                      <a:srgbClr val="D5F0E0"/>
                    </a:solidFill>
                  </a:tcPr>
                </a:tc>
              </a:tr>
              <a:tr h="452628">
                <a:tc>
                  <a:txBody>
                    <a:bodyPr/>
                    <a:lstStyle/>
                    <a:p>
                      <a:pPr algn="l"/>
                      <a:r>
                        <a:rPr sz="1100" b="0">
                          <a:solidFill>
                            <a:srgbClr val="1A1A1A"/>
                          </a:solidFill>
                          <a:latin typeface="Times New Roman"/>
                        </a:rPr>
                        <a:t>SARIMA fitting &amp; diagnostics</a:t>
                      </a:r>
                    </a:p>
                  </a:txBody>
                  <a:tcPr>
                    <a:solidFill>
                      <a:srgbClr val="FFFFFF"/>
                    </a:solidFill>
                  </a:tcPr>
                </a:tc>
                <a:tc>
                  <a:txBody>
                    <a:bodyPr/>
                    <a:lstStyle/>
                    <a:p>
                      <a:pPr algn="ctr"/>
                      <a:r>
                        <a:rPr sz="1100" b="0">
                          <a:solidFill>
                            <a:srgbClr val="1A1A1A"/>
                          </a:solidFill>
                          <a:latin typeface="Times New Roman"/>
                        </a:rPr>
                        <a:t>Thanh vien C</a:t>
                      </a:r>
                    </a:p>
                  </a:txBody>
                  <a:tcPr>
                    <a:solidFill>
                      <a:srgbClr val="FFFFFF"/>
                    </a:solidFill>
                  </a:tcPr>
                </a:tc>
                <a:tc>
                  <a:txBody>
                    <a:bodyPr/>
                    <a:lstStyle/>
                    <a:p>
                      <a:pPr algn="ctr"/>
                      <a:r>
                        <a:rPr sz="1100" b="0">
                          <a:solidFill>
                            <a:srgbClr val="1A7A4A"/>
                          </a:solidFill>
                          <a:latin typeface="Times New Roman"/>
                        </a:rPr>
                        <a:t>Hoan thanh</a:t>
                      </a:r>
                    </a:p>
                  </a:txBody>
                  <a:tcPr>
                    <a:solidFill>
                      <a:srgbClr val="D5F0E0"/>
                    </a:solidFill>
                  </a:tcPr>
                </a:tc>
              </a:tr>
              <a:tr h="452628">
                <a:tc>
                  <a:txBody>
                    <a:bodyPr/>
                    <a:lstStyle/>
                    <a:p>
                      <a:pPr algn="l"/>
                      <a:r>
                        <a:rPr sz="1100" b="0">
                          <a:solidFill>
                            <a:srgbClr val="1A1A1A"/>
                          </a:solidFill>
                          <a:latin typeface="Times New Roman"/>
                        </a:rPr>
                        <a:t>SARIMAX + exog variables</a:t>
                      </a:r>
                    </a:p>
                  </a:txBody>
                  <a:tcPr>
                    <a:solidFill>
                      <a:srgbClr val="F2F4F8"/>
                    </a:solidFill>
                  </a:tcPr>
                </a:tc>
                <a:tc>
                  <a:txBody>
                    <a:bodyPr/>
                    <a:lstStyle/>
                    <a:p>
                      <a:pPr algn="ctr"/>
                      <a:r>
                        <a:rPr sz="1100" b="0">
                          <a:solidFill>
                            <a:srgbClr val="1A1A1A"/>
                          </a:solidFill>
                          <a:latin typeface="Times New Roman"/>
                        </a:rPr>
                        <a:t>A + B</a:t>
                      </a:r>
                    </a:p>
                  </a:txBody>
                  <a:tcPr>
                    <a:solidFill>
                      <a:srgbClr val="F2F4F8"/>
                    </a:solidFill>
                  </a:tcPr>
                </a:tc>
                <a:tc>
                  <a:txBody>
                    <a:bodyPr/>
                    <a:lstStyle/>
                    <a:p>
                      <a:pPr algn="ctr"/>
                      <a:r>
                        <a:rPr sz="1100" b="0">
                          <a:solidFill>
                            <a:srgbClr val="E67E22"/>
                          </a:solidFill>
                          <a:latin typeface="Times New Roman"/>
                        </a:rPr>
                        <a:t>Tuan 6</a:t>
                      </a:r>
                    </a:p>
                  </a:txBody>
                  <a:tcPr>
                    <a:solidFill>
                      <a:srgbClr val="F2F4F8"/>
                    </a:solidFill>
                  </a:tcPr>
                </a:tc>
              </a:tr>
              <a:tr h="452628">
                <a:tc>
                  <a:txBody>
                    <a:bodyPr/>
                    <a:lstStyle/>
                    <a:p>
                      <a:pPr algn="l"/>
                      <a:r>
                        <a:rPr sz="1100" b="0">
                          <a:solidFill>
                            <a:srgbClr val="1A1A1A"/>
                          </a:solidFill>
                          <a:latin typeface="Times New Roman"/>
                        </a:rPr>
                        <a:t>Grid search AIC/BIC</a:t>
                      </a:r>
                    </a:p>
                  </a:txBody>
                  <a:tcPr>
                    <a:solidFill>
                      <a:srgbClr val="FFFFFF"/>
                    </a:solidFill>
                  </a:tcPr>
                </a:tc>
                <a:tc>
                  <a:txBody>
                    <a:bodyPr/>
                    <a:lstStyle/>
                    <a:p>
                      <a:pPr algn="ctr"/>
                      <a:r>
                        <a:rPr sz="1100" b="0">
                          <a:solidFill>
                            <a:srgbClr val="1A1A1A"/>
                          </a:solidFill>
                          <a:latin typeface="Times New Roman"/>
                        </a:rPr>
                        <a:t>Thanh vien C</a:t>
                      </a:r>
                    </a:p>
                  </a:txBody>
                  <a:tcPr>
                    <a:solidFill>
                      <a:srgbClr val="FFFFFF"/>
                    </a:solidFill>
                  </a:tcPr>
                </a:tc>
                <a:tc>
                  <a:txBody>
                    <a:bodyPr/>
                    <a:lstStyle/>
                    <a:p>
                      <a:pPr algn="ctr"/>
                      <a:r>
                        <a:rPr sz="1100" b="0">
                          <a:solidFill>
                            <a:srgbClr val="E67E22"/>
                          </a:solidFill>
                          <a:latin typeface="Times New Roman"/>
                        </a:rPr>
                        <a:t>Tuan 6</a:t>
                      </a:r>
                    </a:p>
                  </a:txBody>
                  <a:tcPr>
                    <a:solidFill>
                      <a:srgbClr val="F2F4F8"/>
                    </a:solidFill>
                  </a:tcPr>
                </a:tc>
              </a:tr>
              <a:tr h="452628">
                <a:tc>
                  <a:txBody>
                    <a:bodyPr/>
                    <a:lstStyle/>
                    <a:p>
                      <a:pPr algn="l"/>
                      <a:r>
                        <a:rPr sz="1100" b="0">
                          <a:solidFill>
                            <a:srgbClr val="1A1A1A"/>
                          </a:solidFill>
                          <a:latin typeface="Times New Roman"/>
                        </a:rPr>
                        <a:t>Censoring correction (Tobit)</a:t>
                      </a:r>
                    </a:p>
                  </a:txBody>
                  <a:tcPr>
                    <a:solidFill>
                      <a:srgbClr val="F2F4F8"/>
                    </a:solidFill>
                  </a:tcPr>
                </a:tc>
                <a:tc>
                  <a:txBody>
                    <a:bodyPr/>
                    <a:lstStyle/>
                    <a:p>
                      <a:pPr algn="ctr"/>
                      <a:r>
                        <a:rPr sz="1100" b="0">
                          <a:solidFill>
                            <a:srgbClr val="1A1A1A"/>
                          </a:solidFill>
                          <a:latin typeface="Times New Roman"/>
                        </a:rPr>
                        <a:t>Thanh vien B</a:t>
                      </a:r>
                    </a:p>
                  </a:txBody>
                  <a:tcPr>
                    <a:solidFill>
                      <a:srgbClr val="F2F4F8"/>
                    </a:solidFill>
                  </a:tcPr>
                </a:tc>
                <a:tc>
                  <a:txBody>
                    <a:bodyPr/>
                    <a:lstStyle/>
                    <a:p>
                      <a:pPr algn="ctr"/>
                      <a:r>
                        <a:rPr sz="1100" b="0">
                          <a:solidFill>
                            <a:srgbClr val="2E75B6"/>
                          </a:solidFill>
                          <a:latin typeface="Times New Roman"/>
                        </a:rPr>
                        <a:t>Tuan 7</a:t>
                      </a:r>
                    </a:p>
                  </a:txBody>
                  <a:tcPr>
                    <a:solidFill>
                      <a:srgbClr val="F2F4F8"/>
                    </a:solidFill>
                  </a:tcPr>
                </a:tc>
              </a:tr>
              <a:tr h="452628">
                <a:tc>
                  <a:txBody>
                    <a:bodyPr/>
                    <a:lstStyle/>
                    <a:p>
                      <a:pPr algn="l"/>
                      <a:r>
                        <a:rPr sz="1100" b="0">
                          <a:solidFill>
                            <a:srgbClr val="1A1A1A"/>
                          </a:solidFill>
                          <a:latin typeface="Times New Roman"/>
                        </a:rPr>
                        <a:t>GARCH tren residuals</a:t>
                      </a:r>
                    </a:p>
                  </a:txBody>
                  <a:tcPr>
                    <a:solidFill>
                      <a:srgbClr val="FFFFFF"/>
                    </a:solidFill>
                  </a:tcPr>
                </a:tc>
                <a:tc>
                  <a:txBody>
                    <a:bodyPr/>
                    <a:lstStyle/>
                    <a:p>
                      <a:pPr algn="ctr"/>
                      <a:r>
                        <a:rPr sz="1100" b="0">
                          <a:solidFill>
                            <a:srgbClr val="1A1A1A"/>
                          </a:solidFill>
                          <a:latin typeface="Times New Roman"/>
                        </a:rPr>
                        <a:t>Thanh vien B</a:t>
                      </a:r>
                    </a:p>
                  </a:txBody>
                  <a:tcPr>
                    <a:solidFill>
                      <a:srgbClr val="FFFFFF"/>
                    </a:solidFill>
                  </a:tcPr>
                </a:tc>
                <a:tc>
                  <a:txBody>
                    <a:bodyPr/>
                    <a:lstStyle/>
                    <a:p>
                      <a:pPr algn="ctr"/>
                      <a:r>
                        <a:rPr sz="1100" b="0">
                          <a:solidFill>
                            <a:srgbClr val="2E75B6"/>
                          </a:solidFill>
                          <a:latin typeface="Times New Roman"/>
                        </a:rPr>
                        <a:t>Tuan 7</a:t>
                      </a:r>
                    </a:p>
                  </a:txBody>
                  <a:tcPr>
                    <a:solidFill>
                      <a:srgbClr val="F2F4F8"/>
                    </a:solidFill>
                  </a:tcPr>
                </a:tc>
              </a:tr>
              <a:tr h="452628">
                <a:tc>
                  <a:txBody>
                    <a:bodyPr/>
                    <a:lstStyle/>
                    <a:p>
                      <a:pPr algn="l"/>
                      <a:r>
                        <a:rPr sz="1100" b="0">
                          <a:solidFill>
                            <a:srgbClr val="1A1A1A"/>
                          </a:solidFill>
                          <a:latin typeface="Times New Roman"/>
                        </a:rPr>
                        <a:t>Benchmark vs DLinear</a:t>
                      </a:r>
                    </a:p>
                  </a:txBody>
                  <a:tcPr>
                    <a:solidFill>
                      <a:srgbClr val="F2F4F8"/>
                    </a:solidFill>
                  </a:tcPr>
                </a:tc>
                <a:tc>
                  <a:txBody>
                    <a:bodyPr/>
                    <a:lstStyle/>
                    <a:p>
                      <a:pPr algn="ctr"/>
                      <a:r>
                        <a:rPr sz="1100" b="0">
                          <a:solidFill>
                            <a:srgbClr val="1A1A1A"/>
                          </a:solidFill>
                          <a:latin typeface="Times New Roman"/>
                        </a:rPr>
                        <a:t>Thanh vien A</a:t>
                      </a:r>
                    </a:p>
                  </a:txBody>
                  <a:tcPr>
                    <a:solidFill>
                      <a:srgbClr val="F2F4F8"/>
                    </a:solidFill>
                  </a:tcPr>
                </a:tc>
                <a:tc>
                  <a:txBody>
                    <a:bodyPr/>
                    <a:lstStyle/>
                    <a:p>
                      <a:pPr algn="ctr"/>
                      <a:r>
                        <a:rPr sz="1100" b="0">
                          <a:solidFill>
                            <a:srgbClr val="2E75B6"/>
                          </a:solidFill>
                          <a:latin typeface="Times New Roman"/>
                        </a:rPr>
                        <a:t>Tuan 7</a:t>
                      </a:r>
                    </a:p>
                  </a:txBody>
                  <a:tcPr>
                    <a:solidFill>
                      <a:srgbClr val="F2F4F8"/>
                    </a:solidFill>
                  </a:tcPr>
                </a:tc>
              </a:tr>
              <a:tr h="452628">
                <a:tc>
                  <a:txBody>
                    <a:bodyPr/>
                    <a:lstStyle/>
                    <a:p>
                      <a:pPr algn="l"/>
                      <a:r>
                        <a:rPr sz="1100" b="0">
                          <a:solidFill>
                            <a:srgbClr val="1A1A1A"/>
                          </a:solidFill>
                          <a:latin typeface="Times New Roman"/>
                        </a:rPr>
                        <a:t>Bao cao cuoi &amp; trinh bay</a:t>
                      </a:r>
                    </a:p>
                  </a:txBody>
                  <a:tcPr>
                    <a:solidFill>
                      <a:srgbClr val="FFFFFF"/>
                    </a:solidFill>
                  </a:tcPr>
                </a:tc>
                <a:tc>
                  <a:txBody>
                    <a:bodyPr/>
                    <a:lstStyle/>
                    <a:p>
                      <a:pPr algn="ctr"/>
                      <a:r>
                        <a:rPr sz="1100" b="0">
                          <a:solidFill>
                            <a:srgbClr val="1A1A1A"/>
                          </a:solidFill>
                          <a:latin typeface="Times New Roman"/>
                        </a:rPr>
                        <a:t>Ca nhom</a:t>
                      </a:r>
                    </a:p>
                  </a:txBody>
                  <a:tcPr>
                    <a:solidFill>
                      <a:srgbClr val="FFFFFF"/>
                    </a:solidFill>
                  </a:tcPr>
                </a:tc>
                <a:tc>
                  <a:txBody>
                    <a:bodyPr/>
                    <a:lstStyle/>
                    <a:p>
                      <a:pPr algn="ctr"/>
                      <a:r>
                        <a:rPr sz="1100" b="0">
                          <a:solidFill>
                            <a:srgbClr val="2E75B6"/>
                          </a:solidFill>
                          <a:latin typeface="Times New Roman"/>
                        </a:rPr>
                        <a:t>Tuan 8</a:t>
                      </a:r>
                    </a:p>
                  </a:txBody>
                  <a:tcPr>
                    <a:solidFill>
                      <a:srgbClr val="F2F4F8"/>
                    </a:solidFill>
                  </a:tcPr>
                </a:tc>
              </a:tr>
            </a:tbl>
          </a:graphicData>
        </a:graphic>
      </p:graphicFrame>
      <p:sp>
        <p:nvSpPr>
          <p:cNvPr id="12" name="Rectangle 11"/>
          <p:cNvSpPr/>
          <p:nvPr/>
        </p:nvSpPr>
        <p:spPr>
          <a:xfrm>
            <a:off x="7772400" y="1143000"/>
            <a:ext cx="4114800" cy="3200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45552" y="1168400"/>
            <a:ext cx="4023360" cy="320040"/>
          </a:xfrm>
          <a:prstGeom prst="rect">
            <a:avLst/>
          </a:prstGeom>
          <a:noFill/>
        </p:spPr>
        <p:txBody>
          <a:bodyPr wrap="square">
            <a:spAutoFit/>
          </a:bodyPr>
          <a:lstStyle/>
          <a:p>
            <a:pPr algn="l"/>
            <a:r>
              <a:rPr sz="1200" b="1" i="0">
                <a:solidFill>
                  <a:srgbClr val="FFFFFF"/>
                </a:solidFill>
                <a:latin typeface="Times New Roman"/>
              </a:rPr>
              <a:t>Viec con lai (Tuan 6-8)</a:t>
            </a:r>
          </a:p>
        </p:txBody>
      </p:sp>
      <p:sp>
        <p:nvSpPr>
          <p:cNvPr id="14" name="TextBox 13"/>
          <p:cNvSpPr txBox="1"/>
          <p:nvPr/>
        </p:nvSpPr>
        <p:spPr>
          <a:xfrm>
            <a:off x="7772400" y="1508760"/>
            <a:ext cx="4114800" cy="4572000"/>
          </a:xfrm>
          <a:prstGeom prst="rect">
            <a:avLst/>
          </a:prstGeom>
          <a:noFill/>
        </p:spPr>
        <p:txBody>
          <a:bodyPr wrap="square">
            <a:spAutoFit/>
          </a:bodyPr>
          <a:lstStyle/>
          <a:p>
            <a:pPr>
              <a:spcAft>
                <a:spcPts val="800"/>
              </a:spcAft>
            </a:pPr>
            <a:r>
              <a:rPr sz="1300">
                <a:solidFill>
                  <a:srgbClr val="1A1A1A"/>
                </a:solidFill>
                <a:latin typeface="Times New Roman"/>
              </a:rPr>
              <a:t>Grid search SARIMA: p,q in {0,1,2}, P,Q in {0,1}</a:t>
            </a:r>
          </a:p>
          <a:p>
            <a:pPr>
              <a:spcAft>
                <a:spcPts val="800"/>
              </a:spcAft>
            </a:pPr>
            <a:r>
              <a:rPr sz="1300">
                <a:solidFill>
                  <a:srgbClr val="1A1A1A"/>
                </a:solidFill>
                <a:latin typeface="Times New Roman"/>
              </a:rPr>
              <a:t>Tobit-adjusted demand recovery (censoring fix)</a:t>
            </a:r>
          </a:p>
          <a:p>
            <a:pPr>
              <a:spcAft>
                <a:spcPts val="800"/>
              </a:spcAft>
            </a:pPr>
            <a:r>
              <a:rPr sz="1300">
                <a:solidFill>
                  <a:srgbClr val="1A1A1A"/>
                </a:solidFill>
                <a:latin typeface="Times New Roman"/>
              </a:rPr>
              <a:t>Walk-forward cross-validation (time series split)</a:t>
            </a:r>
          </a:p>
          <a:p>
            <a:pPr>
              <a:spcAft>
                <a:spcPts val="800"/>
              </a:spcAft>
            </a:pPr>
            <a:r>
              <a:rPr sz="1300">
                <a:solidFill>
                  <a:srgbClr val="1A1A1A"/>
                </a:solidFill>
                <a:latin typeface="Times New Roman"/>
              </a:rPr>
              <a:t>GARCH(1,1): test conditional heteroskedasticity</a:t>
            </a:r>
          </a:p>
          <a:p>
            <a:pPr>
              <a:spcAft>
                <a:spcPts val="800"/>
              </a:spcAft>
            </a:pPr>
            <a:r>
              <a:rPr sz="1300">
                <a:solidFill>
                  <a:srgbClr val="1A1A1A"/>
                </a:solidFill>
                <a:latin typeface="Times New Roman"/>
              </a:rPr>
              <a:t>Phan tich per-category (rau, trai cay, thit)</a:t>
            </a:r>
          </a:p>
          <a:p>
            <a:pPr>
              <a:spcAft>
                <a:spcPts val="800"/>
              </a:spcAft>
            </a:pPr>
            <a:r>
              <a:rPr sz="1300">
                <a:solidFill>
                  <a:srgbClr val="1A1A1A"/>
                </a:solidFill>
                <a:latin typeface="Times New Roman"/>
              </a:rPr>
              <a:t>So sanh MAPE vs DLinear baseline (Dingdong repo)</a:t>
            </a:r>
          </a:p>
          <a:p>
            <a:pPr>
              <a:spcAft>
                <a:spcPts val="800"/>
              </a:spcAft>
            </a:pPr>
            <a:r>
              <a:rPr sz="1300">
                <a:solidFill>
                  <a:srgbClr val="1A1A1A"/>
                </a:solidFill>
                <a:latin typeface="Times New Roman"/>
              </a:rPr>
              <a:t>Bao cao viet + visualisations hoan chinh</a:t>
            </a:r>
          </a:p>
        </p:txBody>
      </p:sp>
      <p:sp>
        <p:nvSpPr>
          <p:cNvPr id="15" name="TextBox 14"/>
          <p:cNvSpPr txBox="1"/>
          <p:nvPr/>
        </p:nvSpPr>
        <p:spPr>
          <a:xfrm>
            <a:off x="365760" y="6245352"/>
            <a:ext cx="11430000" cy="219456"/>
          </a:xfrm>
          <a:prstGeom prst="rect">
            <a:avLst/>
          </a:prstGeom>
          <a:noFill/>
        </p:spPr>
        <p:txBody>
          <a:bodyPr wrap="square">
            <a:spAutoFit/>
          </a:bodyPr>
          <a:lstStyle/>
          <a:p>
            <a:pPr algn="l"/>
            <a:r>
              <a:rPr sz="1000" b="0" i="1">
                <a:solidFill>
                  <a:srgbClr val="555555"/>
                </a:solidFill>
                <a:latin typeface="Times New Roman"/>
              </a:rPr>
              <a:t>Tat ca code va du lieu san sang demo trong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