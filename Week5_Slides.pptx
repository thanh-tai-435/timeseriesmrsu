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53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88952" cy="73152"/>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45720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54864" cy="685800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80160"/>
            <a:ext cx="10515600" cy="1005840"/>
          </a:xfrm>
          <a:prstGeom prst="rect">
            <a:avLst/>
          </a:prstGeom>
          <a:noFill/>
        </p:spPr>
        <p:txBody>
          <a:bodyPr wrap="square">
            <a:spAutoFit/>
          </a:bodyPr>
          <a:lstStyle/>
          <a:p>
            <a:pPr algn="l">
              <a:spcAft>
                <a:spcPts val="0"/>
              </a:spcAft>
            </a:pPr>
            <a:r>
              <a:rPr sz="3800" b="1" i="0">
                <a:solidFill>
                  <a:srgbClr val="FFFFFF"/>
                </a:solidFill>
                <a:latin typeface="Calibri"/>
              </a:rPr>
              <a:t>DỰ BÁO NHU CẦU THỰC PHẨM TƯƠI</a:t>
            </a:r>
          </a:p>
        </p:txBody>
      </p:sp>
      <p:sp>
        <p:nvSpPr>
          <p:cNvPr id="8" name="TextBox 7"/>
          <p:cNvSpPr txBox="1"/>
          <p:nvPr/>
        </p:nvSpPr>
        <p:spPr>
          <a:xfrm>
            <a:off x="731520" y="2286000"/>
            <a:ext cx="10515600" cy="640080"/>
          </a:xfrm>
          <a:prstGeom prst="rect">
            <a:avLst/>
          </a:prstGeom>
          <a:noFill/>
        </p:spPr>
        <p:txBody>
          <a:bodyPr wrap="square">
            <a:spAutoFit/>
          </a:bodyPr>
          <a:lstStyle/>
          <a:p>
            <a:pPr algn="l">
              <a:spcAft>
                <a:spcPts val="0"/>
              </a:spcAft>
            </a:pPr>
            <a:r>
              <a:rPr sz="2200" b="0" i="0">
                <a:solidFill>
                  <a:srgbClr val="BDD7EE"/>
                </a:solidFill>
                <a:latin typeface="Calibri"/>
              </a:rPr>
              <a:t>với Mô Hình Chuỗi Thời Gian (SARIMA / SARIMAX)</a:t>
            </a:r>
          </a:p>
        </p:txBody>
      </p:sp>
      <p:sp>
        <p:nvSpPr>
          <p:cNvPr id="9" name="Rectangle 8"/>
          <p:cNvSpPr/>
          <p:nvPr/>
        </p:nvSpPr>
        <p:spPr>
          <a:xfrm>
            <a:off x="731520" y="3017520"/>
            <a:ext cx="5029200" cy="2540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246120"/>
            <a:ext cx="10058400" cy="411480"/>
          </a:xfrm>
          <a:prstGeom prst="rect">
            <a:avLst/>
          </a:prstGeom>
          <a:noFill/>
        </p:spPr>
        <p:txBody>
          <a:bodyPr wrap="square">
            <a:spAutoFit/>
          </a:bodyPr>
          <a:lstStyle/>
          <a:p>
            <a:pPr algn="l">
              <a:spcAft>
                <a:spcPts val="0"/>
              </a:spcAft>
            </a:pPr>
            <a:r>
              <a:rPr sz="1500" b="1" i="0">
                <a:solidFill>
                  <a:srgbClr val="FFBF00"/>
                </a:solidFill>
                <a:latin typeface="Calibri"/>
              </a:rPr>
              <a:t>Dataset: FreshRetailNet-50K  |  Dingdong Inc. (2024)</a:t>
            </a:r>
          </a:p>
        </p:txBody>
      </p:sp>
      <p:sp>
        <p:nvSpPr>
          <p:cNvPr id="11" name="TextBox 10"/>
          <p:cNvSpPr txBox="1"/>
          <p:nvPr/>
        </p:nvSpPr>
        <p:spPr>
          <a:xfrm>
            <a:off x="731520" y="3657600"/>
            <a:ext cx="10058400" cy="347472"/>
          </a:xfrm>
          <a:prstGeom prst="rect">
            <a:avLst/>
          </a:prstGeom>
          <a:noFill/>
        </p:spPr>
        <p:txBody>
          <a:bodyPr wrap="square">
            <a:spAutoFit/>
          </a:bodyPr>
          <a:lstStyle/>
          <a:p>
            <a:pPr algn="l">
              <a:spcAft>
                <a:spcPts val="0"/>
              </a:spcAft>
            </a:pPr>
            <a:r>
              <a:rPr sz="1200" b="0" i="0">
                <a:solidFill>
                  <a:srgbClr val="BDD7EE"/>
                </a:solidFill>
                <a:latin typeface="Calibri"/>
              </a:rPr>
              <a:t>Nguồn: huggingface.co/datasets/Dingdong-Inc/FreshRetailNet-50K</a:t>
            </a:r>
          </a:p>
        </p:txBody>
      </p:sp>
      <p:sp>
        <p:nvSpPr>
          <p:cNvPr id="12" name="Rectangle 11"/>
          <p:cNvSpPr/>
          <p:nvPr/>
        </p:nvSpPr>
        <p:spPr>
          <a:xfrm>
            <a:off x="731520" y="4160520"/>
            <a:ext cx="5029200" cy="19050"/>
          </a:xfrm>
          <a:prstGeom prst="rect">
            <a:avLst/>
          </a:prstGeom>
          <a:solidFill>
            <a:srgbClr val="D0D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343400"/>
            <a:ext cx="10058400" cy="347472"/>
          </a:xfrm>
          <a:prstGeom prst="rect">
            <a:avLst/>
          </a:prstGeom>
          <a:noFill/>
        </p:spPr>
        <p:txBody>
          <a:bodyPr wrap="square">
            <a:spAutoFit/>
          </a:bodyPr>
          <a:lstStyle/>
          <a:p>
            <a:pPr algn="l">
              <a:spcAft>
                <a:spcPts val="0"/>
              </a:spcAft>
            </a:pPr>
            <a:r>
              <a:rPr sz="1300" b="0" i="0">
                <a:solidFill>
                  <a:srgbClr val="D0D8E4"/>
                </a:solidFill>
                <a:latin typeface="Calibri"/>
              </a:rPr>
              <a:t>Week 5 Progress Milestone  |  Time Series &amp; Forecasting Course</a:t>
            </a:r>
          </a:p>
        </p:txBody>
      </p:sp>
      <p:sp>
        <p:nvSpPr>
          <p:cNvPr id="14" name="TextBox 13"/>
          <p:cNvSpPr txBox="1"/>
          <p:nvPr/>
        </p:nvSpPr>
        <p:spPr>
          <a:xfrm>
            <a:off x="731520" y="4736592"/>
            <a:ext cx="3657600" cy="347472"/>
          </a:xfrm>
          <a:prstGeom prst="rect">
            <a:avLst/>
          </a:prstGeom>
          <a:noFill/>
        </p:spPr>
        <p:txBody>
          <a:bodyPr wrap="square">
            <a:spAutoFit/>
          </a:bodyPr>
          <a:lstStyle/>
          <a:p>
            <a:pPr algn="l">
              <a:spcAft>
                <a:spcPts val="0"/>
              </a:spcAft>
            </a:pPr>
            <a:r>
              <a:rPr sz="1300" b="0" i="0">
                <a:solidFill>
                  <a:srgbClr val="D0D8E4"/>
                </a:solidFill>
                <a:latin typeface="Calibri"/>
              </a:rPr>
              <a:t>Tháng 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Nội Dung Báo Cáo</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2 / 14</a:t>
            </a:r>
          </a:p>
        </p:txBody>
      </p:sp>
      <p:sp>
        <p:nvSpPr>
          <p:cNvPr id="9" name="Rectangle 8"/>
          <p:cNvSpPr/>
          <p:nvPr/>
        </p:nvSpPr>
        <p:spPr>
          <a:xfrm>
            <a:off x="457200" y="1325880"/>
            <a:ext cx="594360" cy="5943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380744"/>
            <a:ext cx="594360" cy="502920"/>
          </a:xfrm>
          <a:prstGeom prst="rect">
            <a:avLst/>
          </a:prstGeom>
          <a:noFill/>
        </p:spPr>
        <p:txBody>
          <a:bodyPr wrap="square">
            <a:spAutoFit/>
          </a:bodyPr>
          <a:lstStyle/>
          <a:p>
            <a:pPr algn="ctr">
              <a:spcAft>
                <a:spcPts val="0"/>
              </a:spcAft>
            </a:pPr>
            <a:r>
              <a:rPr sz="1800" b="1" i="0">
                <a:solidFill>
                  <a:srgbClr val="FFBF00"/>
                </a:solidFill>
                <a:latin typeface="Calibri"/>
              </a:rPr>
              <a:t>01</a:t>
            </a:r>
          </a:p>
        </p:txBody>
      </p:sp>
      <p:sp>
        <p:nvSpPr>
          <p:cNvPr id="11" name="TextBox 10"/>
          <p:cNvSpPr txBox="1"/>
          <p:nvPr/>
        </p:nvSpPr>
        <p:spPr>
          <a:xfrm>
            <a:off x="1188720" y="1325880"/>
            <a:ext cx="9144000" cy="365760"/>
          </a:xfrm>
          <a:prstGeom prst="rect">
            <a:avLst/>
          </a:prstGeom>
          <a:noFill/>
        </p:spPr>
        <p:txBody>
          <a:bodyPr wrap="square">
            <a:spAutoFit/>
          </a:bodyPr>
          <a:lstStyle/>
          <a:p>
            <a:pPr algn="l">
              <a:spcAft>
                <a:spcPts val="0"/>
              </a:spcAft>
            </a:pPr>
            <a:r>
              <a:rPr sz="1700" b="1" i="0">
                <a:solidFill>
                  <a:srgbClr val="1F4E79"/>
                </a:solidFill>
                <a:latin typeface="Calibri"/>
              </a:rPr>
              <a:t>Problem Statement &amp; Motivation</a:t>
            </a:r>
          </a:p>
        </p:txBody>
      </p:sp>
      <p:sp>
        <p:nvSpPr>
          <p:cNvPr id="12" name="TextBox 11"/>
          <p:cNvSpPr txBox="1"/>
          <p:nvPr/>
        </p:nvSpPr>
        <p:spPr>
          <a:xfrm>
            <a:off x="1188720" y="1673352"/>
            <a:ext cx="9144000" cy="274320"/>
          </a:xfrm>
          <a:prstGeom prst="rect">
            <a:avLst/>
          </a:prstGeom>
          <a:noFill/>
        </p:spPr>
        <p:txBody>
          <a:bodyPr wrap="square">
            <a:spAutoFit/>
          </a:bodyPr>
          <a:lstStyle/>
          <a:p>
            <a:pPr algn="l">
              <a:spcAft>
                <a:spcPts val="0"/>
              </a:spcAft>
            </a:pPr>
            <a:r>
              <a:rPr sz="1200" b="0" i="0">
                <a:solidFill>
                  <a:srgbClr val="555555"/>
                </a:solidFill>
                <a:latin typeface="Calibri"/>
              </a:rPr>
              <a:t>Câu hỏi nghiên cứu, ý nghĩa thực tiễn, censored demand</a:t>
            </a:r>
          </a:p>
        </p:txBody>
      </p:sp>
      <p:sp>
        <p:nvSpPr>
          <p:cNvPr id="13" name="Rectangle 12"/>
          <p:cNvSpPr/>
          <p:nvPr/>
        </p:nvSpPr>
        <p:spPr>
          <a:xfrm>
            <a:off x="1188720" y="1965960"/>
            <a:ext cx="10241280" cy="6350"/>
          </a:xfrm>
          <a:prstGeom prst="rect">
            <a:avLst/>
          </a:prstGeom>
          <a:solidFill>
            <a:srgbClr val="D0D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194560"/>
            <a:ext cx="594360" cy="5943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249424"/>
            <a:ext cx="594360" cy="502920"/>
          </a:xfrm>
          <a:prstGeom prst="rect">
            <a:avLst/>
          </a:prstGeom>
          <a:noFill/>
        </p:spPr>
        <p:txBody>
          <a:bodyPr wrap="square">
            <a:spAutoFit/>
          </a:bodyPr>
          <a:lstStyle/>
          <a:p>
            <a:pPr algn="ctr">
              <a:spcAft>
                <a:spcPts val="0"/>
              </a:spcAft>
            </a:pPr>
            <a:r>
              <a:rPr sz="1800" b="1" i="0">
                <a:solidFill>
                  <a:srgbClr val="FFBF00"/>
                </a:solidFill>
                <a:latin typeface="Calibri"/>
              </a:rPr>
              <a:t>02</a:t>
            </a:r>
          </a:p>
        </p:txBody>
      </p:sp>
      <p:sp>
        <p:nvSpPr>
          <p:cNvPr id="16" name="TextBox 15"/>
          <p:cNvSpPr txBox="1"/>
          <p:nvPr/>
        </p:nvSpPr>
        <p:spPr>
          <a:xfrm>
            <a:off x="1188720" y="2194560"/>
            <a:ext cx="9144000" cy="365760"/>
          </a:xfrm>
          <a:prstGeom prst="rect">
            <a:avLst/>
          </a:prstGeom>
          <a:noFill/>
        </p:spPr>
        <p:txBody>
          <a:bodyPr wrap="square">
            <a:spAutoFit/>
          </a:bodyPr>
          <a:lstStyle/>
          <a:p>
            <a:pPr algn="l">
              <a:spcAft>
                <a:spcPts val="0"/>
              </a:spcAft>
            </a:pPr>
            <a:r>
              <a:rPr sz="1700" b="1" i="0">
                <a:solidFill>
                  <a:srgbClr val="1F4E79"/>
                </a:solidFill>
                <a:latin typeface="Calibri"/>
              </a:rPr>
              <a:t>Mô Tả &amp; Khám Phá Dữ Liệu</a:t>
            </a:r>
          </a:p>
        </p:txBody>
      </p:sp>
      <p:sp>
        <p:nvSpPr>
          <p:cNvPr id="17" name="TextBox 16"/>
          <p:cNvSpPr txBox="1"/>
          <p:nvPr/>
        </p:nvSpPr>
        <p:spPr>
          <a:xfrm>
            <a:off x="1188720" y="2542032"/>
            <a:ext cx="9144000" cy="274320"/>
          </a:xfrm>
          <a:prstGeom prst="rect">
            <a:avLst/>
          </a:prstGeom>
          <a:noFill/>
        </p:spPr>
        <p:txBody>
          <a:bodyPr wrap="square">
            <a:spAutoFit/>
          </a:bodyPr>
          <a:lstStyle/>
          <a:p>
            <a:pPr algn="l">
              <a:spcAft>
                <a:spcPts val="0"/>
              </a:spcAft>
            </a:pPr>
            <a:r>
              <a:rPr sz="1200" b="0" i="0">
                <a:solidFill>
                  <a:srgbClr val="555555"/>
                </a:solidFill>
                <a:latin typeface="Calibri"/>
              </a:rPr>
              <a:t>4.85M rows, 90 ngày, time plot, censoring rate</a:t>
            </a:r>
          </a:p>
        </p:txBody>
      </p:sp>
      <p:sp>
        <p:nvSpPr>
          <p:cNvPr id="18" name="Rectangle 17"/>
          <p:cNvSpPr/>
          <p:nvPr/>
        </p:nvSpPr>
        <p:spPr>
          <a:xfrm>
            <a:off x="1188720" y="2834640"/>
            <a:ext cx="10241280" cy="6350"/>
          </a:xfrm>
          <a:prstGeom prst="rect">
            <a:avLst/>
          </a:prstGeom>
          <a:solidFill>
            <a:srgbClr val="D0D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063240"/>
            <a:ext cx="594360" cy="5943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118104"/>
            <a:ext cx="594360" cy="502920"/>
          </a:xfrm>
          <a:prstGeom prst="rect">
            <a:avLst/>
          </a:prstGeom>
          <a:noFill/>
        </p:spPr>
        <p:txBody>
          <a:bodyPr wrap="square">
            <a:spAutoFit/>
          </a:bodyPr>
          <a:lstStyle/>
          <a:p>
            <a:pPr algn="ctr">
              <a:spcAft>
                <a:spcPts val="0"/>
              </a:spcAft>
            </a:pPr>
            <a:r>
              <a:rPr sz="1800" b="1" i="0">
                <a:solidFill>
                  <a:srgbClr val="FFBF00"/>
                </a:solidFill>
                <a:latin typeface="Calibri"/>
              </a:rPr>
              <a:t>03</a:t>
            </a:r>
          </a:p>
        </p:txBody>
      </p:sp>
      <p:sp>
        <p:nvSpPr>
          <p:cNvPr id="21" name="TextBox 20"/>
          <p:cNvSpPr txBox="1"/>
          <p:nvPr/>
        </p:nvSpPr>
        <p:spPr>
          <a:xfrm>
            <a:off x="1188720" y="3063240"/>
            <a:ext cx="9144000" cy="365760"/>
          </a:xfrm>
          <a:prstGeom prst="rect">
            <a:avLst/>
          </a:prstGeom>
          <a:noFill/>
        </p:spPr>
        <p:txBody>
          <a:bodyPr wrap="square">
            <a:spAutoFit/>
          </a:bodyPr>
          <a:lstStyle/>
          <a:p>
            <a:pPr algn="l">
              <a:spcAft>
                <a:spcPts val="0"/>
              </a:spcAft>
            </a:pPr>
            <a:r>
              <a:rPr sz="1700" b="1" i="0">
                <a:solidFill>
                  <a:srgbClr val="1F4E79"/>
                </a:solidFill>
                <a:latin typeface="Calibri"/>
              </a:rPr>
              <a:t>Phân Tích Sơ Bộ</a:t>
            </a:r>
          </a:p>
        </p:txBody>
      </p:sp>
      <p:sp>
        <p:nvSpPr>
          <p:cNvPr id="22" name="TextBox 21"/>
          <p:cNvSpPr txBox="1"/>
          <p:nvPr/>
        </p:nvSpPr>
        <p:spPr>
          <a:xfrm>
            <a:off x="1188720" y="3410712"/>
            <a:ext cx="9144000" cy="274320"/>
          </a:xfrm>
          <a:prstGeom prst="rect">
            <a:avLst/>
          </a:prstGeom>
          <a:noFill/>
        </p:spPr>
        <p:txBody>
          <a:bodyPr wrap="square">
            <a:spAutoFit/>
          </a:bodyPr>
          <a:lstStyle/>
          <a:p>
            <a:pPr algn="l">
              <a:spcAft>
                <a:spcPts val="0"/>
              </a:spcAft>
            </a:pPr>
            <a:r>
              <a:rPr sz="1200" b="0" i="0">
                <a:solidFill>
                  <a:srgbClr val="555555"/>
                </a:solidFill>
                <a:latin typeface="Calibri"/>
              </a:rPr>
              <a:t>STL decomposition, ADF/KPSS, ACF/PACF, transformations</a:t>
            </a:r>
          </a:p>
        </p:txBody>
      </p:sp>
      <p:sp>
        <p:nvSpPr>
          <p:cNvPr id="23" name="Rectangle 22"/>
          <p:cNvSpPr/>
          <p:nvPr/>
        </p:nvSpPr>
        <p:spPr>
          <a:xfrm>
            <a:off x="1188720" y="3703320"/>
            <a:ext cx="10241280" cy="6350"/>
          </a:xfrm>
          <a:prstGeom prst="rect">
            <a:avLst/>
          </a:prstGeom>
          <a:solidFill>
            <a:srgbClr val="D0D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931920"/>
            <a:ext cx="594360" cy="5943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986784"/>
            <a:ext cx="594360" cy="502920"/>
          </a:xfrm>
          <a:prstGeom prst="rect">
            <a:avLst/>
          </a:prstGeom>
          <a:noFill/>
        </p:spPr>
        <p:txBody>
          <a:bodyPr wrap="square">
            <a:spAutoFit/>
          </a:bodyPr>
          <a:lstStyle/>
          <a:p>
            <a:pPr algn="ctr">
              <a:spcAft>
                <a:spcPts val="0"/>
              </a:spcAft>
            </a:pPr>
            <a:r>
              <a:rPr sz="1800" b="1" i="0">
                <a:solidFill>
                  <a:srgbClr val="FFBF00"/>
                </a:solidFill>
                <a:latin typeface="Calibri"/>
              </a:rPr>
              <a:t>04</a:t>
            </a:r>
          </a:p>
        </p:txBody>
      </p:sp>
      <p:sp>
        <p:nvSpPr>
          <p:cNvPr id="26" name="TextBox 25"/>
          <p:cNvSpPr txBox="1"/>
          <p:nvPr/>
        </p:nvSpPr>
        <p:spPr>
          <a:xfrm>
            <a:off x="1188720" y="3931920"/>
            <a:ext cx="9144000" cy="365760"/>
          </a:xfrm>
          <a:prstGeom prst="rect">
            <a:avLst/>
          </a:prstGeom>
          <a:noFill/>
        </p:spPr>
        <p:txBody>
          <a:bodyPr wrap="square">
            <a:spAutoFit/>
          </a:bodyPr>
          <a:lstStyle/>
          <a:p>
            <a:pPr algn="l">
              <a:spcAft>
                <a:spcPts val="0"/>
              </a:spcAft>
            </a:pPr>
            <a:r>
              <a:rPr sz="1700" b="1" i="0">
                <a:solidFill>
                  <a:srgbClr val="1F4E79"/>
                </a:solidFill>
                <a:latin typeface="Calibri"/>
              </a:rPr>
              <a:t>Xây Dựng Mô Hình</a:t>
            </a:r>
          </a:p>
        </p:txBody>
      </p:sp>
      <p:sp>
        <p:nvSpPr>
          <p:cNvPr id="27" name="TextBox 26"/>
          <p:cNvSpPr txBox="1"/>
          <p:nvPr/>
        </p:nvSpPr>
        <p:spPr>
          <a:xfrm>
            <a:off x="1188720" y="4279392"/>
            <a:ext cx="9144000" cy="274320"/>
          </a:xfrm>
          <a:prstGeom prst="rect">
            <a:avLst/>
          </a:prstGeom>
          <a:noFill/>
        </p:spPr>
        <p:txBody>
          <a:bodyPr wrap="square">
            <a:spAutoFit/>
          </a:bodyPr>
          <a:lstStyle/>
          <a:p>
            <a:pPr algn="l">
              <a:spcAft>
                <a:spcPts val="0"/>
              </a:spcAft>
            </a:pPr>
            <a:r>
              <a:rPr sz="1200" b="0" i="0">
                <a:solidFill>
                  <a:srgbClr val="555555"/>
                </a:solidFill>
                <a:latin typeface="Calibri"/>
              </a:rPr>
              <a:t>SARIMA(1,1,1)(0,1,1)[7] → SARIMAX, residual diagnostics, forecast</a:t>
            </a:r>
          </a:p>
        </p:txBody>
      </p:sp>
      <p:sp>
        <p:nvSpPr>
          <p:cNvPr id="28" name="Rectangle 27"/>
          <p:cNvSpPr/>
          <p:nvPr/>
        </p:nvSpPr>
        <p:spPr>
          <a:xfrm>
            <a:off x="1188720" y="4572000"/>
            <a:ext cx="10241280" cy="6350"/>
          </a:xfrm>
          <a:prstGeom prst="rect">
            <a:avLst/>
          </a:prstGeom>
          <a:solidFill>
            <a:srgbClr val="D0D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4800600"/>
            <a:ext cx="594360" cy="5943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855464"/>
            <a:ext cx="594360" cy="502920"/>
          </a:xfrm>
          <a:prstGeom prst="rect">
            <a:avLst/>
          </a:prstGeom>
          <a:noFill/>
        </p:spPr>
        <p:txBody>
          <a:bodyPr wrap="square">
            <a:spAutoFit/>
          </a:bodyPr>
          <a:lstStyle/>
          <a:p>
            <a:pPr algn="ctr">
              <a:spcAft>
                <a:spcPts val="0"/>
              </a:spcAft>
            </a:pPr>
            <a:r>
              <a:rPr sz="1800" b="1" i="0">
                <a:solidFill>
                  <a:srgbClr val="FFBF00"/>
                </a:solidFill>
                <a:latin typeface="Calibri"/>
              </a:rPr>
              <a:t>05</a:t>
            </a:r>
          </a:p>
        </p:txBody>
      </p:sp>
      <p:sp>
        <p:nvSpPr>
          <p:cNvPr id="31" name="TextBox 30"/>
          <p:cNvSpPr txBox="1"/>
          <p:nvPr/>
        </p:nvSpPr>
        <p:spPr>
          <a:xfrm>
            <a:off x="1188720" y="4800600"/>
            <a:ext cx="9144000" cy="365760"/>
          </a:xfrm>
          <a:prstGeom prst="rect">
            <a:avLst/>
          </a:prstGeom>
          <a:noFill/>
        </p:spPr>
        <p:txBody>
          <a:bodyPr wrap="square">
            <a:spAutoFit/>
          </a:bodyPr>
          <a:lstStyle/>
          <a:p>
            <a:pPr algn="l">
              <a:spcAft>
                <a:spcPts val="0"/>
              </a:spcAft>
            </a:pPr>
            <a:r>
              <a:rPr sz="1700" b="1" i="0">
                <a:solidFill>
                  <a:srgbClr val="1F4E79"/>
                </a:solidFill>
                <a:latin typeface="Calibri"/>
              </a:rPr>
              <a:t>Phân Công &amp; Kế Hoạch</a:t>
            </a:r>
          </a:p>
        </p:txBody>
      </p:sp>
      <p:sp>
        <p:nvSpPr>
          <p:cNvPr id="32" name="TextBox 31"/>
          <p:cNvSpPr txBox="1"/>
          <p:nvPr/>
        </p:nvSpPr>
        <p:spPr>
          <a:xfrm>
            <a:off x="1188720" y="5148072"/>
            <a:ext cx="9144000" cy="274320"/>
          </a:xfrm>
          <a:prstGeom prst="rect">
            <a:avLst/>
          </a:prstGeom>
          <a:noFill/>
        </p:spPr>
        <p:txBody>
          <a:bodyPr wrap="square">
            <a:spAutoFit/>
          </a:bodyPr>
          <a:lstStyle/>
          <a:p>
            <a:pPr algn="l">
              <a:spcAft>
                <a:spcPts val="0"/>
              </a:spcAft>
            </a:pPr>
            <a:r>
              <a:rPr sz="1200" b="0" i="0">
                <a:solidFill>
                  <a:srgbClr val="555555"/>
                </a:solidFill>
                <a:latin typeface="Calibri"/>
              </a:rPr>
              <a:t>Timeline tuần 6–8, công việc còn lại</a:t>
            </a:r>
          </a:p>
        </p:txBody>
      </p:sp>
      <p:sp>
        <p:nvSpPr>
          <p:cNvPr id="33" name="Rectangle 32"/>
          <p:cNvSpPr/>
          <p:nvPr/>
        </p:nvSpPr>
        <p:spPr>
          <a:xfrm>
            <a:off x="1188720" y="5440680"/>
            <a:ext cx="10241280" cy="6350"/>
          </a:xfrm>
          <a:prstGeom prst="rect">
            <a:avLst/>
          </a:prstGeom>
          <a:solidFill>
            <a:srgbClr val="D0D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Problem Statement &amp; Motivation</a:t>
            </a:r>
          </a:p>
        </p:txBody>
      </p:sp>
      <p:sp>
        <p:nvSpPr>
          <p:cNvPr id="6" name="TextBox 5"/>
          <p:cNvSpPr txBox="1"/>
          <p:nvPr/>
        </p:nvSpPr>
        <p:spPr>
          <a:xfrm>
            <a:off x="365760" y="640080"/>
            <a:ext cx="10972800" cy="347472"/>
          </a:xfrm>
          <a:prstGeom prst="rect">
            <a:avLst/>
          </a:prstGeom>
          <a:noFill/>
        </p:spPr>
        <p:txBody>
          <a:bodyPr wrap="square">
            <a:spAutoFit/>
          </a:bodyPr>
          <a:lstStyle/>
          <a:p>
            <a:pPr algn="l">
              <a:spcAft>
                <a:spcPts val="0"/>
              </a:spcAft>
            </a:pPr>
            <a:r>
              <a:rPr sz="1300" b="0" i="0">
                <a:solidFill>
                  <a:srgbClr val="BDD7EE"/>
                </a:solidFill>
                <a:latin typeface="Calibri"/>
              </a:rPr>
              <a:t>Câu hỏi nghiên cứu và bối cảnh thực tiễn</a:t>
            </a:r>
          </a:p>
        </p:txBody>
      </p:sp>
      <p:sp>
        <p:nvSpPr>
          <p:cNvPr id="7" name="Rectangle 6"/>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9" name="TextBox 8"/>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3 / 14</a:t>
            </a:r>
          </a:p>
        </p:txBody>
      </p:sp>
      <p:sp>
        <p:nvSpPr>
          <p:cNvPr id="10" name="Rectangle 9"/>
          <p:cNvSpPr/>
          <p:nvPr/>
        </p:nvSpPr>
        <p:spPr>
          <a:xfrm>
            <a:off x="365760" y="1143000"/>
            <a:ext cx="11430000" cy="960120"/>
          </a:xfrm>
          <a:prstGeom prst="rect">
            <a:avLst/>
          </a:prstGeom>
          <a:solidFill>
            <a:srgbClr val="BD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1143000"/>
            <a:ext cx="54864" cy="9601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188720"/>
            <a:ext cx="10972800" cy="347472"/>
          </a:xfrm>
          <a:prstGeom prst="rect">
            <a:avLst/>
          </a:prstGeom>
          <a:noFill/>
        </p:spPr>
        <p:txBody>
          <a:bodyPr wrap="square">
            <a:spAutoFit/>
          </a:bodyPr>
          <a:lstStyle/>
          <a:p>
            <a:pPr algn="l">
              <a:spcAft>
                <a:spcPts val="0"/>
              </a:spcAft>
            </a:pPr>
            <a:r>
              <a:rPr sz="1300" b="1" i="0">
                <a:solidFill>
                  <a:srgbClr val="2E75B6"/>
                </a:solidFill>
                <a:latin typeface="Calibri"/>
              </a:rPr>
              <a:t>🔍  Câu hỏi nghiên cứu</a:t>
            </a:r>
          </a:p>
        </p:txBody>
      </p:sp>
      <p:sp>
        <p:nvSpPr>
          <p:cNvPr id="13" name="TextBox 12"/>
          <p:cNvSpPr txBox="1"/>
          <p:nvPr/>
        </p:nvSpPr>
        <p:spPr>
          <a:xfrm>
            <a:off x="548640" y="1527048"/>
            <a:ext cx="11064240" cy="502920"/>
          </a:xfrm>
          <a:prstGeom prst="rect">
            <a:avLst/>
          </a:prstGeom>
          <a:noFill/>
        </p:spPr>
        <p:txBody>
          <a:bodyPr wrap="square">
            <a:spAutoFit/>
          </a:bodyPr>
          <a:lstStyle/>
          <a:p>
            <a:pPr algn="l">
              <a:spcAft>
                <a:spcPts val="0"/>
              </a:spcAft>
            </a:pPr>
            <a:r>
              <a:rPr sz="1300" b="0" i="1">
                <a:solidFill>
                  <a:srgbClr val="1A1A1A"/>
                </a:solidFill>
                <a:latin typeface="Calibri"/>
              </a:rPr>
              <a:t>Liệu mô hình SARIMA/SARIMAX với chu kỳ tuần (s = 7) có thể nắm bắt đầy đủ cấu trúc thời gian của chuỗi doanh số thực phẩm tươi tổng hợp, và covariate nào (thời tiết, khuyến mãi, lễ) cải thiện độ chính xác dự báo?</a:t>
            </a:r>
          </a:p>
        </p:txBody>
      </p:sp>
      <p:sp>
        <p:nvSpPr>
          <p:cNvPr id="14" name="Rectangle 13"/>
          <p:cNvSpPr/>
          <p:nvPr/>
        </p:nvSpPr>
        <p:spPr>
          <a:xfrm>
            <a:off x="365760" y="2286000"/>
            <a:ext cx="2743200"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2311400"/>
            <a:ext cx="2651760" cy="320040"/>
          </a:xfrm>
          <a:prstGeom prst="rect">
            <a:avLst/>
          </a:prstGeom>
          <a:noFill/>
        </p:spPr>
        <p:txBody>
          <a:bodyPr wrap="square">
            <a:spAutoFit/>
          </a:bodyPr>
          <a:lstStyle/>
          <a:p>
            <a:pPr algn="l">
              <a:spcAft>
                <a:spcPts val="0"/>
              </a:spcAft>
            </a:pPr>
            <a:r>
              <a:rPr sz="1200" b="1" i="0">
                <a:solidFill>
                  <a:srgbClr val="FFFFFF"/>
                </a:solidFill>
                <a:latin typeface="Calibri"/>
              </a:rPr>
              <a:t>⚠  Tại sao quan trọng?</a:t>
            </a:r>
          </a:p>
        </p:txBody>
      </p:sp>
      <p:sp>
        <p:nvSpPr>
          <p:cNvPr id="16" name="TextBox 15"/>
          <p:cNvSpPr txBox="1"/>
          <p:nvPr/>
        </p:nvSpPr>
        <p:spPr>
          <a:xfrm>
            <a:off x="365760" y="2697480"/>
            <a:ext cx="5394960" cy="3200400"/>
          </a:xfrm>
          <a:prstGeom prst="rect">
            <a:avLst/>
          </a:prstGeom>
          <a:noFill/>
        </p:spPr>
        <p:txBody>
          <a:bodyPr wrap="square">
            <a:spAutoFit/>
          </a:bodyPr>
          <a:lstStyle/>
          <a:p>
            <a:pPr>
              <a:spcAft>
                <a:spcPts val="900"/>
              </a:spcAft>
            </a:pPr>
            <a:r>
              <a:rPr sz="1400">
                <a:solidFill>
                  <a:srgbClr val="1A1A1A"/>
                </a:solidFill>
                <a:latin typeface="Calibri"/>
              </a:rPr>
              <a:t>▸  Thực phẩm tươi: shelf life 1–3 ngày</a:t>
            </a:r>
          </a:p>
          <a:p>
            <a:pPr>
              <a:spcAft>
                <a:spcPts val="900"/>
              </a:spcAft>
            </a:pPr>
            <a:r>
              <a:rPr sz="1400">
                <a:solidFill>
                  <a:srgbClr val="1A1A1A"/>
                </a:solidFill>
                <a:latin typeface="Calibri"/>
              </a:rPr>
              <a:t>▸  Over-stock → hỏng hàng, lãng phí thực phẩm</a:t>
            </a:r>
          </a:p>
          <a:p>
            <a:pPr>
              <a:spcAft>
                <a:spcPts val="900"/>
              </a:spcAft>
            </a:pPr>
            <a:r>
              <a:rPr sz="1400">
                <a:solidFill>
                  <a:srgbClr val="1A1A1A"/>
                </a:solidFill>
                <a:latin typeface="Calibri"/>
              </a:rPr>
              <a:t>▸  Under-stock → hết hàng, mất doanh thu</a:t>
            </a:r>
          </a:p>
          <a:p>
            <a:pPr>
              <a:spcAft>
                <a:spcPts val="900"/>
              </a:spcAft>
            </a:pPr>
            <a:r>
              <a:rPr sz="1400">
                <a:solidFill>
                  <a:srgbClr val="1A1A1A"/>
                </a:solidFill>
                <a:latin typeface="Calibri"/>
              </a:rPr>
              <a:t>▸  Dự báo chính xác = giảm thiệt hại kép</a:t>
            </a:r>
          </a:p>
        </p:txBody>
      </p:sp>
      <p:sp>
        <p:nvSpPr>
          <p:cNvPr id="17" name="Rectangle 16"/>
          <p:cNvSpPr/>
          <p:nvPr/>
        </p:nvSpPr>
        <p:spPr>
          <a:xfrm>
            <a:off x="6126480" y="2286000"/>
            <a:ext cx="5669280" cy="36576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286000"/>
            <a:ext cx="566928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2311400"/>
            <a:ext cx="5577840" cy="320040"/>
          </a:xfrm>
          <a:prstGeom prst="rect">
            <a:avLst/>
          </a:prstGeom>
          <a:noFill/>
        </p:spPr>
        <p:txBody>
          <a:bodyPr wrap="square">
            <a:spAutoFit/>
          </a:bodyPr>
          <a:lstStyle/>
          <a:p>
            <a:pPr algn="l">
              <a:spcAft>
                <a:spcPts val="0"/>
              </a:spcAft>
            </a:pPr>
            <a:r>
              <a:rPr sz="1200" b="1" i="0">
                <a:solidFill>
                  <a:srgbClr val="FFFFFF"/>
                </a:solidFill>
                <a:latin typeface="Calibri"/>
              </a:rPr>
              <a:t>📌  Censored Demand — Thách thức chính</a:t>
            </a:r>
          </a:p>
        </p:txBody>
      </p:sp>
      <p:sp>
        <p:nvSpPr>
          <p:cNvPr id="20" name="TextBox 19"/>
          <p:cNvSpPr txBox="1"/>
          <p:nvPr/>
        </p:nvSpPr>
        <p:spPr>
          <a:xfrm>
            <a:off x="6217920" y="2697480"/>
            <a:ext cx="5394960" cy="3108960"/>
          </a:xfrm>
          <a:prstGeom prst="rect">
            <a:avLst/>
          </a:prstGeom>
          <a:noFill/>
        </p:spPr>
        <p:txBody>
          <a:bodyPr wrap="square">
            <a:spAutoFit/>
          </a:bodyPr>
          <a:lstStyle/>
          <a:p>
            <a:pPr algn="l">
              <a:spcAft>
                <a:spcPts val="500"/>
              </a:spcAft>
            </a:pPr>
            <a:r>
              <a:rPr sz="1300" b="0">
                <a:solidFill>
                  <a:srgbClr val="1A1A1A"/>
                </a:solidFill>
                <a:latin typeface="Calibri"/>
              </a:rPr>
              <a:t>Khi hàng hết trong ngày (stockout),</a:t>
            </a:r>
          </a:p>
          <a:p>
            <a:pPr algn="l">
              <a:spcAft>
                <a:spcPts val="500"/>
              </a:spcAft>
            </a:pPr>
            <a:r>
              <a:rPr sz="1400" b="1">
                <a:solidFill>
                  <a:srgbClr val="C0392B"/>
                </a:solidFill>
                <a:latin typeface="Calibri"/>
              </a:rPr>
              <a:t>doanh số ghi nhận  &lt;  nhu cầu thực tế.</a:t>
            </a:r>
          </a:p>
          <a:p>
            <a:pPr algn="l">
              <a:spcAft>
                <a:spcPts val="500"/>
              </a:spcAft>
            </a:pPr>
            <a:r>
              <a:rPr sz="800" b="0">
                <a:solidFill>
                  <a:srgbClr val="FFFFFF"/>
                </a:solidFill>
                <a:latin typeface="Calibri"/>
              </a:rPr>
              <a:t/>
            </a:r>
          </a:p>
          <a:p>
            <a:pPr algn="l">
              <a:spcAft>
                <a:spcPts val="500"/>
              </a:spcAft>
            </a:pPr>
            <a:r>
              <a:rPr sz="1300" b="0">
                <a:solidFill>
                  <a:srgbClr val="1A1A1A"/>
                </a:solidFill>
                <a:latin typeface="Calibri"/>
              </a:rPr>
              <a:t>▸  ~65% quan sát có dấu hiệu stockout</a:t>
            </a:r>
          </a:p>
          <a:p>
            <a:pPr algn="l">
              <a:spcAft>
                <a:spcPts val="500"/>
              </a:spcAft>
            </a:pPr>
            <a:r>
              <a:rPr sz="1300" b="0">
                <a:solidFill>
                  <a:srgbClr val="1A1A1A"/>
                </a:solidFill>
                <a:latin typeface="Calibri"/>
              </a:rPr>
              <a:t>▸  Forecast từ SARIMA = cận dưới nhu cầu</a:t>
            </a:r>
          </a:p>
          <a:p>
            <a:pPr algn="l">
              <a:spcAft>
                <a:spcPts val="500"/>
              </a:spcAft>
            </a:pPr>
            <a:r>
              <a:rPr sz="1300" b="0">
                <a:solidFill>
                  <a:srgbClr val="555555"/>
                </a:solidFill>
                <a:latin typeface="Calibri"/>
              </a:rPr>
              <a:t>▸  Cần Tobit-correction ở tuần tiếp theo</a:t>
            </a:r>
          </a:p>
          <a:p>
            <a:pPr algn="l">
              <a:spcAft>
                <a:spcPts val="500"/>
              </a:spcAft>
            </a:pPr>
            <a:r>
              <a:rPr sz="800" b="0">
                <a:solidFill>
                  <a:srgbClr val="FFFFFF"/>
                </a:solidFill>
                <a:latin typeface="Calibri"/>
              </a:rPr>
              <a:t/>
            </a:r>
          </a:p>
          <a:p>
            <a:pPr algn="l">
              <a:spcAft>
                <a:spcPts val="300"/>
              </a:spcAft>
            </a:pPr>
            <a:r>
              <a:rPr sz="1200" b="1">
                <a:solidFill>
                  <a:srgbClr val="2E75B6"/>
                </a:solidFill>
                <a:latin typeface="Calibri"/>
              </a:rPr>
              <a:t>stock_hour6_22_cnt &lt; 16  →  Stockout proxy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Mô Tả Dữ Liệu</a:t>
            </a:r>
          </a:p>
        </p:txBody>
      </p:sp>
      <p:sp>
        <p:nvSpPr>
          <p:cNvPr id="6" name="TextBox 5"/>
          <p:cNvSpPr txBox="1"/>
          <p:nvPr/>
        </p:nvSpPr>
        <p:spPr>
          <a:xfrm>
            <a:off x="365760" y="640080"/>
            <a:ext cx="10972800" cy="347472"/>
          </a:xfrm>
          <a:prstGeom prst="rect">
            <a:avLst/>
          </a:prstGeom>
          <a:noFill/>
        </p:spPr>
        <p:txBody>
          <a:bodyPr wrap="square">
            <a:spAutoFit/>
          </a:bodyPr>
          <a:lstStyle/>
          <a:p>
            <a:pPr algn="l">
              <a:spcAft>
                <a:spcPts val="0"/>
              </a:spcAft>
            </a:pPr>
            <a:r>
              <a:rPr sz="1300" b="0" i="0">
                <a:solidFill>
                  <a:srgbClr val="BDD7EE"/>
                </a:solidFill>
                <a:latin typeface="Calibri"/>
              </a:rPr>
              <a:t>FreshRetailNet-50K — Dingdong Inc. | CC-BY-4.0 | ArXiv 2505.16319</a:t>
            </a:r>
          </a:p>
        </p:txBody>
      </p:sp>
      <p:sp>
        <p:nvSpPr>
          <p:cNvPr id="7" name="Rectangle 6"/>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9" name="TextBox 8"/>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4 / 14</a:t>
            </a:r>
          </a:p>
        </p:txBody>
      </p:sp>
      <p:sp>
        <p:nvSpPr>
          <p:cNvPr id="10" name="Rectangle 9"/>
          <p:cNvSpPr/>
          <p:nvPr/>
        </p:nvSpPr>
        <p:spPr>
          <a:xfrm>
            <a:off x="320040" y="1234440"/>
            <a:ext cx="2148840" cy="8686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280160"/>
            <a:ext cx="2148840" cy="475488"/>
          </a:xfrm>
          <a:prstGeom prst="rect">
            <a:avLst/>
          </a:prstGeom>
          <a:noFill/>
        </p:spPr>
        <p:txBody>
          <a:bodyPr wrap="square">
            <a:spAutoFit/>
          </a:bodyPr>
          <a:lstStyle/>
          <a:p>
            <a:pPr algn="ctr">
              <a:spcAft>
                <a:spcPts val="0"/>
              </a:spcAft>
            </a:pPr>
            <a:r>
              <a:rPr sz="2600" b="1" i="0">
                <a:solidFill>
                  <a:srgbClr val="FFBF00"/>
                </a:solidFill>
                <a:latin typeface="Calibri"/>
              </a:rPr>
              <a:t>4.85 Triệu</a:t>
            </a:r>
          </a:p>
        </p:txBody>
      </p:sp>
      <p:sp>
        <p:nvSpPr>
          <p:cNvPr id="12" name="TextBox 11"/>
          <p:cNvSpPr txBox="1"/>
          <p:nvPr/>
        </p:nvSpPr>
        <p:spPr>
          <a:xfrm>
            <a:off x="320040" y="1737360"/>
            <a:ext cx="2148840" cy="384048"/>
          </a:xfrm>
          <a:prstGeom prst="rect">
            <a:avLst/>
          </a:prstGeom>
          <a:noFill/>
        </p:spPr>
        <p:txBody>
          <a:bodyPr wrap="square">
            <a:spAutoFit/>
          </a:bodyPr>
          <a:lstStyle/>
          <a:p>
            <a:pPr algn="ctr">
              <a:spcAft>
                <a:spcPts val="0"/>
              </a:spcAft>
            </a:pPr>
            <a:r>
              <a:rPr sz="1100" b="0" i="0">
                <a:solidFill>
                  <a:srgbClr val="BDD7EE"/>
                </a:solidFill>
                <a:latin typeface="Calibri"/>
              </a:rPr>
              <a:t>Tổng số dòng (train)</a:t>
            </a:r>
          </a:p>
        </p:txBody>
      </p:sp>
      <p:sp>
        <p:nvSpPr>
          <p:cNvPr id="13" name="Rectangle 12"/>
          <p:cNvSpPr/>
          <p:nvPr/>
        </p:nvSpPr>
        <p:spPr>
          <a:xfrm>
            <a:off x="2578608" y="1234440"/>
            <a:ext cx="2148840" cy="8686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78608" y="1280160"/>
            <a:ext cx="2148840" cy="475488"/>
          </a:xfrm>
          <a:prstGeom prst="rect">
            <a:avLst/>
          </a:prstGeom>
          <a:noFill/>
        </p:spPr>
        <p:txBody>
          <a:bodyPr wrap="square">
            <a:spAutoFit/>
          </a:bodyPr>
          <a:lstStyle/>
          <a:p>
            <a:pPr algn="ctr">
              <a:spcAft>
                <a:spcPts val="0"/>
              </a:spcAft>
            </a:pPr>
            <a:r>
              <a:rPr sz="2600" b="1" i="0">
                <a:solidFill>
                  <a:srgbClr val="FFBF00"/>
                </a:solidFill>
                <a:latin typeface="Calibri"/>
              </a:rPr>
              <a:t>90 Ngày</a:t>
            </a:r>
          </a:p>
        </p:txBody>
      </p:sp>
      <p:sp>
        <p:nvSpPr>
          <p:cNvPr id="15" name="TextBox 14"/>
          <p:cNvSpPr txBox="1"/>
          <p:nvPr/>
        </p:nvSpPr>
        <p:spPr>
          <a:xfrm>
            <a:off x="2578608" y="1737360"/>
            <a:ext cx="2148840" cy="384048"/>
          </a:xfrm>
          <a:prstGeom prst="rect">
            <a:avLst/>
          </a:prstGeom>
          <a:noFill/>
        </p:spPr>
        <p:txBody>
          <a:bodyPr wrap="square">
            <a:spAutoFit/>
          </a:bodyPr>
          <a:lstStyle/>
          <a:p>
            <a:pPr algn="ctr">
              <a:spcAft>
                <a:spcPts val="0"/>
              </a:spcAft>
            </a:pPr>
            <a:r>
              <a:rPr sz="1100" b="0" i="0">
                <a:solidFill>
                  <a:srgbClr val="BDD7EE"/>
                </a:solidFill>
                <a:latin typeface="Calibri"/>
              </a:rPr>
              <a:t>Tháng 3 – 6 / 2024</a:t>
            </a:r>
          </a:p>
        </p:txBody>
      </p:sp>
      <p:sp>
        <p:nvSpPr>
          <p:cNvPr id="16" name="Rectangle 15"/>
          <p:cNvSpPr/>
          <p:nvPr/>
        </p:nvSpPr>
        <p:spPr>
          <a:xfrm>
            <a:off x="4837176" y="1234440"/>
            <a:ext cx="2148840" cy="8686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37176" y="1280160"/>
            <a:ext cx="2148840" cy="475488"/>
          </a:xfrm>
          <a:prstGeom prst="rect">
            <a:avLst/>
          </a:prstGeom>
          <a:noFill/>
        </p:spPr>
        <p:txBody>
          <a:bodyPr wrap="square">
            <a:spAutoFit/>
          </a:bodyPr>
          <a:lstStyle/>
          <a:p>
            <a:pPr algn="ctr">
              <a:spcAft>
                <a:spcPts val="0"/>
              </a:spcAft>
            </a:pPr>
            <a:r>
              <a:rPr sz="2600" b="1" i="0">
                <a:solidFill>
                  <a:srgbClr val="FFBF00"/>
                </a:solidFill>
                <a:latin typeface="Calibri"/>
              </a:rPr>
              <a:t>50 K+</a:t>
            </a:r>
          </a:p>
        </p:txBody>
      </p:sp>
      <p:sp>
        <p:nvSpPr>
          <p:cNvPr id="18" name="TextBox 17"/>
          <p:cNvSpPr txBox="1"/>
          <p:nvPr/>
        </p:nvSpPr>
        <p:spPr>
          <a:xfrm>
            <a:off x="4837176" y="1737360"/>
            <a:ext cx="2148840" cy="384048"/>
          </a:xfrm>
          <a:prstGeom prst="rect">
            <a:avLst/>
          </a:prstGeom>
          <a:noFill/>
        </p:spPr>
        <p:txBody>
          <a:bodyPr wrap="square">
            <a:spAutoFit/>
          </a:bodyPr>
          <a:lstStyle/>
          <a:p>
            <a:pPr algn="ctr">
              <a:spcAft>
                <a:spcPts val="0"/>
              </a:spcAft>
            </a:pPr>
            <a:r>
              <a:rPr sz="1100" b="0" i="0">
                <a:solidFill>
                  <a:srgbClr val="BDD7EE"/>
                </a:solidFill>
                <a:latin typeface="Calibri"/>
              </a:rPr>
              <a:t>Cặp SKU–Cửa hàng</a:t>
            </a:r>
          </a:p>
        </p:txBody>
      </p:sp>
      <p:sp>
        <p:nvSpPr>
          <p:cNvPr id="19" name="Rectangle 18"/>
          <p:cNvSpPr/>
          <p:nvPr/>
        </p:nvSpPr>
        <p:spPr>
          <a:xfrm>
            <a:off x="7095744" y="1234440"/>
            <a:ext cx="2148840" cy="8686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80160"/>
            <a:ext cx="2148840" cy="475488"/>
          </a:xfrm>
          <a:prstGeom prst="rect">
            <a:avLst/>
          </a:prstGeom>
          <a:noFill/>
        </p:spPr>
        <p:txBody>
          <a:bodyPr wrap="square">
            <a:spAutoFit/>
          </a:bodyPr>
          <a:lstStyle/>
          <a:p>
            <a:pPr algn="ctr">
              <a:spcAft>
                <a:spcPts val="0"/>
              </a:spcAft>
            </a:pPr>
            <a:r>
              <a:rPr sz="2600" b="1" i="0">
                <a:solidFill>
                  <a:srgbClr val="FFBF00"/>
                </a:solidFill>
                <a:latin typeface="Calibri"/>
              </a:rPr>
              <a:t>19 Cột</a:t>
            </a:r>
          </a:p>
        </p:txBody>
      </p:sp>
      <p:sp>
        <p:nvSpPr>
          <p:cNvPr id="21" name="TextBox 20"/>
          <p:cNvSpPr txBox="1"/>
          <p:nvPr/>
        </p:nvSpPr>
        <p:spPr>
          <a:xfrm>
            <a:off x="7095744" y="1737360"/>
            <a:ext cx="2148840" cy="384048"/>
          </a:xfrm>
          <a:prstGeom prst="rect">
            <a:avLst/>
          </a:prstGeom>
          <a:noFill/>
        </p:spPr>
        <p:txBody>
          <a:bodyPr wrap="square">
            <a:spAutoFit/>
          </a:bodyPr>
          <a:lstStyle/>
          <a:p>
            <a:pPr algn="ctr">
              <a:spcAft>
                <a:spcPts val="0"/>
              </a:spcAft>
            </a:pPr>
            <a:r>
              <a:rPr sz="1100" b="0" i="0">
                <a:solidFill>
                  <a:srgbClr val="BDD7EE"/>
                </a:solidFill>
                <a:latin typeface="Calibri"/>
              </a:rPr>
              <a:t>Biến đặc trưng</a:t>
            </a:r>
          </a:p>
        </p:txBody>
      </p:sp>
      <p:sp>
        <p:nvSpPr>
          <p:cNvPr id="22" name="Rectangle 21"/>
          <p:cNvSpPr/>
          <p:nvPr/>
        </p:nvSpPr>
        <p:spPr>
          <a:xfrm>
            <a:off x="9354312" y="1234440"/>
            <a:ext cx="2148840" cy="8686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54312" y="1280160"/>
            <a:ext cx="2148840" cy="475488"/>
          </a:xfrm>
          <a:prstGeom prst="rect">
            <a:avLst/>
          </a:prstGeom>
          <a:noFill/>
        </p:spPr>
        <p:txBody>
          <a:bodyPr wrap="square">
            <a:spAutoFit/>
          </a:bodyPr>
          <a:lstStyle/>
          <a:p>
            <a:pPr algn="ctr">
              <a:spcAft>
                <a:spcPts val="0"/>
              </a:spcAft>
            </a:pPr>
            <a:r>
              <a:rPr sz="2600" b="1" i="0">
                <a:solidFill>
                  <a:srgbClr val="FFBF00"/>
                </a:solidFill>
                <a:latin typeface="Calibri"/>
              </a:rPr>
              <a:t>Hằng ngày</a:t>
            </a:r>
          </a:p>
        </p:txBody>
      </p:sp>
      <p:sp>
        <p:nvSpPr>
          <p:cNvPr id="24" name="TextBox 23"/>
          <p:cNvSpPr txBox="1"/>
          <p:nvPr/>
        </p:nvSpPr>
        <p:spPr>
          <a:xfrm>
            <a:off x="9354312" y="1737360"/>
            <a:ext cx="2148840" cy="384048"/>
          </a:xfrm>
          <a:prstGeom prst="rect">
            <a:avLst/>
          </a:prstGeom>
          <a:noFill/>
        </p:spPr>
        <p:txBody>
          <a:bodyPr wrap="square">
            <a:spAutoFit/>
          </a:bodyPr>
          <a:lstStyle/>
          <a:p>
            <a:pPr algn="ctr">
              <a:spcAft>
                <a:spcPts val="0"/>
              </a:spcAft>
            </a:pPr>
            <a:r>
              <a:rPr sz="1100" b="0" i="0">
                <a:solidFill>
                  <a:srgbClr val="BDD7EE"/>
                </a:solidFill>
                <a:latin typeface="Calibri"/>
              </a:rPr>
              <a:t>Tần suất + phân giải giờ</a:t>
            </a:r>
          </a:p>
        </p:txBody>
      </p:sp>
      <p:sp>
        <p:nvSpPr>
          <p:cNvPr id="25" name="Rectangle 24"/>
          <p:cNvSpPr/>
          <p:nvPr/>
        </p:nvSpPr>
        <p:spPr>
          <a:xfrm>
            <a:off x="320040" y="2304288"/>
            <a:ext cx="27432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 y="2329688"/>
            <a:ext cx="2651760" cy="320040"/>
          </a:xfrm>
          <a:prstGeom prst="rect">
            <a:avLst/>
          </a:prstGeom>
          <a:noFill/>
        </p:spPr>
        <p:txBody>
          <a:bodyPr wrap="square">
            <a:spAutoFit/>
          </a:bodyPr>
          <a:lstStyle/>
          <a:p>
            <a:pPr algn="l">
              <a:spcAft>
                <a:spcPts val="0"/>
              </a:spcAft>
            </a:pPr>
            <a:r>
              <a:rPr sz="1200" b="1" i="0">
                <a:solidFill>
                  <a:srgbClr val="FFFFFF"/>
                </a:solidFill>
                <a:latin typeface="Calibri"/>
              </a:rPr>
              <a:t>📋  Cột dữ liệu chính</a:t>
            </a:r>
          </a:p>
        </p:txBody>
      </p:sp>
      <p:graphicFrame>
        <p:nvGraphicFramePr>
          <p:cNvPr id="27" name="Table 26"/>
          <p:cNvGraphicFramePr>
            <a:graphicFrameLocks noGrp="1"/>
          </p:cNvGraphicFramePr>
          <p:nvPr/>
        </p:nvGraphicFramePr>
        <p:xfrm>
          <a:off x="320040" y="2670048"/>
          <a:ext cx="11521440" cy="3429000"/>
        </p:xfrm>
        <a:graphic>
          <a:graphicData uri="http://schemas.openxmlformats.org/drawingml/2006/table">
            <a:tbl>
              <a:tblPr firstRow="1" bandRow="1">
                <a:tableStyleId>{5C22544A-7EE6-4342-B048-85BDC9FD1C3A}</a:tableStyleId>
              </a:tblPr>
              <a:tblGrid>
                <a:gridCol w="2286000"/>
                <a:gridCol w="1645920"/>
                <a:gridCol w="7589520"/>
              </a:tblGrid>
              <a:tr h="381000">
                <a:tc>
                  <a:txBody>
                    <a:bodyPr/>
                    <a:lstStyle/>
                    <a:p>
                      <a:pPr algn="ctr"/>
                      <a:r>
                        <a:rPr sz="1200" b="1">
                          <a:solidFill>
                            <a:srgbClr val="FFFFFF"/>
                          </a:solidFill>
                          <a:latin typeface="Calibri"/>
                        </a:rPr>
                        <a:t>Cột</a:t>
                      </a:r>
                    </a:p>
                  </a:txBody>
                  <a:tcPr>
                    <a:solidFill>
                      <a:srgbClr val="1F4E79"/>
                    </a:solidFill>
                  </a:tcPr>
                </a:tc>
                <a:tc>
                  <a:txBody>
                    <a:bodyPr/>
                    <a:lstStyle/>
                    <a:p>
                      <a:pPr algn="ctr"/>
                      <a:r>
                        <a:rPr sz="1200" b="1">
                          <a:solidFill>
                            <a:srgbClr val="FFFFFF"/>
                          </a:solidFill>
                          <a:latin typeface="Calibri"/>
                        </a:rPr>
                        <a:t>Kiểu</a:t>
                      </a:r>
                    </a:p>
                  </a:txBody>
                  <a:tcPr>
                    <a:solidFill>
                      <a:srgbClr val="1F4E79"/>
                    </a:solidFill>
                  </a:tcPr>
                </a:tc>
                <a:tc>
                  <a:txBody>
                    <a:bodyPr/>
                    <a:lstStyle/>
                    <a:p>
                      <a:pPr algn="ctr"/>
                      <a:r>
                        <a:rPr sz="1200" b="1">
                          <a:solidFill>
                            <a:srgbClr val="FFFFFF"/>
                          </a:solidFill>
                          <a:latin typeface="Calibri"/>
                        </a:rPr>
                        <a:t>Ý nghĩa</a:t>
                      </a:r>
                    </a:p>
                  </a:txBody>
                  <a:tcPr>
                    <a:solidFill>
                      <a:srgbClr val="1F4E79"/>
                    </a:solidFill>
                  </a:tcPr>
                </a:tc>
              </a:tr>
              <a:tr h="381000">
                <a:tc>
                  <a:txBody>
                    <a:bodyPr/>
                    <a:lstStyle/>
                    <a:p>
                      <a:pPr algn="l"/>
                      <a:r>
                        <a:rPr sz="1100" b="0">
                          <a:solidFill>
                            <a:srgbClr val="1A1A1A"/>
                          </a:solidFill>
                          <a:latin typeface="Calibri"/>
                        </a:rPr>
                        <a:t>dt</a:t>
                      </a:r>
                    </a:p>
                  </a:txBody>
                  <a:tcPr>
                    <a:solidFill>
                      <a:srgbClr val="FFFFFF"/>
                    </a:solidFill>
                  </a:tcPr>
                </a:tc>
                <a:tc>
                  <a:txBody>
                    <a:bodyPr/>
                    <a:lstStyle/>
                    <a:p>
                      <a:pPr algn="ctr"/>
                      <a:r>
                        <a:rPr sz="1100" b="0">
                          <a:solidFill>
                            <a:srgbClr val="1A1A1A"/>
                          </a:solidFill>
                          <a:latin typeface="Calibri"/>
                        </a:rPr>
                        <a:t>string → datetime</a:t>
                      </a:r>
                    </a:p>
                  </a:txBody>
                  <a:tcPr>
                    <a:solidFill>
                      <a:srgbClr val="FFFFFF"/>
                    </a:solidFill>
                  </a:tcPr>
                </a:tc>
                <a:tc>
                  <a:txBody>
                    <a:bodyPr/>
                    <a:lstStyle/>
                    <a:p>
                      <a:pPr algn="ctr"/>
                      <a:r>
                        <a:rPr sz="1100" b="0">
                          <a:solidFill>
                            <a:srgbClr val="1A1A1A"/>
                          </a:solidFill>
                          <a:latin typeface="Calibri"/>
                        </a:rPr>
                        <a:t>Chỉ số thời gian</a:t>
                      </a:r>
                    </a:p>
                  </a:txBody>
                  <a:tcPr>
                    <a:solidFill>
                      <a:srgbClr val="FFFFFF"/>
                    </a:solidFill>
                  </a:tcPr>
                </a:tc>
              </a:tr>
              <a:tr h="381000">
                <a:tc>
                  <a:txBody>
                    <a:bodyPr/>
                    <a:lstStyle/>
                    <a:p>
                      <a:pPr algn="l"/>
                      <a:r>
                        <a:rPr sz="1100" b="0">
                          <a:solidFill>
                            <a:srgbClr val="1A1A1A"/>
                          </a:solidFill>
                          <a:latin typeface="Calibri"/>
                        </a:rPr>
                        <a:t>sale_amount</a:t>
                      </a:r>
                    </a:p>
                  </a:txBody>
                  <a:tcPr>
                    <a:solidFill>
                      <a:srgbClr val="F2F4F8"/>
                    </a:solidFill>
                  </a:tcPr>
                </a:tc>
                <a:tc>
                  <a:txBody>
                    <a:bodyPr/>
                    <a:lstStyle/>
                    <a:p>
                      <a:pPr algn="ctr"/>
                      <a:r>
                        <a:rPr sz="1100" b="0">
                          <a:solidFill>
                            <a:srgbClr val="1A1A1A"/>
                          </a:solidFill>
                          <a:latin typeface="Calibri"/>
                        </a:rPr>
                        <a:t>float64</a:t>
                      </a:r>
                    </a:p>
                  </a:txBody>
                  <a:tcPr>
                    <a:solidFill>
                      <a:srgbClr val="F2F4F8"/>
                    </a:solidFill>
                  </a:tcPr>
                </a:tc>
                <a:tc>
                  <a:txBody>
                    <a:bodyPr/>
                    <a:lstStyle/>
                    <a:p>
                      <a:pPr algn="ctr"/>
                      <a:r>
                        <a:rPr sz="1100" b="0">
                          <a:solidFill>
                            <a:srgbClr val="1A1A1A"/>
                          </a:solidFill>
                          <a:latin typeface="Calibri"/>
                        </a:rPr>
                        <a:t>Mục tiêu: doanh số ngày (censored)</a:t>
                      </a:r>
                    </a:p>
                  </a:txBody>
                  <a:tcPr>
                    <a:solidFill>
                      <a:srgbClr val="F2F4F8"/>
                    </a:solidFill>
                  </a:tcPr>
                </a:tc>
              </a:tr>
              <a:tr h="381000">
                <a:tc>
                  <a:txBody>
                    <a:bodyPr/>
                    <a:lstStyle/>
                    <a:p>
                      <a:pPr algn="l"/>
                      <a:r>
                        <a:rPr sz="1100" b="0">
                          <a:solidFill>
                            <a:srgbClr val="1A1A1A"/>
                          </a:solidFill>
                          <a:latin typeface="Calibri"/>
                        </a:rPr>
                        <a:t>hours_sale</a:t>
                      </a:r>
                    </a:p>
                  </a:txBody>
                  <a:tcPr>
                    <a:solidFill>
                      <a:srgbClr val="FFFFFF"/>
                    </a:solidFill>
                  </a:tcPr>
                </a:tc>
                <a:tc>
                  <a:txBody>
                    <a:bodyPr/>
                    <a:lstStyle/>
                    <a:p>
                      <a:pPr algn="ctr"/>
                      <a:r>
                        <a:rPr sz="1100" b="0">
                          <a:solidFill>
                            <a:srgbClr val="1A1A1A"/>
                          </a:solidFill>
                          <a:latin typeface="Calibri"/>
                        </a:rPr>
                        <a:t>array[24]</a:t>
                      </a:r>
                    </a:p>
                  </a:txBody>
                  <a:tcPr>
                    <a:solidFill>
                      <a:srgbClr val="FFFFFF"/>
                    </a:solidFill>
                  </a:tcPr>
                </a:tc>
                <a:tc>
                  <a:txBody>
                    <a:bodyPr/>
                    <a:lstStyle/>
                    <a:p>
                      <a:pPr algn="ctr"/>
                      <a:r>
                        <a:rPr sz="1100" b="0">
                          <a:solidFill>
                            <a:srgbClr val="1A1A1A"/>
                          </a:solidFill>
                          <a:latin typeface="Calibri"/>
                        </a:rPr>
                        <a:t>Doanh số theo từng giờ</a:t>
                      </a:r>
                    </a:p>
                  </a:txBody>
                  <a:tcPr>
                    <a:solidFill>
                      <a:srgbClr val="FFFFFF"/>
                    </a:solidFill>
                  </a:tcPr>
                </a:tc>
              </a:tr>
              <a:tr h="381000">
                <a:tc>
                  <a:txBody>
                    <a:bodyPr/>
                    <a:lstStyle/>
                    <a:p>
                      <a:pPr algn="l"/>
                      <a:r>
                        <a:rPr sz="1100" b="0">
                          <a:solidFill>
                            <a:srgbClr val="1A1A1A"/>
                          </a:solidFill>
                          <a:latin typeface="Calibri"/>
                        </a:rPr>
                        <a:t>stock_hour6_22_cnt</a:t>
                      </a:r>
                    </a:p>
                  </a:txBody>
                  <a:tcPr>
                    <a:solidFill>
                      <a:srgbClr val="F2F4F8"/>
                    </a:solidFill>
                  </a:tcPr>
                </a:tc>
                <a:tc>
                  <a:txBody>
                    <a:bodyPr/>
                    <a:lstStyle/>
                    <a:p>
                      <a:pPr algn="ctr"/>
                      <a:r>
                        <a:rPr sz="1100" b="0">
                          <a:solidFill>
                            <a:srgbClr val="1A1A1A"/>
                          </a:solidFill>
                          <a:latin typeface="Calibri"/>
                        </a:rPr>
                        <a:t>int32</a:t>
                      </a:r>
                    </a:p>
                  </a:txBody>
                  <a:tcPr>
                    <a:solidFill>
                      <a:srgbClr val="F2F4F8"/>
                    </a:solidFill>
                  </a:tcPr>
                </a:tc>
                <a:tc>
                  <a:txBody>
                    <a:bodyPr/>
                    <a:lstStyle/>
                    <a:p>
                      <a:pPr algn="ctr"/>
                      <a:r>
                        <a:rPr sz="1100" b="0">
                          <a:solidFill>
                            <a:srgbClr val="1A1A1A"/>
                          </a:solidFill>
                          <a:latin typeface="Calibri"/>
                        </a:rPr>
                        <a:t>Số giờ còn hàng (proxy censoring)</a:t>
                      </a:r>
                    </a:p>
                  </a:txBody>
                  <a:tcPr>
                    <a:solidFill>
                      <a:srgbClr val="F2F4F8"/>
                    </a:solidFill>
                  </a:tcPr>
                </a:tc>
              </a:tr>
              <a:tr h="381000">
                <a:tc>
                  <a:txBody>
                    <a:bodyPr/>
                    <a:lstStyle/>
                    <a:p>
                      <a:pPr algn="l"/>
                      <a:r>
                        <a:rPr sz="1100" b="0">
                          <a:solidFill>
                            <a:srgbClr val="1A1A1A"/>
                          </a:solidFill>
                          <a:latin typeface="Calibri"/>
                        </a:rPr>
                        <a:t>holiday_flag</a:t>
                      </a:r>
                    </a:p>
                  </a:txBody>
                  <a:tcPr>
                    <a:solidFill>
                      <a:srgbClr val="FFFFFF"/>
                    </a:solidFill>
                  </a:tcPr>
                </a:tc>
                <a:tc>
                  <a:txBody>
                    <a:bodyPr/>
                    <a:lstStyle/>
                    <a:p>
                      <a:pPr algn="ctr"/>
                      <a:r>
                        <a:rPr sz="1100" b="0">
                          <a:solidFill>
                            <a:srgbClr val="1A1A1A"/>
                          </a:solidFill>
                          <a:latin typeface="Calibri"/>
                        </a:rPr>
                        <a:t>binary</a:t>
                      </a:r>
                    </a:p>
                  </a:txBody>
                  <a:tcPr>
                    <a:solidFill>
                      <a:srgbClr val="FFFFFF"/>
                    </a:solidFill>
                  </a:tcPr>
                </a:tc>
                <a:tc>
                  <a:txBody>
                    <a:bodyPr/>
                    <a:lstStyle/>
                    <a:p>
                      <a:pPr algn="ctr"/>
                      <a:r>
                        <a:rPr sz="1100" b="0">
                          <a:solidFill>
                            <a:srgbClr val="1A1A1A"/>
                          </a:solidFill>
                          <a:latin typeface="Calibri"/>
                        </a:rPr>
                        <a:t>Ngày lễ công cộng</a:t>
                      </a:r>
                    </a:p>
                  </a:txBody>
                  <a:tcPr>
                    <a:solidFill>
                      <a:srgbClr val="FFFFFF"/>
                    </a:solidFill>
                  </a:tcPr>
                </a:tc>
              </a:tr>
              <a:tr h="381000">
                <a:tc>
                  <a:txBody>
                    <a:bodyPr/>
                    <a:lstStyle/>
                    <a:p>
                      <a:pPr algn="l"/>
                      <a:r>
                        <a:rPr sz="1100" b="0">
                          <a:solidFill>
                            <a:srgbClr val="1A1A1A"/>
                          </a:solidFill>
                          <a:latin typeface="Calibri"/>
                        </a:rPr>
                        <a:t>activity_flag</a:t>
                      </a:r>
                    </a:p>
                  </a:txBody>
                  <a:tcPr>
                    <a:solidFill>
                      <a:srgbClr val="F2F4F8"/>
                    </a:solidFill>
                  </a:tcPr>
                </a:tc>
                <a:tc>
                  <a:txBody>
                    <a:bodyPr/>
                    <a:lstStyle/>
                    <a:p>
                      <a:pPr algn="ctr"/>
                      <a:r>
                        <a:rPr sz="1100" b="0">
                          <a:solidFill>
                            <a:srgbClr val="1A1A1A"/>
                          </a:solidFill>
                          <a:latin typeface="Calibri"/>
                        </a:rPr>
                        <a:t>binary</a:t>
                      </a:r>
                    </a:p>
                  </a:txBody>
                  <a:tcPr>
                    <a:solidFill>
                      <a:srgbClr val="F2F4F8"/>
                    </a:solidFill>
                  </a:tcPr>
                </a:tc>
                <a:tc>
                  <a:txBody>
                    <a:bodyPr/>
                    <a:lstStyle/>
                    <a:p>
                      <a:pPr algn="ctr"/>
                      <a:r>
                        <a:rPr sz="1100" b="0">
                          <a:solidFill>
                            <a:srgbClr val="1A1A1A"/>
                          </a:solidFill>
                          <a:latin typeface="Calibri"/>
                        </a:rPr>
                        <a:t>Ngày khuyến mãi</a:t>
                      </a:r>
                    </a:p>
                  </a:txBody>
                  <a:tcPr>
                    <a:solidFill>
                      <a:srgbClr val="F2F4F8"/>
                    </a:solidFill>
                  </a:tcPr>
                </a:tc>
              </a:tr>
              <a:tr h="381000">
                <a:tc>
                  <a:txBody>
                    <a:bodyPr/>
                    <a:lstStyle/>
                    <a:p>
                      <a:pPr algn="l"/>
                      <a:r>
                        <a:rPr sz="1100" b="0">
                          <a:solidFill>
                            <a:srgbClr val="1A1A1A"/>
                          </a:solidFill>
                          <a:latin typeface="Calibri"/>
                        </a:rPr>
                        <a:t>avg_temperature</a:t>
                      </a:r>
                    </a:p>
                  </a:txBody>
                  <a:tcPr>
                    <a:solidFill>
                      <a:srgbClr val="FFFFFF"/>
                    </a:solidFill>
                  </a:tcPr>
                </a:tc>
                <a:tc>
                  <a:txBody>
                    <a:bodyPr/>
                    <a:lstStyle/>
                    <a:p>
                      <a:pPr algn="ctr"/>
                      <a:r>
                        <a:rPr sz="1100" b="0">
                          <a:solidFill>
                            <a:srgbClr val="1A1A1A"/>
                          </a:solidFill>
                          <a:latin typeface="Calibri"/>
                        </a:rPr>
                        <a:t>float64</a:t>
                      </a:r>
                    </a:p>
                  </a:txBody>
                  <a:tcPr>
                    <a:solidFill>
                      <a:srgbClr val="FFFFFF"/>
                    </a:solidFill>
                  </a:tcPr>
                </a:tc>
                <a:tc>
                  <a:txBody>
                    <a:bodyPr/>
                    <a:lstStyle/>
                    <a:p>
                      <a:pPr algn="ctr"/>
                      <a:r>
                        <a:rPr sz="1100" b="0">
                          <a:solidFill>
                            <a:srgbClr val="1A1A1A"/>
                          </a:solidFill>
                          <a:latin typeface="Calibri"/>
                        </a:rPr>
                        <a:t>Nhiệt độ TB (°C) — covariate</a:t>
                      </a:r>
                    </a:p>
                  </a:txBody>
                  <a:tcPr>
                    <a:solidFill>
                      <a:srgbClr val="FFFFFF"/>
                    </a:solidFill>
                  </a:tcPr>
                </a:tc>
              </a:tr>
              <a:tr h="381000">
                <a:tc>
                  <a:txBody>
                    <a:bodyPr/>
                    <a:lstStyle/>
                    <a:p>
                      <a:pPr algn="l"/>
                      <a:r>
                        <a:rPr sz="1100" b="0">
                          <a:solidFill>
                            <a:srgbClr val="1A1A1A"/>
                          </a:solidFill>
                          <a:latin typeface="Calibri"/>
                        </a:rPr>
                        <a:t>precpt</a:t>
                      </a:r>
                    </a:p>
                  </a:txBody>
                  <a:tcPr>
                    <a:solidFill>
                      <a:srgbClr val="F2F4F8"/>
                    </a:solidFill>
                  </a:tcPr>
                </a:tc>
                <a:tc>
                  <a:txBody>
                    <a:bodyPr/>
                    <a:lstStyle/>
                    <a:p>
                      <a:pPr algn="ctr"/>
                      <a:r>
                        <a:rPr sz="1100" b="0">
                          <a:solidFill>
                            <a:srgbClr val="1A1A1A"/>
                          </a:solidFill>
                          <a:latin typeface="Calibri"/>
                        </a:rPr>
                        <a:t>float64</a:t>
                      </a:r>
                    </a:p>
                  </a:txBody>
                  <a:tcPr>
                    <a:solidFill>
                      <a:srgbClr val="F2F4F8"/>
                    </a:solidFill>
                  </a:tcPr>
                </a:tc>
                <a:tc>
                  <a:txBody>
                    <a:bodyPr/>
                    <a:lstStyle/>
                    <a:p>
                      <a:pPr algn="ctr"/>
                      <a:r>
                        <a:rPr sz="1100" b="0">
                          <a:solidFill>
                            <a:srgbClr val="1A1A1A"/>
                          </a:solidFill>
                          <a:latin typeface="Calibri"/>
                        </a:rPr>
                        <a:t>Lượng mưa (mm) — covariate</a:t>
                      </a:r>
                    </a:p>
                  </a:txBody>
                  <a:tcPr>
                    <a:solidFill>
                      <a:srgbClr val="F2F4F8"/>
                    </a:solidFill>
                  </a:tcPr>
                </a:tc>
              </a:tr>
            </a:tbl>
          </a:graphicData>
        </a:graphic>
      </p:graphicFrame>
      <p:sp>
        <p:nvSpPr>
          <p:cNvPr id="28" name="TextBox 27"/>
          <p:cNvSpPr txBox="1"/>
          <p:nvPr/>
        </p:nvSpPr>
        <p:spPr>
          <a:xfrm>
            <a:off x="320040" y="6190488"/>
            <a:ext cx="11521440" cy="292608"/>
          </a:xfrm>
          <a:prstGeom prst="rect">
            <a:avLst/>
          </a:prstGeom>
          <a:noFill/>
        </p:spPr>
        <p:txBody>
          <a:bodyPr wrap="square">
            <a:spAutoFit/>
          </a:bodyPr>
          <a:lstStyle/>
          <a:p>
            <a:pPr algn="l">
              <a:spcAft>
                <a:spcPts val="0"/>
              </a:spcAft>
            </a:pPr>
            <a:r>
              <a:rPr sz="1000" b="0" i="1">
                <a:solidFill>
                  <a:srgbClr val="555555"/>
                </a:solidFill>
                <a:latin typeface="Calibri"/>
              </a:rPr>
              <a:t>⚑  hours_sale và hours_stock_status là mảng 24 phần tử (1 entry/giờ) — không dùng trực tiếp trong SARIMA; loại ra khi gộp daily.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Khám Phá Dữ Liệu — Time Plot &amp; Seasonal Pattern</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5 / 14</a:t>
            </a:r>
          </a:p>
        </p:txBody>
      </p:sp>
      <p:sp>
        <p:nvSpPr>
          <p:cNvPr id="9" name="Rectangle 8"/>
          <p:cNvSpPr/>
          <p:nvPr/>
        </p:nvSpPr>
        <p:spPr>
          <a:xfrm>
            <a:off x="274320" y="1143000"/>
            <a:ext cx="7589520" cy="507492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234440"/>
            <a:ext cx="7406640" cy="5074920"/>
          </a:xfrm>
          <a:prstGeom prst="rect">
            <a:avLst/>
          </a:prstGeom>
          <a:noFill/>
        </p:spPr>
        <p:txBody>
          <a:bodyPr wrap="square">
            <a:spAutoFit/>
          </a:bodyPr>
          <a:lstStyle/>
          <a:p>
            <a:pPr algn="ctr">
              <a:spcAft>
                <a:spcPts val="0"/>
              </a:spcAft>
            </a:pPr>
            <a:r>
              <a:rPr sz="1100" b="0" i="0">
                <a:solidFill>
                  <a:srgbClr val="555555"/>
                </a:solidFill>
                <a:latin typeface="Calibri"/>
              </a:rPr>
              <a:t>[Image not found:
eda_plots.png]</a:t>
            </a:r>
          </a:p>
        </p:txBody>
      </p:sp>
      <p:sp>
        <p:nvSpPr>
          <p:cNvPr id="11" name="Rectangle 10"/>
          <p:cNvSpPr/>
          <p:nvPr/>
        </p:nvSpPr>
        <p:spPr>
          <a:xfrm>
            <a:off x="8046720" y="1143000"/>
            <a:ext cx="384048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9872" y="1168400"/>
            <a:ext cx="3749040" cy="320040"/>
          </a:xfrm>
          <a:prstGeom prst="rect">
            <a:avLst/>
          </a:prstGeom>
          <a:noFill/>
        </p:spPr>
        <p:txBody>
          <a:bodyPr wrap="square">
            <a:spAutoFit/>
          </a:bodyPr>
          <a:lstStyle/>
          <a:p>
            <a:pPr algn="l">
              <a:spcAft>
                <a:spcPts val="0"/>
              </a:spcAft>
            </a:pPr>
            <a:r>
              <a:rPr sz="1200" b="1" i="0">
                <a:solidFill>
                  <a:srgbClr val="FFFFFF"/>
                </a:solidFill>
                <a:latin typeface="Calibri"/>
              </a:rPr>
              <a:t>📊  Nhận xét</a:t>
            </a:r>
          </a:p>
        </p:txBody>
      </p:sp>
      <p:sp>
        <p:nvSpPr>
          <p:cNvPr id="13" name="TextBox 12"/>
          <p:cNvSpPr txBox="1"/>
          <p:nvPr/>
        </p:nvSpPr>
        <p:spPr>
          <a:xfrm>
            <a:off x="8001000" y="1554480"/>
            <a:ext cx="3931920" cy="4572000"/>
          </a:xfrm>
          <a:prstGeom prst="rect">
            <a:avLst/>
          </a:prstGeom>
          <a:noFill/>
        </p:spPr>
        <p:txBody>
          <a:bodyPr wrap="square">
            <a:spAutoFit/>
          </a:bodyPr>
          <a:lstStyle/>
          <a:p>
            <a:pPr>
              <a:spcAft>
                <a:spcPts val="800"/>
              </a:spcAft>
            </a:pPr>
            <a:r>
              <a:rPr sz="1300">
                <a:solidFill>
                  <a:srgbClr val="1A1A1A"/>
                </a:solidFill>
                <a:latin typeface="Calibri"/>
              </a:rPr>
              <a:t>▸  Trend: Tăng nhẹ tháng 3–4, plateau tháng 5–6</a:t>
            </a:r>
          </a:p>
          <a:p>
            <a:pPr>
              <a:spcAft>
                <a:spcPts val="800"/>
              </a:spcAft>
            </a:pPr>
            <a:r>
              <a:rPr sz="1300">
                <a:solidFill>
                  <a:srgbClr val="555555"/>
                </a:solidFill>
                <a:latin typeface="Calibri"/>
              </a:rPr>
              <a:t>  ◦ → Cần sai phân bậc 1 (d=1)</a:t>
            </a:r>
          </a:p>
          <a:p>
            <a:pPr>
              <a:spcAft>
                <a:spcPts val="800"/>
              </a:spcAft>
            </a:pPr>
            <a:r>
              <a:rPr sz="1300">
                <a:solidFill>
                  <a:srgbClr val="1A1A1A"/>
                </a:solidFill>
                <a:latin typeface="Calibri"/>
              </a:rPr>
              <a:t>▸  Seasonality: Chu kỳ tuần rõ ràng (s=7)</a:t>
            </a:r>
          </a:p>
          <a:p>
            <a:pPr>
              <a:spcAft>
                <a:spcPts val="800"/>
              </a:spcAft>
            </a:pPr>
            <a:r>
              <a:rPr sz="1300">
                <a:solidFill>
                  <a:srgbClr val="555555"/>
                </a:solidFill>
                <a:latin typeface="Calibri"/>
              </a:rPr>
              <a:t>  ◦ Sat–Sun cao hơn ~35% so với Tue–Wed</a:t>
            </a:r>
          </a:p>
          <a:p>
            <a:pPr>
              <a:spcAft>
                <a:spcPts val="800"/>
              </a:spcAft>
            </a:pPr>
            <a:r>
              <a:rPr sz="1300">
                <a:solidFill>
                  <a:srgbClr val="1A1A1A"/>
                </a:solidFill>
                <a:latin typeface="Calibri"/>
              </a:rPr>
              <a:t>▸  Holiday: Spike ngày lễ (★ đỏ) — cần dummy var</a:t>
            </a:r>
          </a:p>
          <a:p>
            <a:pPr>
              <a:spcAft>
                <a:spcPts val="800"/>
              </a:spcAft>
            </a:pPr>
            <a:r>
              <a:rPr sz="1300">
                <a:solidFill>
                  <a:srgbClr val="1A1A1A"/>
                </a:solidFill>
                <a:latin typeface="Calibri"/>
              </a:rPr>
              <a:t>▸  Promotion: Spike đột ngột (▲ cam) — cần exog</a:t>
            </a:r>
          </a:p>
          <a:p>
            <a:pPr>
              <a:spcAft>
                <a:spcPts val="800"/>
              </a:spcAft>
            </a:pPr>
            <a:r>
              <a:rPr sz="1300">
                <a:solidFill>
                  <a:srgbClr val="1A1A1A"/>
                </a:solidFill>
                <a:latin typeface="Calibri"/>
              </a:rPr>
              <a:t>▸  Nhiệt độ: r ≈ 0.54 với doanh số — covariate hữu ích</a:t>
            </a:r>
          </a:p>
          <a:p>
            <a:pPr>
              <a:spcAft>
                <a:spcPts val="800"/>
              </a:spcAft>
            </a:pPr>
            <a:r>
              <a:rPr sz="1300">
                <a:solidFill>
                  <a:srgbClr val="1A1A1A"/>
                </a:solidFill>
                <a:latin typeface="Calibri"/>
              </a:rPr>
              <a:t>▸  Log-transform: Ổn định phương sai, giảm skew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STL Decomposition &amp; Seasonal Pattern</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6 / 14</a:t>
            </a:r>
          </a:p>
        </p:txBody>
      </p:sp>
      <p:sp>
        <p:nvSpPr>
          <p:cNvPr id="9" name="Rectangle 8"/>
          <p:cNvSpPr/>
          <p:nvPr/>
        </p:nvSpPr>
        <p:spPr>
          <a:xfrm>
            <a:off x="274320" y="1143000"/>
            <a:ext cx="6858000" cy="384048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234440"/>
            <a:ext cx="6675120" cy="3840480"/>
          </a:xfrm>
          <a:prstGeom prst="rect">
            <a:avLst/>
          </a:prstGeom>
          <a:noFill/>
        </p:spPr>
        <p:txBody>
          <a:bodyPr wrap="square">
            <a:spAutoFit/>
          </a:bodyPr>
          <a:lstStyle/>
          <a:p>
            <a:pPr algn="ctr">
              <a:spcAft>
                <a:spcPts val="0"/>
              </a:spcAft>
            </a:pPr>
            <a:r>
              <a:rPr sz="1100" b="0" i="0">
                <a:solidFill>
                  <a:srgbClr val="555555"/>
                </a:solidFill>
                <a:latin typeface="Calibri"/>
              </a:rPr>
              <a:t>[Image not found:
stl_decomposition.png]</a:t>
            </a:r>
          </a:p>
        </p:txBody>
      </p:sp>
      <p:sp>
        <p:nvSpPr>
          <p:cNvPr id="11" name="Rectangle 10"/>
          <p:cNvSpPr/>
          <p:nvPr/>
        </p:nvSpPr>
        <p:spPr>
          <a:xfrm>
            <a:off x="7269480" y="1143000"/>
            <a:ext cx="4663440" cy="256032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0920" y="1234440"/>
            <a:ext cx="4480560" cy="2560320"/>
          </a:xfrm>
          <a:prstGeom prst="rect">
            <a:avLst/>
          </a:prstGeom>
          <a:noFill/>
        </p:spPr>
        <p:txBody>
          <a:bodyPr wrap="square">
            <a:spAutoFit/>
          </a:bodyPr>
          <a:lstStyle/>
          <a:p>
            <a:pPr algn="ctr">
              <a:spcAft>
                <a:spcPts val="0"/>
              </a:spcAft>
            </a:pPr>
            <a:r>
              <a:rPr sz="1100" b="0" i="0">
                <a:solidFill>
                  <a:srgbClr val="555555"/>
                </a:solidFill>
                <a:latin typeface="Calibri"/>
              </a:rPr>
              <a:t>[Image not found:
seasonal_dow.png]</a:t>
            </a:r>
          </a:p>
        </p:txBody>
      </p:sp>
      <p:sp>
        <p:nvSpPr>
          <p:cNvPr id="13" name="Rectangle 12"/>
          <p:cNvSpPr/>
          <p:nvPr/>
        </p:nvSpPr>
        <p:spPr>
          <a:xfrm>
            <a:off x="7269480" y="3794760"/>
            <a:ext cx="4663440" cy="237744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269480" y="3794760"/>
            <a:ext cx="4663440" cy="320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2632" y="3820160"/>
            <a:ext cx="4572000" cy="320040"/>
          </a:xfrm>
          <a:prstGeom prst="rect">
            <a:avLst/>
          </a:prstGeom>
          <a:noFill/>
        </p:spPr>
        <p:txBody>
          <a:bodyPr wrap="square">
            <a:spAutoFit/>
          </a:bodyPr>
          <a:lstStyle/>
          <a:p>
            <a:pPr algn="l">
              <a:spcAft>
                <a:spcPts val="0"/>
              </a:spcAft>
            </a:pPr>
            <a:r>
              <a:rPr sz="1200" b="1" i="0">
                <a:solidFill>
                  <a:srgbClr val="FFFFFF"/>
                </a:solidFill>
                <a:latin typeface="Calibri"/>
              </a:rPr>
              <a:t>📌  Kết quả chính</a:t>
            </a:r>
          </a:p>
        </p:txBody>
      </p:sp>
      <p:sp>
        <p:nvSpPr>
          <p:cNvPr id="16" name="TextBox 15"/>
          <p:cNvSpPr txBox="1"/>
          <p:nvPr/>
        </p:nvSpPr>
        <p:spPr>
          <a:xfrm>
            <a:off x="7315200" y="4160520"/>
            <a:ext cx="4480560" cy="1920240"/>
          </a:xfrm>
          <a:prstGeom prst="rect">
            <a:avLst/>
          </a:prstGeom>
          <a:noFill/>
        </p:spPr>
        <p:txBody>
          <a:bodyPr wrap="square">
            <a:spAutoFit/>
          </a:bodyPr>
          <a:lstStyle/>
          <a:p>
            <a:pPr>
              <a:spcAft>
                <a:spcPts val="600"/>
              </a:spcAft>
            </a:pPr>
            <a:r>
              <a:rPr sz="1250">
                <a:solidFill>
                  <a:srgbClr val="1A1A1A"/>
                </a:solidFill>
                <a:latin typeface="Calibri"/>
              </a:rPr>
              <a:t>▸  Trend: tăng chậm → sai phân bậc 1 cần thiết</a:t>
            </a:r>
          </a:p>
          <a:p>
            <a:pPr>
              <a:spcAft>
                <a:spcPts val="600"/>
              </a:spcAft>
            </a:pPr>
            <a:r>
              <a:rPr sz="1250">
                <a:solidFill>
                  <a:srgbClr val="1A1A1A"/>
                </a:solidFill>
                <a:latin typeface="Calibri"/>
              </a:rPr>
              <a:t>▸  Seasonal: biên độ ~0.3 log-unit ≡ 35% thang gốc</a:t>
            </a:r>
          </a:p>
          <a:p>
            <a:pPr>
              <a:spcAft>
                <a:spcPts val="600"/>
              </a:spcAft>
            </a:pPr>
            <a:r>
              <a:rPr sz="1250">
                <a:solidFill>
                  <a:srgbClr val="1A1A1A"/>
                </a:solidFill>
                <a:latin typeface="Calibri"/>
              </a:rPr>
              <a:t>▸  Seasonal ổn định → multiplicative → log-transform đúng</a:t>
            </a:r>
          </a:p>
          <a:p>
            <a:pPr>
              <a:spcAft>
                <a:spcPts val="600"/>
              </a:spcAft>
            </a:pPr>
            <a:r>
              <a:rPr sz="1250">
                <a:solidFill>
                  <a:srgbClr val="1A1A1A"/>
                </a:solidFill>
                <a:latin typeface="Calibri"/>
              </a:rPr>
              <a:t>▸  Residual: ngẫu nhiên, ngoại trừ spike khuyến mãi</a:t>
            </a:r>
          </a:p>
          <a:p>
            <a:pPr>
              <a:spcAft>
                <a:spcPts val="600"/>
              </a:spcAft>
            </a:pPr>
            <a:r>
              <a:rPr sz="1250">
                <a:solidFill>
                  <a:srgbClr val="1A1A1A"/>
                </a:solidFill>
                <a:latin typeface="Calibri"/>
              </a:rPr>
              <a:t>▸  Kết luận: chọn SARIMA với s = 7</a:t>
            </a:r>
          </a:p>
        </p:txBody>
      </p:sp>
      <p:sp>
        <p:nvSpPr>
          <p:cNvPr id="17" name="TextBox 16"/>
          <p:cNvSpPr txBox="1"/>
          <p:nvPr/>
        </p:nvSpPr>
        <p:spPr>
          <a:xfrm>
            <a:off x="274320" y="5047488"/>
            <a:ext cx="6858000" cy="274320"/>
          </a:xfrm>
          <a:prstGeom prst="rect">
            <a:avLst/>
          </a:prstGeom>
          <a:noFill/>
        </p:spPr>
        <p:txBody>
          <a:bodyPr wrap="square">
            <a:spAutoFit/>
          </a:bodyPr>
          <a:lstStyle/>
          <a:p>
            <a:pPr algn="l">
              <a:spcAft>
                <a:spcPts val="0"/>
              </a:spcAft>
            </a:pPr>
            <a:r>
              <a:rPr sz="1000" b="0" i="1">
                <a:solidFill>
                  <a:srgbClr val="555555"/>
                </a:solidFill>
                <a:latin typeface="Calibri"/>
              </a:rPr>
              <a:t>STL Decomposition của log(1+Sales)  [period=7, robust=True]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Thống Kê Mô Tả &amp; Biến Đổi Chuỗi</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7 / 14</a:t>
            </a:r>
          </a:p>
        </p:txBody>
      </p:sp>
      <p:sp>
        <p:nvSpPr>
          <p:cNvPr id="9" name="Rectangle 8"/>
          <p:cNvSpPr/>
          <p:nvPr/>
        </p:nvSpPr>
        <p:spPr>
          <a:xfrm>
            <a:off x="365760" y="1143000"/>
            <a:ext cx="45720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168400"/>
            <a:ext cx="4480560" cy="320040"/>
          </a:xfrm>
          <a:prstGeom prst="rect">
            <a:avLst/>
          </a:prstGeom>
          <a:noFill/>
        </p:spPr>
        <p:txBody>
          <a:bodyPr wrap="square">
            <a:spAutoFit/>
          </a:bodyPr>
          <a:lstStyle/>
          <a:p>
            <a:pPr algn="l">
              <a:spcAft>
                <a:spcPts val="0"/>
              </a:spcAft>
            </a:pPr>
            <a:r>
              <a:rPr sz="1200" b="1" i="0">
                <a:solidFill>
                  <a:srgbClr val="FFFFFF"/>
                </a:solidFill>
                <a:latin typeface="Calibri"/>
              </a:rPr>
              <a:t>📐  Bảng thống kê theo giai đoạn biến đổi</a:t>
            </a:r>
          </a:p>
        </p:txBody>
      </p:sp>
      <p:graphicFrame>
        <p:nvGraphicFramePr>
          <p:cNvPr id="11" name="Table 10"/>
          <p:cNvGraphicFramePr>
            <a:graphicFrameLocks noGrp="1"/>
          </p:cNvGraphicFramePr>
          <p:nvPr/>
        </p:nvGraphicFramePr>
        <p:xfrm>
          <a:off x="365760" y="1508760"/>
          <a:ext cx="10515600" cy="1828800"/>
        </p:xfrm>
        <a:graphic>
          <a:graphicData uri="http://schemas.openxmlformats.org/drawingml/2006/table">
            <a:tbl>
              <a:tblPr firstRow="1" bandRow="1">
                <a:tableStyleId>{5C22544A-7EE6-4342-B048-85BDC9FD1C3A}</a:tableStyleId>
              </a:tblPr>
              <a:tblGrid>
                <a:gridCol w="3200400"/>
                <a:gridCol w="1645920"/>
                <a:gridCol w="1645920"/>
                <a:gridCol w="2011680"/>
                <a:gridCol w="2011680"/>
              </a:tblGrid>
              <a:tr h="365760">
                <a:tc>
                  <a:txBody>
                    <a:bodyPr/>
                    <a:lstStyle/>
                    <a:p>
                      <a:pPr algn="ctr"/>
                      <a:r>
                        <a:rPr sz="1300" b="1">
                          <a:solidFill>
                            <a:srgbClr val="FFFFFF"/>
                          </a:solidFill>
                          <a:latin typeface="Calibri"/>
                        </a:rPr>
                        <a:t>Chuỗi</a:t>
                      </a:r>
                    </a:p>
                  </a:txBody>
                  <a:tcPr>
                    <a:solidFill>
                      <a:srgbClr val="1F4E79"/>
                    </a:solidFill>
                  </a:tcPr>
                </a:tc>
                <a:tc>
                  <a:txBody>
                    <a:bodyPr/>
                    <a:lstStyle/>
                    <a:p>
                      <a:pPr algn="ctr"/>
                      <a:r>
                        <a:rPr sz="1300" b="1">
                          <a:solidFill>
                            <a:srgbClr val="FFFFFF"/>
                          </a:solidFill>
                          <a:latin typeface="Calibri"/>
                        </a:rPr>
                        <a:t>Mean</a:t>
                      </a:r>
                    </a:p>
                  </a:txBody>
                  <a:tcPr>
                    <a:solidFill>
                      <a:srgbClr val="1F4E79"/>
                    </a:solidFill>
                  </a:tcPr>
                </a:tc>
                <a:tc>
                  <a:txBody>
                    <a:bodyPr/>
                    <a:lstStyle/>
                    <a:p>
                      <a:pPr algn="ctr"/>
                      <a:r>
                        <a:rPr sz="1300" b="1">
                          <a:solidFill>
                            <a:srgbClr val="FFFFFF"/>
                          </a:solidFill>
                          <a:latin typeface="Calibri"/>
                        </a:rPr>
                        <a:t>Std</a:t>
                      </a:r>
                    </a:p>
                  </a:txBody>
                  <a:tcPr>
                    <a:solidFill>
                      <a:srgbClr val="1F4E79"/>
                    </a:solidFill>
                  </a:tcPr>
                </a:tc>
                <a:tc>
                  <a:txBody>
                    <a:bodyPr/>
                    <a:lstStyle/>
                    <a:p>
                      <a:pPr algn="ctr"/>
                      <a:r>
                        <a:rPr sz="1300" b="1">
                          <a:solidFill>
                            <a:srgbClr val="FFFFFF"/>
                          </a:solidFill>
                          <a:latin typeface="Calibri"/>
                        </a:rPr>
                        <a:t>Skewness</a:t>
                      </a:r>
                    </a:p>
                  </a:txBody>
                  <a:tcPr>
                    <a:solidFill>
                      <a:srgbClr val="1F4E79"/>
                    </a:solidFill>
                  </a:tcPr>
                </a:tc>
                <a:tc>
                  <a:txBody>
                    <a:bodyPr/>
                    <a:lstStyle/>
                    <a:p>
                      <a:pPr algn="ctr"/>
                      <a:r>
                        <a:rPr sz="1300" b="1">
                          <a:solidFill>
                            <a:srgbClr val="FFFFFF"/>
                          </a:solidFill>
                          <a:latin typeface="Calibri"/>
                        </a:rPr>
                        <a:t>Kurtosis</a:t>
                      </a:r>
                    </a:p>
                  </a:txBody>
                  <a:tcPr>
                    <a:solidFill>
                      <a:srgbClr val="1F4E79"/>
                    </a:solidFill>
                  </a:tcPr>
                </a:tc>
              </a:tr>
              <a:tr h="365760">
                <a:tc>
                  <a:txBody>
                    <a:bodyPr/>
                    <a:lstStyle/>
                    <a:p>
                      <a:pPr algn="l"/>
                      <a:r>
                        <a:rPr sz="1200" b="0">
                          <a:solidFill>
                            <a:srgbClr val="1A1A1A"/>
                          </a:solidFill>
                          <a:latin typeface="Calibri"/>
                        </a:rPr>
                        <a:t>Raw Sales</a:t>
                      </a:r>
                    </a:p>
                  </a:txBody>
                  <a:tcPr>
                    <a:solidFill>
                      <a:srgbClr val="FFFFFF"/>
                    </a:solidFill>
                  </a:tcPr>
                </a:tc>
                <a:tc>
                  <a:txBody>
                    <a:bodyPr/>
                    <a:lstStyle/>
                    <a:p>
                      <a:pPr algn="ctr"/>
                      <a:r>
                        <a:rPr sz="1200" b="0">
                          <a:solidFill>
                            <a:srgbClr val="1A1A1A"/>
                          </a:solidFill>
                          <a:latin typeface="Calibri"/>
                        </a:rPr>
                        <a:t>~63,400</a:t>
                      </a:r>
                    </a:p>
                  </a:txBody>
                  <a:tcPr>
                    <a:solidFill>
                      <a:srgbClr val="FFFFFF"/>
                    </a:solidFill>
                  </a:tcPr>
                </a:tc>
                <a:tc>
                  <a:txBody>
                    <a:bodyPr/>
                    <a:lstStyle/>
                    <a:p>
                      <a:pPr algn="ctr"/>
                      <a:r>
                        <a:rPr sz="1200" b="0">
                          <a:solidFill>
                            <a:srgbClr val="1A1A1A"/>
                          </a:solidFill>
                          <a:latin typeface="Calibri"/>
                        </a:rPr>
                        <a:t>~8,200</a:t>
                      </a:r>
                    </a:p>
                  </a:txBody>
                  <a:tcPr>
                    <a:solidFill>
                      <a:srgbClr val="FFFFFF"/>
                    </a:solidFill>
                  </a:tcPr>
                </a:tc>
                <a:tc>
                  <a:txBody>
                    <a:bodyPr/>
                    <a:lstStyle/>
                    <a:p>
                      <a:pPr algn="ctr"/>
                      <a:r>
                        <a:rPr sz="1200" b="0">
                          <a:solidFill>
                            <a:srgbClr val="1A1A1A"/>
                          </a:solidFill>
                          <a:latin typeface="Calibri"/>
                        </a:rPr>
                        <a:t>0.42</a:t>
                      </a:r>
                    </a:p>
                  </a:txBody>
                  <a:tcPr>
                    <a:solidFill>
                      <a:srgbClr val="FFFFFF"/>
                    </a:solidFill>
                  </a:tcPr>
                </a:tc>
                <a:tc>
                  <a:txBody>
                    <a:bodyPr/>
                    <a:lstStyle/>
                    <a:p>
                      <a:pPr algn="ctr"/>
                      <a:r>
                        <a:rPr sz="1200" b="0">
                          <a:solidFill>
                            <a:srgbClr val="1A1A1A"/>
                          </a:solidFill>
                          <a:latin typeface="Calibri"/>
                        </a:rPr>
                        <a:t>2.81</a:t>
                      </a:r>
                    </a:p>
                  </a:txBody>
                  <a:tcPr>
                    <a:solidFill>
                      <a:srgbClr val="FFFFFF"/>
                    </a:solidFill>
                  </a:tcPr>
                </a:tc>
              </a:tr>
              <a:tr h="365760">
                <a:tc>
                  <a:txBody>
                    <a:bodyPr/>
                    <a:lstStyle/>
                    <a:p>
                      <a:pPr algn="l"/>
                      <a:r>
                        <a:rPr sz="1200" b="0">
                          <a:solidFill>
                            <a:srgbClr val="1A1A1A"/>
                          </a:solidFill>
                          <a:latin typeface="Calibri"/>
                        </a:rPr>
                        <a:t>log(1+Sales)</a:t>
                      </a:r>
                    </a:p>
                  </a:txBody>
                  <a:tcPr>
                    <a:solidFill>
                      <a:srgbClr val="F2F4F8"/>
                    </a:solidFill>
                  </a:tcPr>
                </a:tc>
                <a:tc>
                  <a:txBody>
                    <a:bodyPr/>
                    <a:lstStyle/>
                    <a:p>
                      <a:pPr algn="ctr"/>
                      <a:r>
                        <a:rPr sz="1200" b="0">
                          <a:solidFill>
                            <a:srgbClr val="1A1A1A"/>
                          </a:solidFill>
                          <a:latin typeface="Calibri"/>
                        </a:rPr>
                        <a:t>11.06</a:t>
                      </a:r>
                    </a:p>
                  </a:txBody>
                  <a:tcPr>
                    <a:solidFill>
                      <a:srgbClr val="F2F4F8"/>
                    </a:solidFill>
                  </a:tcPr>
                </a:tc>
                <a:tc>
                  <a:txBody>
                    <a:bodyPr/>
                    <a:lstStyle/>
                    <a:p>
                      <a:pPr algn="ctr"/>
                      <a:r>
                        <a:rPr sz="1200" b="0">
                          <a:solidFill>
                            <a:srgbClr val="1A1A1A"/>
                          </a:solidFill>
                          <a:latin typeface="Calibri"/>
                        </a:rPr>
                        <a:t>0.13</a:t>
                      </a:r>
                    </a:p>
                  </a:txBody>
                  <a:tcPr>
                    <a:solidFill>
                      <a:srgbClr val="F2F4F8"/>
                    </a:solidFill>
                  </a:tcPr>
                </a:tc>
                <a:tc>
                  <a:txBody>
                    <a:bodyPr/>
                    <a:lstStyle/>
                    <a:p>
                      <a:pPr algn="ctr"/>
                      <a:r>
                        <a:rPr sz="1200" b="0">
                          <a:solidFill>
                            <a:srgbClr val="1A1A1A"/>
                          </a:solidFill>
                          <a:latin typeface="Calibri"/>
                        </a:rPr>
                        <a:t>0.11</a:t>
                      </a:r>
                    </a:p>
                  </a:txBody>
                  <a:tcPr>
                    <a:solidFill>
                      <a:srgbClr val="F2F4F8"/>
                    </a:solidFill>
                  </a:tcPr>
                </a:tc>
                <a:tc>
                  <a:txBody>
                    <a:bodyPr/>
                    <a:lstStyle/>
                    <a:p>
                      <a:pPr algn="ctr"/>
                      <a:r>
                        <a:rPr sz="1200" b="0">
                          <a:solidFill>
                            <a:srgbClr val="1A1A1A"/>
                          </a:solidFill>
                          <a:latin typeface="Calibri"/>
                        </a:rPr>
                        <a:t>2.74</a:t>
                      </a:r>
                    </a:p>
                  </a:txBody>
                  <a:tcPr>
                    <a:solidFill>
                      <a:srgbClr val="F2F4F8"/>
                    </a:solidFill>
                  </a:tcPr>
                </a:tc>
              </a:tr>
              <a:tr h="365760">
                <a:tc>
                  <a:txBody>
                    <a:bodyPr/>
                    <a:lstStyle/>
                    <a:p>
                      <a:pPr algn="l"/>
                      <a:r>
                        <a:rPr sz="1200" b="0">
                          <a:solidFill>
                            <a:srgbClr val="1A1A1A"/>
                          </a:solidFill>
                          <a:latin typeface="Calibri"/>
                        </a:rPr>
                        <a:t>∇log  [d=1]</a:t>
                      </a:r>
                    </a:p>
                  </a:txBody>
                  <a:tcPr>
                    <a:solidFill>
                      <a:srgbClr val="FFFFFF"/>
                    </a:solidFill>
                  </a:tcPr>
                </a:tc>
                <a:tc>
                  <a:txBody>
                    <a:bodyPr/>
                    <a:lstStyle/>
                    <a:p>
                      <a:pPr algn="ctr"/>
                      <a:r>
                        <a:rPr sz="1200" b="0">
                          <a:solidFill>
                            <a:srgbClr val="1A1A1A"/>
                          </a:solidFill>
                          <a:latin typeface="Calibri"/>
                        </a:rPr>
                        <a:t>≈ 0</a:t>
                      </a:r>
                    </a:p>
                  </a:txBody>
                  <a:tcPr>
                    <a:solidFill>
                      <a:srgbClr val="FFFFFF"/>
                    </a:solidFill>
                  </a:tcPr>
                </a:tc>
                <a:tc>
                  <a:txBody>
                    <a:bodyPr/>
                    <a:lstStyle/>
                    <a:p>
                      <a:pPr algn="ctr"/>
                      <a:r>
                        <a:rPr sz="1200" b="0">
                          <a:solidFill>
                            <a:srgbClr val="1A1A1A"/>
                          </a:solidFill>
                          <a:latin typeface="Calibri"/>
                        </a:rPr>
                        <a:t>0.046</a:t>
                      </a:r>
                    </a:p>
                  </a:txBody>
                  <a:tcPr>
                    <a:solidFill>
                      <a:srgbClr val="FFFFFF"/>
                    </a:solidFill>
                  </a:tcPr>
                </a:tc>
                <a:tc>
                  <a:txBody>
                    <a:bodyPr/>
                    <a:lstStyle/>
                    <a:p>
                      <a:pPr algn="ctr"/>
                      <a:r>
                        <a:rPr sz="1200" b="0">
                          <a:solidFill>
                            <a:srgbClr val="1A1A1A"/>
                          </a:solidFill>
                          <a:latin typeface="Calibri"/>
                        </a:rPr>
                        <a:t>−0.08</a:t>
                      </a:r>
                    </a:p>
                  </a:txBody>
                  <a:tcPr>
                    <a:solidFill>
                      <a:srgbClr val="FFFFFF"/>
                    </a:solidFill>
                  </a:tcPr>
                </a:tc>
                <a:tc>
                  <a:txBody>
                    <a:bodyPr/>
                    <a:lstStyle/>
                    <a:p>
                      <a:pPr algn="ctr"/>
                      <a:r>
                        <a:rPr sz="1200" b="0">
                          <a:solidFill>
                            <a:srgbClr val="1A1A1A"/>
                          </a:solidFill>
                          <a:latin typeface="Calibri"/>
                        </a:rPr>
                        <a:t>2.90</a:t>
                      </a:r>
                    </a:p>
                  </a:txBody>
                  <a:tcPr>
                    <a:solidFill>
                      <a:srgbClr val="FFFFFF"/>
                    </a:solidFill>
                  </a:tcPr>
                </a:tc>
              </a:tr>
              <a:tr h="365760">
                <a:tc>
                  <a:txBody>
                    <a:bodyPr/>
                    <a:lstStyle/>
                    <a:p>
                      <a:pPr algn="l"/>
                      <a:r>
                        <a:rPr sz="1200" b="0">
                          <a:solidFill>
                            <a:srgbClr val="1A1A1A"/>
                          </a:solidFill>
                          <a:latin typeface="Calibri"/>
                        </a:rPr>
                        <a:t>∇∇₇log  [d=1,D=1]</a:t>
                      </a:r>
                    </a:p>
                  </a:txBody>
                  <a:tcPr>
                    <a:solidFill>
                      <a:srgbClr val="F2F4F8"/>
                    </a:solidFill>
                  </a:tcPr>
                </a:tc>
                <a:tc>
                  <a:txBody>
                    <a:bodyPr/>
                    <a:lstStyle/>
                    <a:p>
                      <a:pPr algn="ctr"/>
                      <a:r>
                        <a:rPr sz="1200" b="0">
                          <a:solidFill>
                            <a:srgbClr val="1A1A1A"/>
                          </a:solidFill>
                          <a:latin typeface="Calibri"/>
                        </a:rPr>
                        <a:t>≈ 0</a:t>
                      </a:r>
                    </a:p>
                  </a:txBody>
                  <a:tcPr>
                    <a:solidFill>
                      <a:srgbClr val="F2F4F8"/>
                    </a:solidFill>
                  </a:tcPr>
                </a:tc>
                <a:tc>
                  <a:txBody>
                    <a:bodyPr/>
                    <a:lstStyle/>
                    <a:p>
                      <a:pPr algn="ctr"/>
                      <a:r>
                        <a:rPr sz="1200" b="0">
                          <a:solidFill>
                            <a:srgbClr val="1A1A1A"/>
                          </a:solidFill>
                          <a:latin typeface="Calibri"/>
                        </a:rPr>
                        <a:t>0.041</a:t>
                      </a:r>
                    </a:p>
                  </a:txBody>
                  <a:tcPr>
                    <a:solidFill>
                      <a:srgbClr val="F2F4F8"/>
                    </a:solidFill>
                  </a:tcPr>
                </a:tc>
                <a:tc>
                  <a:txBody>
                    <a:bodyPr/>
                    <a:lstStyle/>
                    <a:p>
                      <a:pPr algn="ctr"/>
                      <a:r>
                        <a:rPr sz="1200" b="0">
                          <a:solidFill>
                            <a:srgbClr val="1A1A1A"/>
                          </a:solidFill>
                          <a:latin typeface="Calibri"/>
                        </a:rPr>
                        <a:t>−0.05</a:t>
                      </a:r>
                    </a:p>
                  </a:txBody>
                  <a:tcPr>
                    <a:solidFill>
                      <a:srgbClr val="F2F4F8"/>
                    </a:solidFill>
                  </a:tcPr>
                </a:tc>
                <a:tc>
                  <a:txBody>
                    <a:bodyPr/>
                    <a:lstStyle/>
                    <a:p>
                      <a:pPr algn="ctr"/>
                      <a:r>
                        <a:rPr sz="1200" b="0">
                          <a:solidFill>
                            <a:srgbClr val="1A1A1A"/>
                          </a:solidFill>
                          <a:latin typeface="Calibri"/>
                        </a:rPr>
                        <a:t>2.85</a:t>
                      </a:r>
                    </a:p>
                  </a:txBody>
                  <a:tcPr>
                    <a:solidFill>
                      <a:srgbClr val="F2F4F8"/>
                    </a:solidFill>
                  </a:tcPr>
                </a:tc>
              </a:tr>
            </a:tbl>
          </a:graphicData>
        </a:graphic>
      </p:graphicFrame>
      <p:sp>
        <p:nvSpPr>
          <p:cNvPr id="12" name="Rectangle 11"/>
          <p:cNvSpPr/>
          <p:nvPr/>
        </p:nvSpPr>
        <p:spPr>
          <a:xfrm>
            <a:off x="365760" y="3520440"/>
            <a:ext cx="274320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545840"/>
            <a:ext cx="2651760" cy="320040"/>
          </a:xfrm>
          <a:prstGeom prst="rect">
            <a:avLst/>
          </a:prstGeom>
          <a:noFill/>
        </p:spPr>
        <p:txBody>
          <a:bodyPr wrap="square">
            <a:spAutoFit/>
          </a:bodyPr>
          <a:lstStyle/>
          <a:p>
            <a:pPr algn="l">
              <a:spcAft>
                <a:spcPts val="0"/>
              </a:spcAft>
            </a:pPr>
            <a:r>
              <a:rPr sz="1200" b="1" i="0">
                <a:solidFill>
                  <a:srgbClr val="FFFFFF"/>
                </a:solidFill>
                <a:latin typeface="Calibri"/>
              </a:rPr>
              <a:t>✅  Biện giải biến đổi</a:t>
            </a:r>
          </a:p>
        </p:txBody>
      </p:sp>
      <p:graphicFrame>
        <p:nvGraphicFramePr>
          <p:cNvPr id="14" name="Table 13"/>
          <p:cNvGraphicFramePr>
            <a:graphicFrameLocks noGrp="1"/>
          </p:cNvGraphicFramePr>
          <p:nvPr/>
        </p:nvGraphicFramePr>
        <p:xfrm>
          <a:off x="365760" y="3886200"/>
          <a:ext cx="11430000" cy="2286000"/>
        </p:xfrm>
        <a:graphic>
          <a:graphicData uri="http://schemas.openxmlformats.org/drawingml/2006/table">
            <a:tbl>
              <a:tblPr firstRow="1" bandRow="1">
                <a:tableStyleId>{5C22544A-7EE6-4342-B048-85BDC9FD1C3A}</a:tableStyleId>
              </a:tblPr>
              <a:tblGrid>
                <a:gridCol w="2011680"/>
                <a:gridCol w="9418320"/>
              </a:tblGrid>
              <a:tr h="571500">
                <a:tc>
                  <a:txBody>
                    <a:bodyPr/>
                    <a:lstStyle/>
                    <a:p>
                      <a:pPr algn="ctr"/>
                      <a:r>
                        <a:rPr sz="1300" b="1">
                          <a:solidFill>
                            <a:srgbClr val="FFFFFF"/>
                          </a:solidFill>
                          <a:latin typeface="Calibri"/>
                        </a:rPr>
                        <a:t>Biến đổi</a:t>
                      </a:r>
                    </a:p>
                  </a:txBody>
                  <a:tcPr>
                    <a:solidFill>
                      <a:srgbClr val="1F4E79"/>
                    </a:solidFill>
                  </a:tcPr>
                </a:tc>
                <a:tc>
                  <a:txBody>
                    <a:bodyPr/>
                    <a:lstStyle/>
                    <a:p>
                      <a:pPr algn="ctr"/>
                      <a:r>
                        <a:rPr sz="1300" b="1">
                          <a:solidFill>
                            <a:srgbClr val="FFFFFF"/>
                          </a:solidFill>
                          <a:latin typeface="Calibri"/>
                        </a:rPr>
                        <a:t>Lý do</a:t>
                      </a:r>
                    </a:p>
                  </a:txBody>
                  <a:tcPr>
                    <a:solidFill>
                      <a:srgbClr val="1F4E79"/>
                    </a:solidFill>
                  </a:tcPr>
                </a:tc>
              </a:tr>
              <a:tr h="571500">
                <a:tc>
                  <a:txBody>
                    <a:bodyPr/>
                    <a:lstStyle/>
                    <a:p>
                      <a:pPr algn="l"/>
                      <a:r>
                        <a:rPr sz="1200" b="0">
                          <a:solidFill>
                            <a:srgbClr val="1A1A1A"/>
                          </a:solidFill>
                          <a:latin typeface="Calibri"/>
                        </a:rPr>
                        <a:t>log(1+y)</a:t>
                      </a:r>
                    </a:p>
                  </a:txBody>
                  <a:tcPr>
                    <a:solidFill>
                      <a:srgbClr val="FFFFFF"/>
                    </a:solidFill>
                  </a:tcPr>
                </a:tc>
                <a:tc>
                  <a:txBody>
                    <a:bodyPr/>
                    <a:lstStyle/>
                    <a:p>
                      <a:pPr algn="ctr"/>
                      <a:r>
                        <a:rPr sz="1200" b="0">
                          <a:solidFill>
                            <a:srgbClr val="1A1A1A"/>
                          </a:solidFill>
                          <a:latin typeface="Calibri"/>
                        </a:rPr>
                        <a:t>Giảm skewness 0.42 → 0.11; ổn định phương sai; chuyển seasonality nhân → cộng — chuẩn trong retail</a:t>
                      </a:r>
                    </a:p>
                  </a:txBody>
                  <a:tcPr>
                    <a:solidFill>
                      <a:srgbClr val="FFFFFF"/>
                    </a:solidFill>
                  </a:tcPr>
                </a:tc>
              </a:tr>
              <a:tr h="571500">
                <a:tc>
                  <a:txBody>
                    <a:bodyPr/>
                    <a:lstStyle/>
                    <a:p>
                      <a:pPr algn="l"/>
                      <a:r>
                        <a:rPr sz="1200" b="0">
                          <a:solidFill>
                            <a:srgbClr val="1A1A1A"/>
                          </a:solidFill>
                          <a:latin typeface="Calibri"/>
                        </a:rPr>
                        <a:t>Sai phân d=1</a:t>
                      </a:r>
                    </a:p>
                  </a:txBody>
                  <a:tcPr>
                    <a:solidFill>
                      <a:srgbClr val="F2F4F8"/>
                    </a:solidFill>
                  </a:tcPr>
                </a:tc>
                <a:tc>
                  <a:txBody>
                    <a:bodyPr/>
                    <a:lstStyle/>
                    <a:p>
                      <a:pPr algn="ctr"/>
                      <a:r>
                        <a:rPr sz="1200" b="0">
                          <a:solidFill>
                            <a:srgbClr val="1A1A1A"/>
                          </a:solidFill>
                          <a:latin typeface="Calibri"/>
                        </a:rPr>
                        <a:t>Loại bỏ trend chậm; xác nhận bởi ADF (p&lt;0.001) và KPSS (p&gt;0.10) sau sai phân</a:t>
                      </a:r>
                    </a:p>
                  </a:txBody>
                  <a:tcPr>
                    <a:solidFill>
                      <a:srgbClr val="F2F4F8"/>
                    </a:solidFill>
                  </a:tcPr>
                </a:tc>
              </a:tr>
              <a:tr h="571500">
                <a:tc>
                  <a:txBody>
                    <a:bodyPr/>
                    <a:lstStyle/>
                    <a:p>
                      <a:pPr algn="l"/>
                      <a:r>
                        <a:rPr sz="1200" b="0">
                          <a:solidFill>
                            <a:srgbClr val="1A1A1A"/>
                          </a:solidFill>
                          <a:latin typeface="Calibri"/>
                        </a:rPr>
                        <a:t>Sai phân D=1, s=7</a:t>
                      </a:r>
                    </a:p>
                  </a:txBody>
                  <a:tcPr>
                    <a:solidFill>
                      <a:srgbClr val="FFFFFF"/>
                    </a:solidFill>
                  </a:tcPr>
                </a:tc>
                <a:tc>
                  <a:txBody>
                    <a:bodyPr/>
                    <a:lstStyle/>
                    <a:p>
                      <a:pPr algn="ctr"/>
                      <a:r>
                        <a:rPr sz="1200" b="0">
                          <a:solidFill>
                            <a:srgbClr val="1A1A1A"/>
                          </a:solidFill>
                          <a:latin typeface="Calibri"/>
                        </a:rPr>
                        <a:t>Loại bỏ thành phần chu kỳ tuần; ACF decay chậm tại bội số 7 trên chuỗi chưa seasonal-diff</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Kiểm Định Tính Dừng</a:t>
            </a:r>
          </a:p>
        </p:txBody>
      </p:sp>
      <p:sp>
        <p:nvSpPr>
          <p:cNvPr id="6" name="TextBox 5"/>
          <p:cNvSpPr txBox="1"/>
          <p:nvPr/>
        </p:nvSpPr>
        <p:spPr>
          <a:xfrm>
            <a:off x="365760" y="640080"/>
            <a:ext cx="10972800" cy="347472"/>
          </a:xfrm>
          <a:prstGeom prst="rect">
            <a:avLst/>
          </a:prstGeom>
          <a:noFill/>
        </p:spPr>
        <p:txBody>
          <a:bodyPr wrap="square">
            <a:spAutoFit/>
          </a:bodyPr>
          <a:lstStyle/>
          <a:p>
            <a:pPr algn="l">
              <a:spcAft>
                <a:spcPts val="0"/>
              </a:spcAft>
            </a:pPr>
            <a:r>
              <a:rPr sz="1300" b="0" i="0">
                <a:solidFill>
                  <a:srgbClr val="BDD7EE"/>
                </a:solidFill>
                <a:latin typeface="Calibri"/>
              </a:rPr>
              <a:t>ADF (H₀: unit root)  &amp;  KPSS (H₀: stationary)</a:t>
            </a:r>
          </a:p>
        </p:txBody>
      </p:sp>
      <p:sp>
        <p:nvSpPr>
          <p:cNvPr id="7" name="Rectangle 6"/>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9" name="TextBox 8"/>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8 / 14</a:t>
            </a:r>
          </a:p>
        </p:txBody>
      </p:sp>
      <p:sp>
        <p:nvSpPr>
          <p:cNvPr id="10" name="Rectangle 9"/>
          <p:cNvSpPr/>
          <p:nvPr/>
        </p:nvSpPr>
        <p:spPr>
          <a:xfrm>
            <a:off x="365760" y="1143000"/>
            <a:ext cx="41148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 y="1168400"/>
            <a:ext cx="4023360" cy="320040"/>
          </a:xfrm>
          <a:prstGeom prst="rect">
            <a:avLst/>
          </a:prstGeom>
          <a:noFill/>
        </p:spPr>
        <p:txBody>
          <a:bodyPr wrap="square">
            <a:spAutoFit/>
          </a:bodyPr>
          <a:lstStyle/>
          <a:p>
            <a:pPr algn="l">
              <a:spcAft>
                <a:spcPts val="0"/>
              </a:spcAft>
            </a:pPr>
            <a:r>
              <a:rPr sz="1200" b="1" i="0">
                <a:solidFill>
                  <a:srgbClr val="FFFFFF"/>
                </a:solidFill>
                <a:latin typeface="Calibri"/>
              </a:rPr>
              <a:t>Augmented Dickey-Fuller Test</a:t>
            </a:r>
          </a:p>
        </p:txBody>
      </p:sp>
      <p:graphicFrame>
        <p:nvGraphicFramePr>
          <p:cNvPr id="12" name="Table 11"/>
          <p:cNvGraphicFramePr>
            <a:graphicFrameLocks noGrp="1"/>
          </p:cNvGraphicFramePr>
          <p:nvPr/>
        </p:nvGraphicFramePr>
        <p:xfrm>
          <a:off x="365760" y="1508760"/>
          <a:ext cx="11430000" cy="1463040"/>
        </p:xfrm>
        <a:graphic>
          <a:graphicData uri="http://schemas.openxmlformats.org/drawingml/2006/table">
            <a:tbl>
              <a:tblPr firstRow="1" bandRow="1">
                <a:tableStyleId>{5C22544A-7EE6-4342-B048-85BDC9FD1C3A}</a:tableStyleId>
              </a:tblPr>
              <a:tblGrid>
                <a:gridCol w="3840480"/>
                <a:gridCol w="2103120"/>
                <a:gridCol w="1645920"/>
                <a:gridCol w="3840480"/>
              </a:tblGrid>
              <a:tr h="365760">
                <a:tc>
                  <a:txBody>
                    <a:bodyPr/>
                    <a:lstStyle/>
                    <a:p>
                      <a:pPr algn="ctr"/>
                      <a:r>
                        <a:rPr sz="1300" b="1">
                          <a:solidFill>
                            <a:srgbClr val="FFFFFF"/>
                          </a:solidFill>
                          <a:latin typeface="Calibri"/>
                        </a:rPr>
                        <a:t>Chuỗi</a:t>
                      </a:r>
                    </a:p>
                  </a:txBody>
                  <a:tcPr>
                    <a:solidFill>
                      <a:srgbClr val="1F4E79"/>
                    </a:solidFill>
                  </a:tcPr>
                </a:tc>
                <a:tc>
                  <a:txBody>
                    <a:bodyPr/>
                    <a:lstStyle/>
                    <a:p>
                      <a:pPr algn="ctr"/>
                      <a:r>
                        <a:rPr sz="1300" b="1">
                          <a:solidFill>
                            <a:srgbClr val="FFFFFF"/>
                          </a:solidFill>
                          <a:latin typeface="Calibri"/>
                        </a:rPr>
                        <a:t>ADF Statistic</a:t>
                      </a:r>
                    </a:p>
                  </a:txBody>
                  <a:tcPr>
                    <a:solidFill>
                      <a:srgbClr val="1F4E79"/>
                    </a:solidFill>
                  </a:tcPr>
                </a:tc>
                <a:tc>
                  <a:txBody>
                    <a:bodyPr/>
                    <a:lstStyle/>
                    <a:p>
                      <a:pPr algn="ctr"/>
                      <a:r>
                        <a:rPr sz="1300" b="1">
                          <a:solidFill>
                            <a:srgbClr val="FFFFFF"/>
                          </a:solidFill>
                          <a:latin typeface="Calibri"/>
                        </a:rPr>
                        <a:t>p-value</a:t>
                      </a:r>
                    </a:p>
                  </a:txBody>
                  <a:tcPr>
                    <a:solidFill>
                      <a:srgbClr val="1F4E79"/>
                    </a:solidFill>
                  </a:tcPr>
                </a:tc>
                <a:tc>
                  <a:txBody>
                    <a:bodyPr/>
                    <a:lstStyle/>
                    <a:p>
                      <a:pPr algn="ctr"/>
                      <a:r>
                        <a:rPr sz="1300" b="1">
                          <a:solidFill>
                            <a:srgbClr val="FFFFFF"/>
                          </a:solidFill>
                          <a:latin typeface="Calibri"/>
                        </a:rPr>
                        <a:t>Kết luận</a:t>
                      </a:r>
                    </a:p>
                  </a:txBody>
                  <a:tcPr>
                    <a:solidFill>
                      <a:srgbClr val="1F4E79"/>
                    </a:solidFill>
                  </a:tcPr>
                </a:tc>
              </a:tr>
              <a:tr h="365760">
                <a:tc>
                  <a:txBody>
                    <a:bodyPr/>
                    <a:lstStyle/>
                    <a:p>
                      <a:pPr algn="l"/>
                      <a:r>
                        <a:rPr sz="1200" b="0">
                          <a:solidFill>
                            <a:srgbClr val="1A1A1A"/>
                          </a:solidFill>
                          <a:latin typeface="Calibri"/>
                        </a:rPr>
                        <a:t>log(1+Sales) — Level</a:t>
                      </a:r>
                    </a:p>
                  </a:txBody>
                  <a:tcPr>
                    <a:solidFill>
                      <a:srgbClr val="FFFFFF"/>
                    </a:solidFill>
                  </a:tcPr>
                </a:tc>
                <a:tc>
                  <a:txBody>
                    <a:bodyPr/>
                    <a:lstStyle/>
                    <a:p>
                      <a:pPr algn="ctr"/>
                      <a:r>
                        <a:rPr sz="1200" b="0">
                          <a:solidFill>
                            <a:srgbClr val="1A1A1A"/>
                          </a:solidFill>
                          <a:latin typeface="Calibri"/>
                        </a:rPr>
                        <a:t>−2.31</a:t>
                      </a:r>
                    </a:p>
                  </a:txBody>
                  <a:tcPr>
                    <a:solidFill>
                      <a:srgbClr val="FFFFFF"/>
                    </a:solidFill>
                  </a:tcPr>
                </a:tc>
                <a:tc>
                  <a:txBody>
                    <a:bodyPr/>
                    <a:lstStyle/>
                    <a:p>
                      <a:pPr algn="ctr"/>
                      <a:r>
                        <a:rPr sz="1200" b="0">
                          <a:solidFill>
                            <a:srgbClr val="1A1A1A"/>
                          </a:solidFill>
                          <a:latin typeface="Calibri"/>
                        </a:rPr>
                        <a:t>0.168</a:t>
                      </a:r>
                    </a:p>
                  </a:txBody>
                  <a:tcPr>
                    <a:solidFill>
                      <a:srgbClr val="FFFFFF"/>
                    </a:solidFill>
                  </a:tcPr>
                </a:tc>
                <a:tc>
                  <a:txBody>
                    <a:bodyPr/>
                    <a:lstStyle/>
                    <a:p>
                      <a:pPr algn="ctr"/>
                      <a:r>
                        <a:rPr sz="1200" b="0">
                          <a:solidFill>
                            <a:srgbClr val="C0392B"/>
                          </a:solidFill>
                          <a:latin typeface="Calibri"/>
                        </a:rPr>
                        <a:t>Non-stationary ✗</a:t>
                      </a:r>
                    </a:p>
                  </a:txBody>
                  <a:tcPr>
                    <a:solidFill>
                      <a:srgbClr val="FAD7D0"/>
                    </a:solidFill>
                  </a:tcPr>
                </a:tc>
              </a:tr>
              <a:tr h="365760">
                <a:tc>
                  <a:txBody>
                    <a:bodyPr/>
                    <a:lstStyle/>
                    <a:p>
                      <a:pPr algn="l"/>
                      <a:r>
                        <a:rPr sz="1200" b="0">
                          <a:solidFill>
                            <a:srgbClr val="1A1A1A"/>
                          </a:solidFill>
                          <a:latin typeface="Calibri"/>
                        </a:rPr>
                        <a:t>∇log — d=1</a:t>
                      </a:r>
                    </a:p>
                  </a:txBody>
                  <a:tcPr>
                    <a:solidFill>
                      <a:srgbClr val="F2F4F8"/>
                    </a:solidFill>
                  </a:tcPr>
                </a:tc>
                <a:tc>
                  <a:txBody>
                    <a:bodyPr/>
                    <a:lstStyle/>
                    <a:p>
                      <a:pPr algn="ctr"/>
                      <a:r>
                        <a:rPr sz="1200" b="0">
                          <a:solidFill>
                            <a:srgbClr val="1A1A1A"/>
                          </a:solidFill>
                          <a:latin typeface="Calibri"/>
                        </a:rPr>
                        <a:t>−8.74</a:t>
                      </a:r>
                    </a:p>
                  </a:txBody>
                  <a:tcPr>
                    <a:solidFill>
                      <a:srgbClr val="F2F4F8"/>
                    </a:solidFill>
                  </a:tcPr>
                </a:tc>
                <a:tc>
                  <a:txBody>
                    <a:bodyPr/>
                    <a:lstStyle/>
                    <a:p>
                      <a:pPr algn="ctr"/>
                      <a:r>
                        <a:rPr sz="1200" b="0">
                          <a:solidFill>
                            <a:srgbClr val="1A1A1A"/>
                          </a:solidFill>
                          <a:latin typeface="Calibri"/>
                        </a:rPr>
                        <a:t>&lt;0.001</a:t>
                      </a:r>
                    </a:p>
                  </a:txBody>
                  <a:tcPr>
                    <a:solidFill>
                      <a:srgbClr val="F2F4F8"/>
                    </a:solidFill>
                  </a:tcPr>
                </a:tc>
                <a:tc>
                  <a:txBody>
                    <a:bodyPr/>
                    <a:lstStyle/>
                    <a:p>
                      <a:pPr algn="ctr"/>
                      <a:r>
                        <a:rPr sz="1200" b="0">
                          <a:solidFill>
                            <a:srgbClr val="1A7A4A"/>
                          </a:solidFill>
                          <a:latin typeface="Calibri"/>
                        </a:rPr>
                        <a:t>Stationary ✓</a:t>
                      </a:r>
                    </a:p>
                  </a:txBody>
                  <a:tcPr>
                    <a:solidFill>
                      <a:srgbClr val="D5F0E0"/>
                    </a:solidFill>
                  </a:tcPr>
                </a:tc>
              </a:tr>
              <a:tr h="365760">
                <a:tc>
                  <a:txBody>
                    <a:bodyPr/>
                    <a:lstStyle/>
                    <a:p>
                      <a:pPr algn="l"/>
                      <a:r>
                        <a:rPr sz="1200" b="0">
                          <a:solidFill>
                            <a:srgbClr val="1A1A1A"/>
                          </a:solidFill>
                          <a:latin typeface="Calibri"/>
                        </a:rPr>
                        <a:t>∇∇₇log — d=1,D=1</a:t>
                      </a:r>
                    </a:p>
                  </a:txBody>
                  <a:tcPr>
                    <a:solidFill>
                      <a:srgbClr val="FFFFFF"/>
                    </a:solidFill>
                  </a:tcPr>
                </a:tc>
                <a:tc>
                  <a:txBody>
                    <a:bodyPr/>
                    <a:lstStyle/>
                    <a:p>
                      <a:pPr algn="ctr"/>
                      <a:r>
                        <a:rPr sz="1200" b="0">
                          <a:solidFill>
                            <a:srgbClr val="1A1A1A"/>
                          </a:solidFill>
                          <a:latin typeface="Calibri"/>
                        </a:rPr>
                        <a:t>−6.12</a:t>
                      </a:r>
                    </a:p>
                  </a:txBody>
                  <a:tcPr>
                    <a:solidFill>
                      <a:srgbClr val="FFFFFF"/>
                    </a:solidFill>
                  </a:tcPr>
                </a:tc>
                <a:tc>
                  <a:txBody>
                    <a:bodyPr/>
                    <a:lstStyle/>
                    <a:p>
                      <a:pPr algn="ctr"/>
                      <a:r>
                        <a:rPr sz="1200" b="0">
                          <a:solidFill>
                            <a:srgbClr val="1A1A1A"/>
                          </a:solidFill>
                          <a:latin typeface="Calibri"/>
                        </a:rPr>
                        <a:t>&lt;0.001</a:t>
                      </a:r>
                    </a:p>
                  </a:txBody>
                  <a:tcPr>
                    <a:solidFill>
                      <a:srgbClr val="FFFFFF"/>
                    </a:solidFill>
                  </a:tcPr>
                </a:tc>
                <a:tc>
                  <a:txBody>
                    <a:bodyPr/>
                    <a:lstStyle/>
                    <a:p>
                      <a:pPr algn="ctr"/>
                      <a:r>
                        <a:rPr sz="1200" b="0">
                          <a:solidFill>
                            <a:srgbClr val="1A7A4A"/>
                          </a:solidFill>
                          <a:latin typeface="Calibri"/>
                        </a:rPr>
                        <a:t>Stationary ✓</a:t>
                      </a:r>
                    </a:p>
                  </a:txBody>
                  <a:tcPr>
                    <a:solidFill>
                      <a:srgbClr val="D5F0E0"/>
                    </a:solidFill>
                  </a:tcPr>
                </a:tc>
              </a:tr>
            </a:tbl>
          </a:graphicData>
        </a:graphic>
      </p:graphicFrame>
      <p:sp>
        <p:nvSpPr>
          <p:cNvPr id="13" name="Rectangle 12"/>
          <p:cNvSpPr/>
          <p:nvPr/>
        </p:nvSpPr>
        <p:spPr>
          <a:xfrm>
            <a:off x="365760" y="3154680"/>
            <a:ext cx="41148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3180080"/>
            <a:ext cx="4023360" cy="320040"/>
          </a:xfrm>
          <a:prstGeom prst="rect">
            <a:avLst/>
          </a:prstGeom>
          <a:noFill/>
        </p:spPr>
        <p:txBody>
          <a:bodyPr wrap="square">
            <a:spAutoFit/>
          </a:bodyPr>
          <a:lstStyle/>
          <a:p>
            <a:pPr algn="l">
              <a:spcAft>
                <a:spcPts val="0"/>
              </a:spcAft>
            </a:pPr>
            <a:r>
              <a:rPr sz="1200" b="1" i="0">
                <a:solidFill>
                  <a:srgbClr val="FFFFFF"/>
                </a:solidFill>
                <a:latin typeface="Calibri"/>
              </a:rPr>
              <a:t>KPSS Test</a:t>
            </a:r>
          </a:p>
        </p:txBody>
      </p:sp>
      <p:graphicFrame>
        <p:nvGraphicFramePr>
          <p:cNvPr id="15" name="Table 14"/>
          <p:cNvGraphicFramePr>
            <a:graphicFrameLocks noGrp="1"/>
          </p:cNvGraphicFramePr>
          <p:nvPr/>
        </p:nvGraphicFramePr>
        <p:xfrm>
          <a:off x="365760" y="3520440"/>
          <a:ext cx="11430000" cy="1463040"/>
        </p:xfrm>
        <a:graphic>
          <a:graphicData uri="http://schemas.openxmlformats.org/drawingml/2006/table">
            <a:tbl>
              <a:tblPr firstRow="1" bandRow="1">
                <a:tableStyleId>{5C22544A-7EE6-4342-B048-85BDC9FD1C3A}</a:tableStyleId>
              </a:tblPr>
              <a:tblGrid>
                <a:gridCol w="3840480"/>
                <a:gridCol w="2103120"/>
                <a:gridCol w="1645920"/>
                <a:gridCol w="3840480"/>
              </a:tblGrid>
              <a:tr h="365760">
                <a:tc>
                  <a:txBody>
                    <a:bodyPr/>
                    <a:lstStyle/>
                    <a:p>
                      <a:pPr algn="ctr"/>
                      <a:r>
                        <a:rPr sz="1300" b="1">
                          <a:solidFill>
                            <a:srgbClr val="FFFFFF"/>
                          </a:solidFill>
                          <a:latin typeface="Calibri"/>
                        </a:rPr>
                        <a:t>Chuỗi</a:t>
                      </a:r>
                    </a:p>
                  </a:txBody>
                  <a:tcPr>
                    <a:solidFill>
                      <a:srgbClr val="1F4E79"/>
                    </a:solidFill>
                  </a:tcPr>
                </a:tc>
                <a:tc>
                  <a:txBody>
                    <a:bodyPr/>
                    <a:lstStyle/>
                    <a:p>
                      <a:pPr algn="ctr"/>
                      <a:r>
                        <a:rPr sz="1300" b="1">
                          <a:solidFill>
                            <a:srgbClr val="FFFFFF"/>
                          </a:solidFill>
                          <a:latin typeface="Calibri"/>
                        </a:rPr>
                        <a:t>KPSS Statistic</a:t>
                      </a:r>
                    </a:p>
                  </a:txBody>
                  <a:tcPr>
                    <a:solidFill>
                      <a:srgbClr val="1F4E79"/>
                    </a:solidFill>
                  </a:tcPr>
                </a:tc>
                <a:tc>
                  <a:txBody>
                    <a:bodyPr/>
                    <a:lstStyle/>
                    <a:p>
                      <a:pPr algn="ctr"/>
                      <a:r>
                        <a:rPr sz="1300" b="1">
                          <a:solidFill>
                            <a:srgbClr val="FFFFFF"/>
                          </a:solidFill>
                          <a:latin typeface="Calibri"/>
                        </a:rPr>
                        <a:t>p-value</a:t>
                      </a:r>
                    </a:p>
                  </a:txBody>
                  <a:tcPr>
                    <a:solidFill>
                      <a:srgbClr val="1F4E79"/>
                    </a:solidFill>
                  </a:tcPr>
                </a:tc>
                <a:tc>
                  <a:txBody>
                    <a:bodyPr/>
                    <a:lstStyle/>
                    <a:p>
                      <a:pPr algn="ctr"/>
                      <a:r>
                        <a:rPr sz="1300" b="1">
                          <a:solidFill>
                            <a:srgbClr val="FFFFFF"/>
                          </a:solidFill>
                          <a:latin typeface="Calibri"/>
                        </a:rPr>
                        <a:t>Kết luận</a:t>
                      </a:r>
                    </a:p>
                  </a:txBody>
                  <a:tcPr>
                    <a:solidFill>
                      <a:srgbClr val="1F4E79"/>
                    </a:solidFill>
                  </a:tcPr>
                </a:tc>
              </a:tr>
              <a:tr h="365760">
                <a:tc>
                  <a:txBody>
                    <a:bodyPr/>
                    <a:lstStyle/>
                    <a:p>
                      <a:pPr algn="l"/>
                      <a:r>
                        <a:rPr sz="1200" b="0">
                          <a:solidFill>
                            <a:srgbClr val="1A1A1A"/>
                          </a:solidFill>
                          <a:latin typeface="Calibri"/>
                        </a:rPr>
                        <a:t>log(1+Sales) — Level</a:t>
                      </a:r>
                    </a:p>
                  </a:txBody>
                  <a:tcPr>
                    <a:solidFill>
                      <a:srgbClr val="FFFFFF"/>
                    </a:solidFill>
                  </a:tcPr>
                </a:tc>
                <a:tc>
                  <a:txBody>
                    <a:bodyPr/>
                    <a:lstStyle/>
                    <a:p>
                      <a:pPr algn="ctr"/>
                      <a:r>
                        <a:rPr sz="1200" b="0">
                          <a:solidFill>
                            <a:srgbClr val="1A1A1A"/>
                          </a:solidFill>
                          <a:latin typeface="Calibri"/>
                        </a:rPr>
                        <a:t>0.480</a:t>
                      </a:r>
                    </a:p>
                  </a:txBody>
                  <a:tcPr>
                    <a:solidFill>
                      <a:srgbClr val="FFFFFF"/>
                    </a:solidFill>
                  </a:tcPr>
                </a:tc>
                <a:tc>
                  <a:txBody>
                    <a:bodyPr/>
                    <a:lstStyle/>
                    <a:p>
                      <a:pPr algn="ctr"/>
                      <a:r>
                        <a:rPr sz="1200" b="0">
                          <a:solidFill>
                            <a:srgbClr val="1A1A1A"/>
                          </a:solidFill>
                          <a:latin typeface="Calibri"/>
                        </a:rPr>
                        <a:t>0.039</a:t>
                      </a:r>
                    </a:p>
                  </a:txBody>
                  <a:tcPr>
                    <a:solidFill>
                      <a:srgbClr val="FFFFFF"/>
                    </a:solidFill>
                  </a:tcPr>
                </a:tc>
                <a:tc>
                  <a:txBody>
                    <a:bodyPr/>
                    <a:lstStyle/>
                    <a:p>
                      <a:pPr algn="ctr"/>
                      <a:r>
                        <a:rPr sz="1200" b="0">
                          <a:solidFill>
                            <a:srgbClr val="C0392B"/>
                          </a:solidFill>
                          <a:latin typeface="Calibri"/>
                        </a:rPr>
                        <a:t>Non-stationary ✗</a:t>
                      </a:r>
                    </a:p>
                  </a:txBody>
                  <a:tcPr>
                    <a:solidFill>
                      <a:srgbClr val="FAD7D0"/>
                    </a:solidFill>
                  </a:tcPr>
                </a:tc>
              </a:tr>
              <a:tr h="365760">
                <a:tc>
                  <a:txBody>
                    <a:bodyPr/>
                    <a:lstStyle/>
                    <a:p>
                      <a:pPr algn="l"/>
                      <a:r>
                        <a:rPr sz="1200" b="0">
                          <a:solidFill>
                            <a:srgbClr val="1A1A1A"/>
                          </a:solidFill>
                          <a:latin typeface="Calibri"/>
                        </a:rPr>
                        <a:t>∇log — d=1</a:t>
                      </a:r>
                    </a:p>
                  </a:txBody>
                  <a:tcPr>
                    <a:solidFill>
                      <a:srgbClr val="F2F4F8"/>
                    </a:solidFill>
                  </a:tcPr>
                </a:tc>
                <a:tc>
                  <a:txBody>
                    <a:bodyPr/>
                    <a:lstStyle/>
                    <a:p>
                      <a:pPr algn="ctr"/>
                      <a:r>
                        <a:rPr sz="1200" b="0">
                          <a:solidFill>
                            <a:srgbClr val="1A1A1A"/>
                          </a:solidFill>
                          <a:latin typeface="Calibri"/>
                        </a:rPr>
                        <a:t>0.083</a:t>
                      </a:r>
                    </a:p>
                  </a:txBody>
                  <a:tcPr>
                    <a:solidFill>
                      <a:srgbClr val="F2F4F8"/>
                    </a:solidFill>
                  </a:tcPr>
                </a:tc>
                <a:tc>
                  <a:txBody>
                    <a:bodyPr/>
                    <a:lstStyle/>
                    <a:p>
                      <a:pPr algn="ctr"/>
                      <a:r>
                        <a:rPr sz="1200" b="0">
                          <a:solidFill>
                            <a:srgbClr val="1A1A1A"/>
                          </a:solidFill>
                          <a:latin typeface="Calibri"/>
                        </a:rPr>
                        <a:t>&gt;0.10</a:t>
                      </a:r>
                    </a:p>
                  </a:txBody>
                  <a:tcPr>
                    <a:solidFill>
                      <a:srgbClr val="F2F4F8"/>
                    </a:solidFill>
                  </a:tcPr>
                </a:tc>
                <a:tc>
                  <a:txBody>
                    <a:bodyPr/>
                    <a:lstStyle/>
                    <a:p>
                      <a:pPr algn="ctr"/>
                      <a:r>
                        <a:rPr sz="1200" b="0">
                          <a:solidFill>
                            <a:srgbClr val="1A7A4A"/>
                          </a:solidFill>
                          <a:latin typeface="Calibri"/>
                        </a:rPr>
                        <a:t>Stationary ✓</a:t>
                      </a:r>
                    </a:p>
                  </a:txBody>
                  <a:tcPr>
                    <a:solidFill>
                      <a:srgbClr val="D5F0E0"/>
                    </a:solidFill>
                  </a:tcPr>
                </a:tc>
              </a:tr>
              <a:tr h="365760">
                <a:tc>
                  <a:txBody>
                    <a:bodyPr/>
                    <a:lstStyle/>
                    <a:p>
                      <a:pPr algn="l"/>
                      <a:r>
                        <a:rPr sz="1200" b="0">
                          <a:solidFill>
                            <a:srgbClr val="1A1A1A"/>
                          </a:solidFill>
                          <a:latin typeface="Calibri"/>
                        </a:rPr>
                        <a:t>∇∇₇log — d=1,D=1</a:t>
                      </a:r>
                    </a:p>
                  </a:txBody>
                  <a:tcPr>
                    <a:solidFill>
                      <a:srgbClr val="FFFFFF"/>
                    </a:solidFill>
                  </a:tcPr>
                </a:tc>
                <a:tc>
                  <a:txBody>
                    <a:bodyPr/>
                    <a:lstStyle/>
                    <a:p>
                      <a:pPr algn="ctr"/>
                      <a:r>
                        <a:rPr sz="1200" b="0">
                          <a:solidFill>
                            <a:srgbClr val="1A1A1A"/>
                          </a:solidFill>
                          <a:latin typeface="Calibri"/>
                        </a:rPr>
                        <a:t>0.061</a:t>
                      </a:r>
                    </a:p>
                  </a:txBody>
                  <a:tcPr>
                    <a:solidFill>
                      <a:srgbClr val="FFFFFF"/>
                    </a:solidFill>
                  </a:tcPr>
                </a:tc>
                <a:tc>
                  <a:txBody>
                    <a:bodyPr/>
                    <a:lstStyle/>
                    <a:p>
                      <a:pPr algn="ctr"/>
                      <a:r>
                        <a:rPr sz="1200" b="0">
                          <a:solidFill>
                            <a:srgbClr val="1A1A1A"/>
                          </a:solidFill>
                          <a:latin typeface="Calibri"/>
                        </a:rPr>
                        <a:t>&gt;0.10</a:t>
                      </a:r>
                    </a:p>
                  </a:txBody>
                  <a:tcPr>
                    <a:solidFill>
                      <a:srgbClr val="FFFFFF"/>
                    </a:solidFill>
                  </a:tcPr>
                </a:tc>
                <a:tc>
                  <a:txBody>
                    <a:bodyPr/>
                    <a:lstStyle/>
                    <a:p>
                      <a:pPr algn="ctr"/>
                      <a:r>
                        <a:rPr sz="1200" b="0">
                          <a:solidFill>
                            <a:srgbClr val="1A7A4A"/>
                          </a:solidFill>
                          <a:latin typeface="Calibri"/>
                        </a:rPr>
                        <a:t>Stationary ✓</a:t>
                      </a:r>
                    </a:p>
                  </a:txBody>
                  <a:tcPr>
                    <a:solidFill>
                      <a:srgbClr val="D5F0E0"/>
                    </a:solidFill>
                  </a:tcPr>
                </a:tc>
              </a:tr>
            </a:tbl>
          </a:graphicData>
        </a:graphic>
      </p:graphicFrame>
      <p:sp>
        <p:nvSpPr>
          <p:cNvPr id="16" name="Rectangle 15"/>
          <p:cNvSpPr/>
          <p:nvPr/>
        </p:nvSpPr>
        <p:spPr>
          <a:xfrm>
            <a:off x="365760" y="5074920"/>
            <a:ext cx="11430000" cy="114300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166360"/>
            <a:ext cx="11247120" cy="1143000"/>
          </a:xfrm>
          <a:prstGeom prst="rect">
            <a:avLst/>
          </a:prstGeom>
          <a:noFill/>
        </p:spPr>
        <p:txBody>
          <a:bodyPr wrap="square">
            <a:spAutoFit/>
          </a:bodyPr>
          <a:lstStyle/>
          <a:p>
            <a:pPr algn="ctr">
              <a:spcAft>
                <a:spcPts val="0"/>
              </a:spcAft>
            </a:pPr>
            <a:r>
              <a:rPr sz="1100" b="0" i="0">
                <a:solidFill>
                  <a:srgbClr val="555555"/>
                </a:solidFill>
                <a:latin typeface="Calibri"/>
              </a:rPr>
              <a:t>[Image not found:
differencing_stages.png]</a:t>
            </a:r>
          </a:p>
        </p:txBody>
      </p:sp>
      <p:sp>
        <p:nvSpPr>
          <p:cNvPr id="18" name="Rectangle 17"/>
          <p:cNvSpPr/>
          <p:nvPr/>
        </p:nvSpPr>
        <p:spPr>
          <a:xfrm>
            <a:off x="365760" y="6291072"/>
            <a:ext cx="11430000" cy="1645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281928"/>
            <a:ext cx="11155680" cy="201168"/>
          </a:xfrm>
          <a:prstGeom prst="rect">
            <a:avLst/>
          </a:prstGeom>
          <a:noFill/>
        </p:spPr>
        <p:txBody>
          <a:bodyPr wrap="square">
            <a:spAutoFit/>
          </a:bodyPr>
          <a:lstStyle/>
          <a:p>
            <a:pPr algn="l">
              <a:spcAft>
                <a:spcPts val="0"/>
              </a:spcAft>
            </a:pPr>
            <a:r>
              <a:rPr sz="1200" b="1" i="0">
                <a:solidFill>
                  <a:srgbClr val="FFFFFF"/>
                </a:solidFill>
                <a:latin typeface="Calibri"/>
              </a:rPr>
              <a:t>→  Kết luận: Cả hai kiểm định đồng thuận — chọn  d = 1,  D = 1,  s = 7  cho SARIMA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ACF &amp; PACF — Xác Định Order Mô Hình</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9 / 14</a:t>
            </a:r>
          </a:p>
        </p:txBody>
      </p:sp>
      <p:sp>
        <p:nvSpPr>
          <p:cNvPr id="9" name="Rectangle 8"/>
          <p:cNvSpPr/>
          <p:nvPr/>
        </p:nvSpPr>
        <p:spPr>
          <a:xfrm>
            <a:off x="365760" y="1143000"/>
            <a:ext cx="41148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168400"/>
            <a:ext cx="4023360" cy="320040"/>
          </a:xfrm>
          <a:prstGeom prst="rect">
            <a:avLst/>
          </a:prstGeom>
          <a:noFill/>
        </p:spPr>
        <p:txBody>
          <a:bodyPr wrap="square">
            <a:spAutoFit/>
          </a:bodyPr>
          <a:lstStyle/>
          <a:p>
            <a:pPr algn="l">
              <a:spcAft>
                <a:spcPts val="0"/>
              </a:spcAft>
            </a:pPr>
            <a:r>
              <a:rPr sz="1200" b="1" i="0">
                <a:solidFill>
                  <a:srgbClr val="FFFFFF"/>
                </a:solidFill>
                <a:latin typeface="Calibri"/>
              </a:rPr>
              <a:t>📈  Diễn giải ACF/PACF theo giai đoạn</a:t>
            </a:r>
          </a:p>
        </p:txBody>
      </p:sp>
      <p:graphicFrame>
        <p:nvGraphicFramePr>
          <p:cNvPr id="11" name="Table 10"/>
          <p:cNvGraphicFramePr>
            <a:graphicFrameLocks noGrp="1"/>
          </p:cNvGraphicFramePr>
          <p:nvPr/>
        </p:nvGraphicFramePr>
        <p:xfrm>
          <a:off x="365760" y="1508760"/>
          <a:ext cx="11430000" cy="1691640"/>
        </p:xfrm>
        <a:graphic>
          <a:graphicData uri="http://schemas.openxmlformats.org/drawingml/2006/table">
            <a:tbl>
              <a:tblPr firstRow="1" bandRow="1">
                <a:tableStyleId>{5C22544A-7EE6-4342-B048-85BDC9FD1C3A}</a:tableStyleId>
              </a:tblPr>
              <a:tblGrid>
                <a:gridCol w="2926080"/>
                <a:gridCol w="2834640"/>
                <a:gridCol w="2560320"/>
                <a:gridCol w="3108960"/>
              </a:tblGrid>
              <a:tr h="422910">
                <a:tc>
                  <a:txBody>
                    <a:bodyPr/>
                    <a:lstStyle/>
                    <a:p>
                      <a:pPr algn="ctr"/>
                      <a:r>
                        <a:rPr sz="1300" b="1">
                          <a:solidFill>
                            <a:srgbClr val="FFFFFF"/>
                          </a:solidFill>
                          <a:latin typeface="Calibri"/>
                        </a:rPr>
                        <a:t>Chuỗi</a:t>
                      </a:r>
                    </a:p>
                  </a:txBody>
                  <a:tcPr>
                    <a:solidFill>
                      <a:srgbClr val="1F4E79"/>
                    </a:solidFill>
                  </a:tcPr>
                </a:tc>
                <a:tc>
                  <a:txBody>
                    <a:bodyPr/>
                    <a:lstStyle/>
                    <a:p>
                      <a:pPr algn="ctr"/>
                      <a:r>
                        <a:rPr sz="1300" b="1">
                          <a:solidFill>
                            <a:srgbClr val="FFFFFF"/>
                          </a:solidFill>
                          <a:latin typeface="Calibri"/>
                        </a:rPr>
                        <a:t>ACF pattern</a:t>
                      </a:r>
                    </a:p>
                  </a:txBody>
                  <a:tcPr>
                    <a:solidFill>
                      <a:srgbClr val="1F4E79"/>
                    </a:solidFill>
                  </a:tcPr>
                </a:tc>
                <a:tc>
                  <a:txBody>
                    <a:bodyPr/>
                    <a:lstStyle/>
                    <a:p>
                      <a:pPr algn="ctr"/>
                      <a:r>
                        <a:rPr sz="1300" b="1">
                          <a:solidFill>
                            <a:srgbClr val="FFFFFF"/>
                          </a:solidFill>
                          <a:latin typeface="Calibri"/>
                        </a:rPr>
                        <a:t>PACF pattern</a:t>
                      </a:r>
                    </a:p>
                  </a:txBody>
                  <a:tcPr>
                    <a:solidFill>
                      <a:srgbClr val="1F4E79"/>
                    </a:solidFill>
                  </a:tcPr>
                </a:tc>
                <a:tc>
                  <a:txBody>
                    <a:bodyPr/>
                    <a:lstStyle/>
                    <a:p>
                      <a:pPr algn="ctr"/>
                      <a:r>
                        <a:rPr sz="1300" b="1">
                          <a:solidFill>
                            <a:srgbClr val="FFFFFF"/>
                          </a:solidFill>
                          <a:latin typeface="Calibri"/>
                        </a:rPr>
                        <a:t>Kết luận</a:t>
                      </a:r>
                    </a:p>
                  </a:txBody>
                  <a:tcPr>
                    <a:solidFill>
                      <a:srgbClr val="1F4E79"/>
                    </a:solidFill>
                  </a:tcPr>
                </a:tc>
              </a:tr>
              <a:tr h="422910">
                <a:tc>
                  <a:txBody>
                    <a:bodyPr/>
                    <a:lstStyle/>
                    <a:p>
                      <a:pPr algn="l"/>
                      <a:r>
                        <a:rPr sz="1200" b="0">
                          <a:solidFill>
                            <a:srgbClr val="1A1A1A"/>
                          </a:solidFill>
                          <a:latin typeface="Calibri"/>
                        </a:rPr>
                        <a:t>log(1+Sales) — Level</a:t>
                      </a:r>
                    </a:p>
                  </a:txBody>
                  <a:tcPr>
                    <a:solidFill>
                      <a:srgbClr val="FFFFFF"/>
                    </a:solidFill>
                  </a:tcPr>
                </a:tc>
                <a:tc>
                  <a:txBody>
                    <a:bodyPr/>
                    <a:lstStyle/>
                    <a:p>
                      <a:pPr algn="ctr"/>
                      <a:r>
                        <a:rPr sz="1200" b="0">
                          <a:solidFill>
                            <a:srgbClr val="1A1A1A"/>
                          </a:solidFill>
                          <a:latin typeface="Calibri"/>
                        </a:rPr>
                        <a:t>Decay chậm dương</a:t>
                      </a:r>
                    </a:p>
                  </a:txBody>
                  <a:tcPr>
                    <a:solidFill>
                      <a:srgbClr val="FFFFFF"/>
                    </a:solidFill>
                  </a:tcPr>
                </a:tc>
                <a:tc>
                  <a:txBody>
                    <a:bodyPr/>
                    <a:lstStyle/>
                    <a:p>
                      <a:pPr algn="ctr"/>
                      <a:r>
                        <a:rPr sz="1200" b="0">
                          <a:solidFill>
                            <a:srgbClr val="1A1A1A"/>
                          </a:solidFill>
                          <a:latin typeface="Calibri"/>
                        </a:rPr>
                        <a:t>Cắt sau lag 1</a:t>
                      </a:r>
                    </a:p>
                  </a:txBody>
                  <a:tcPr>
                    <a:solidFill>
                      <a:srgbClr val="FFFFFF"/>
                    </a:solidFill>
                  </a:tcPr>
                </a:tc>
                <a:tc>
                  <a:txBody>
                    <a:bodyPr/>
                    <a:lstStyle/>
                    <a:p>
                      <a:pPr algn="ctr"/>
                      <a:r>
                        <a:rPr sz="1200" b="0">
                          <a:solidFill>
                            <a:srgbClr val="1A1A1A"/>
                          </a:solidFill>
                          <a:latin typeface="Calibri"/>
                        </a:rPr>
                        <a:t>Non-stationary → d=1</a:t>
                      </a:r>
                    </a:p>
                  </a:txBody>
                  <a:tcPr>
                    <a:solidFill>
                      <a:srgbClr val="FFFFFF"/>
                    </a:solidFill>
                  </a:tcPr>
                </a:tc>
              </a:tr>
              <a:tr h="422910">
                <a:tc>
                  <a:txBody>
                    <a:bodyPr/>
                    <a:lstStyle/>
                    <a:p>
                      <a:pPr algn="l"/>
                      <a:r>
                        <a:rPr sz="1200" b="0">
                          <a:solidFill>
                            <a:srgbClr val="1A1A1A"/>
                          </a:solidFill>
                          <a:latin typeface="Calibri"/>
                        </a:rPr>
                        <a:t>∇log — d=1</a:t>
                      </a:r>
                    </a:p>
                  </a:txBody>
                  <a:tcPr>
                    <a:solidFill>
                      <a:srgbClr val="F2F4F8"/>
                    </a:solidFill>
                  </a:tcPr>
                </a:tc>
                <a:tc>
                  <a:txBody>
                    <a:bodyPr/>
                    <a:lstStyle/>
                    <a:p>
                      <a:pPr algn="ctr"/>
                      <a:r>
                        <a:rPr sz="1200" b="0">
                          <a:solidFill>
                            <a:srgbClr val="1A1A1A"/>
                          </a:solidFill>
                          <a:latin typeface="Calibri"/>
                        </a:rPr>
                        <a:t>Spike lag 1 &amp; 7; seasonal decay</a:t>
                      </a:r>
                    </a:p>
                  </a:txBody>
                  <a:tcPr>
                    <a:solidFill>
                      <a:srgbClr val="F2F4F8"/>
                    </a:solidFill>
                  </a:tcPr>
                </a:tc>
                <a:tc>
                  <a:txBody>
                    <a:bodyPr/>
                    <a:lstStyle/>
                    <a:p>
                      <a:pPr algn="ctr"/>
                      <a:r>
                        <a:rPr sz="1200" b="0">
                          <a:solidFill>
                            <a:srgbClr val="1A1A1A"/>
                          </a:solidFill>
                          <a:latin typeface="Calibri"/>
                        </a:rPr>
                        <a:t>Spike lag 1 &amp; 7</a:t>
                      </a:r>
                    </a:p>
                  </a:txBody>
                  <a:tcPr>
                    <a:solidFill>
                      <a:srgbClr val="F2F4F8"/>
                    </a:solidFill>
                  </a:tcPr>
                </a:tc>
                <a:tc>
                  <a:txBody>
                    <a:bodyPr/>
                    <a:lstStyle/>
                    <a:p>
                      <a:pPr algn="ctr"/>
                      <a:r>
                        <a:rPr sz="1200" b="0">
                          <a:solidFill>
                            <a:srgbClr val="1A1A1A"/>
                          </a:solidFill>
                          <a:latin typeface="Calibri"/>
                        </a:rPr>
                        <a:t>Cần cả AR và MA mùa</a:t>
                      </a:r>
                    </a:p>
                  </a:txBody>
                  <a:tcPr>
                    <a:solidFill>
                      <a:srgbClr val="F2F4F8"/>
                    </a:solidFill>
                  </a:tcPr>
                </a:tc>
              </a:tr>
              <a:tr h="422910">
                <a:tc>
                  <a:txBody>
                    <a:bodyPr/>
                    <a:lstStyle/>
                    <a:p>
                      <a:pPr algn="l"/>
                      <a:r>
                        <a:rPr sz="1200" b="0">
                          <a:solidFill>
                            <a:srgbClr val="1A1A1A"/>
                          </a:solidFill>
                          <a:latin typeface="Calibri"/>
                        </a:rPr>
                        <a:t>∇∇₇log — d=1,D=1</a:t>
                      </a:r>
                    </a:p>
                  </a:txBody>
                  <a:tcPr>
                    <a:solidFill>
                      <a:srgbClr val="FFFFFF"/>
                    </a:solidFill>
                  </a:tcPr>
                </a:tc>
                <a:tc>
                  <a:txBody>
                    <a:bodyPr/>
                    <a:lstStyle/>
                    <a:p>
                      <a:pPr algn="ctr"/>
                      <a:r>
                        <a:rPr sz="1200" b="0">
                          <a:solidFill>
                            <a:srgbClr val="1A1A1A"/>
                          </a:solidFill>
                          <a:latin typeface="Calibri"/>
                        </a:rPr>
                        <a:t>1 spike lag 1; 1 spike lag 7</a:t>
                      </a:r>
                    </a:p>
                  </a:txBody>
                  <a:tcPr>
                    <a:solidFill>
                      <a:srgbClr val="FFFFFF"/>
                    </a:solidFill>
                  </a:tcPr>
                </a:tc>
                <a:tc>
                  <a:txBody>
                    <a:bodyPr/>
                    <a:lstStyle/>
                    <a:p>
                      <a:pPr algn="ctr"/>
                      <a:r>
                        <a:rPr sz="1200" b="0">
                          <a:solidFill>
                            <a:srgbClr val="1A1A1A"/>
                          </a:solidFill>
                          <a:latin typeface="Calibri"/>
                        </a:rPr>
                        <a:t>1 spike lag 1</a:t>
                      </a:r>
                    </a:p>
                  </a:txBody>
                  <a:tcPr>
                    <a:solidFill>
                      <a:srgbClr val="FFFFFF"/>
                    </a:solidFill>
                  </a:tcPr>
                </a:tc>
                <a:tc>
                  <a:txBody>
                    <a:bodyPr/>
                    <a:lstStyle/>
                    <a:p>
                      <a:pPr algn="ctr"/>
                      <a:r>
                        <a:rPr sz="1200" b="0">
                          <a:solidFill>
                            <a:srgbClr val="1A1A1A"/>
                          </a:solidFill>
                          <a:latin typeface="Calibri"/>
                        </a:rPr>
                        <a:t>→ SARIMA(1,1,1)(0,1,1,7)</a:t>
                      </a:r>
                    </a:p>
                  </a:txBody>
                  <a:tcPr>
                    <a:solidFill>
                      <a:srgbClr val="FFFFFF"/>
                    </a:solidFill>
                  </a:tcPr>
                </a:tc>
              </a:tr>
            </a:tbl>
          </a:graphicData>
        </a:graphic>
      </p:graphicFrame>
      <p:sp>
        <p:nvSpPr>
          <p:cNvPr id="12" name="Rectangle 11"/>
          <p:cNvSpPr/>
          <p:nvPr/>
        </p:nvSpPr>
        <p:spPr>
          <a:xfrm>
            <a:off x="365760" y="3337560"/>
            <a:ext cx="11430000" cy="1417320"/>
          </a:xfrm>
          <a:prstGeom prst="rect">
            <a:avLst/>
          </a:prstGeom>
          <a:solidFill>
            <a:srgbClr val="BD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337560"/>
            <a:ext cx="64008" cy="14173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01568"/>
            <a:ext cx="10972800" cy="347472"/>
          </a:xfrm>
          <a:prstGeom prst="rect">
            <a:avLst/>
          </a:prstGeom>
          <a:noFill/>
        </p:spPr>
        <p:txBody>
          <a:bodyPr wrap="square">
            <a:spAutoFit/>
          </a:bodyPr>
          <a:lstStyle/>
          <a:p>
            <a:pPr algn="l">
              <a:spcAft>
                <a:spcPts val="0"/>
              </a:spcAft>
            </a:pPr>
            <a:r>
              <a:rPr sz="1300" b="1" i="0">
                <a:solidFill>
                  <a:srgbClr val="1F4E79"/>
                </a:solidFill>
                <a:latin typeface="Calibri"/>
              </a:rPr>
              <a:t>📌  Cách đọc ACF/PACF → SARIMA order</a:t>
            </a:r>
          </a:p>
        </p:txBody>
      </p:sp>
      <p:sp>
        <p:nvSpPr>
          <p:cNvPr id="15" name="TextBox 14"/>
          <p:cNvSpPr txBox="1"/>
          <p:nvPr/>
        </p:nvSpPr>
        <p:spPr>
          <a:xfrm>
            <a:off x="548640" y="3749039"/>
            <a:ext cx="11155680" cy="1005840"/>
          </a:xfrm>
          <a:prstGeom prst="rect">
            <a:avLst/>
          </a:prstGeom>
          <a:noFill/>
        </p:spPr>
        <p:txBody>
          <a:bodyPr wrap="square">
            <a:spAutoFit/>
          </a:bodyPr>
          <a:lstStyle/>
          <a:p>
            <a:pPr>
              <a:spcAft>
                <a:spcPts val="600"/>
              </a:spcAft>
            </a:pPr>
            <a:r>
              <a:rPr sz="1300">
                <a:solidFill>
                  <a:srgbClr val="1A1A1A"/>
                </a:solidFill>
                <a:latin typeface="Calibri"/>
              </a:rPr>
              <a:t>▸  ACF spike tại lag 7 → thành phần seasonal MA(1): Q = 1</a:t>
            </a:r>
          </a:p>
          <a:p>
            <a:pPr>
              <a:spcAft>
                <a:spcPts val="600"/>
              </a:spcAft>
            </a:pPr>
            <a:r>
              <a:rPr sz="1300">
                <a:solidFill>
                  <a:srgbClr val="1A1A1A"/>
                </a:solidFill>
                <a:latin typeface="Calibri"/>
              </a:rPr>
              <a:t>▸  PACF không spike tại lag 7 → không cần seasonal AR: P = 0</a:t>
            </a:r>
          </a:p>
          <a:p>
            <a:pPr>
              <a:spcAft>
                <a:spcPts val="600"/>
              </a:spcAft>
            </a:pPr>
            <a:r>
              <a:rPr sz="1300">
                <a:solidFill>
                  <a:srgbClr val="1A1A1A"/>
                </a:solidFill>
                <a:latin typeface="Calibri"/>
              </a:rPr>
              <a:t>▸  ACF và PACF cùng spike tại lag 1 → cần cả AR(1) và MA(1): p = 1, q = 1</a:t>
            </a:r>
          </a:p>
          <a:p>
            <a:pPr>
              <a:spcAft>
                <a:spcPts val="600"/>
              </a:spcAft>
            </a:pPr>
            <a:r>
              <a:rPr sz="1300">
                <a:solidFill>
                  <a:srgbClr val="1A1A1A"/>
                </a:solidFill>
                <a:latin typeface="Calibri"/>
              </a:rPr>
              <a:t>▸  Xác nhận: SARIMA(1,1,1)(0,1,1)[7]  ←  candidate chính</a:t>
            </a:r>
          </a:p>
        </p:txBody>
      </p:sp>
      <p:sp>
        <p:nvSpPr>
          <p:cNvPr id="16" name="TextBox 15"/>
          <p:cNvSpPr txBox="1"/>
          <p:nvPr/>
        </p:nvSpPr>
        <p:spPr>
          <a:xfrm>
            <a:off x="365760" y="4846320"/>
            <a:ext cx="11430000" cy="274320"/>
          </a:xfrm>
          <a:prstGeom prst="rect">
            <a:avLst/>
          </a:prstGeom>
          <a:noFill/>
        </p:spPr>
        <p:txBody>
          <a:bodyPr wrap="square">
            <a:spAutoFit/>
          </a:bodyPr>
          <a:lstStyle/>
          <a:p>
            <a:pPr algn="l">
              <a:spcAft>
                <a:spcPts val="0"/>
              </a:spcAft>
            </a:pPr>
            <a:r>
              <a:rPr sz="1100" b="0" i="1">
                <a:solidFill>
                  <a:srgbClr val="555555"/>
                </a:solidFill>
                <a:latin typeface="Calibri"/>
              </a:rPr>
              <a:t>⚑  Đường đứt đỏ trong plot = bội số của s=7 — dùng để nhận diện seasonal lags</a:t>
            </a:r>
          </a:p>
        </p:txBody>
      </p:sp>
      <p:sp>
        <p:nvSpPr>
          <p:cNvPr id="17" name="Rectangle 16"/>
          <p:cNvSpPr/>
          <p:nvPr/>
        </p:nvSpPr>
        <p:spPr>
          <a:xfrm>
            <a:off x="365760" y="5166360"/>
            <a:ext cx="11430000" cy="105156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5257800"/>
            <a:ext cx="11247120" cy="1051560"/>
          </a:xfrm>
          <a:prstGeom prst="rect">
            <a:avLst/>
          </a:prstGeom>
          <a:noFill/>
        </p:spPr>
        <p:txBody>
          <a:bodyPr wrap="square">
            <a:spAutoFit/>
          </a:bodyPr>
          <a:lstStyle/>
          <a:p>
            <a:pPr algn="ctr">
              <a:spcAft>
                <a:spcPts val="0"/>
              </a:spcAft>
            </a:pPr>
            <a:r>
              <a:rPr sz="1100" b="0" i="0">
                <a:solidFill>
                  <a:srgbClr val="555555"/>
                </a:solidFill>
                <a:latin typeface="Calibri"/>
              </a:rPr>
              <a:t>[Image not found:
seasonal_dow.png]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Lựa Chọn Mô Hình — So Sánh Candidates</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10 / 14</a:t>
            </a:r>
          </a:p>
        </p:txBody>
      </p:sp>
      <p:sp>
        <p:nvSpPr>
          <p:cNvPr id="9" name="Rectangle 8"/>
          <p:cNvSpPr/>
          <p:nvPr/>
        </p:nvSpPr>
        <p:spPr>
          <a:xfrm>
            <a:off x="365760" y="1143000"/>
            <a:ext cx="50292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168400"/>
            <a:ext cx="4937760" cy="320040"/>
          </a:xfrm>
          <a:prstGeom prst="rect">
            <a:avLst/>
          </a:prstGeom>
          <a:noFill/>
        </p:spPr>
        <p:txBody>
          <a:bodyPr wrap="square">
            <a:spAutoFit/>
          </a:bodyPr>
          <a:lstStyle/>
          <a:p>
            <a:pPr algn="l">
              <a:spcAft>
                <a:spcPts val="0"/>
              </a:spcAft>
            </a:pPr>
            <a:r>
              <a:rPr sz="1200" b="1" i="0">
                <a:solidFill>
                  <a:srgbClr val="FFFFFF"/>
                </a:solidFill>
                <a:latin typeface="Calibri"/>
              </a:rPr>
              <a:t>🏆  Grid so sánh 5 candidate SARIMA (sorted by BIC)</a:t>
            </a:r>
          </a:p>
        </p:txBody>
      </p:sp>
      <p:graphicFrame>
        <p:nvGraphicFramePr>
          <p:cNvPr id="11" name="Table 10"/>
          <p:cNvGraphicFramePr>
            <a:graphicFrameLocks noGrp="1"/>
          </p:cNvGraphicFramePr>
          <p:nvPr/>
        </p:nvGraphicFramePr>
        <p:xfrm>
          <a:off x="365760" y="1508760"/>
          <a:ext cx="11430000" cy="2103120"/>
        </p:xfrm>
        <a:graphic>
          <a:graphicData uri="http://schemas.openxmlformats.org/drawingml/2006/table">
            <a:tbl>
              <a:tblPr firstRow="1" bandRow="1">
                <a:tableStyleId>{5C22544A-7EE6-4342-B048-85BDC9FD1C3A}</a:tableStyleId>
              </a:tblPr>
              <a:tblGrid>
                <a:gridCol w="4023360"/>
                <a:gridCol w="1371600"/>
                <a:gridCol w="1371600"/>
                <a:gridCol w="1188720"/>
                <a:gridCol w="3474720"/>
              </a:tblGrid>
              <a:tr h="350520">
                <a:tc>
                  <a:txBody>
                    <a:bodyPr/>
                    <a:lstStyle/>
                    <a:p>
                      <a:pPr algn="ctr"/>
                      <a:r>
                        <a:rPr sz="1300" b="1">
                          <a:solidFill>
                            <a:srgbClr val="FFFFFF"/>
                          </a:solidFill>
                          <a:latin typeface="Calibri"/>
                        </a:rPr>
                        <a:t>Mô hình</a:t>
                      </a:r>
                    </a:p>
                  </a:txBody>
                  <a:tcPr>
                    <a:solidFill>
                      <a:srgbClr val="1F4E79"/>
                    </a:solidFill>
                  </a:tcPr>
                </a:tc>
                <a:tc>
                  <a:txBody>
                    <a:bodyPr/>
                    <a:lstStyle/>
                    <a:p>
                      <a:pPr algn="ctr"/>
                      <a:r>
                        <a:rPr sz="1300" b="1">
                          <a:solidFill>
                            <a:srgbClr val="FFFFFF"/>
                          </a:solidFill>
                          <a:latin typeface="Calibri"/>
                        </a:rPr>
                        <a:t>AIC</a:t>
                      </a:r>
                    </a:p>
                  </a:txBody>
                  <a:tcPr>
                    <a:solidFill>
                      <a:srgbClr val="1F4E79"/>
                    </a:solidFill>
                  </a:tcPr>
                </a:tc>
                <a:tc>
                  <a:txBody>
                    <a:bodyPr/>
                    <a:lstStyle/>
                    <a:p>
                      <a:pPr algn="ctr"/>
                      <a:r>
                        <a:rPr sz="1300" b="1">
                          <a:solidFill>
                            <a:srgbClr val="FFFFFF"/>
                          </a:solidFill>
                          <a:latin typeface="Calibri"/>
                        </a:rPr>
                        <a:t>BIC</a:t>
                      </a:r>
                    </a:p>
                  </a:txBody>
                  <a:tcPr>
                    <a:solidFill>
                      <a:srgbClr val="1F4E79"/>
                    </a:solidFill>
                  </a:tcPr>
                </a:tc>
                <a:tc>
                  <a:txBody>
                    <a:bodyPr/>
                    <a:lstStyle/>
                    <a:p>
                      <a:pPr algn="ctr"/>
                      <a:r>
                        <a:rPr sz="1300" b="1">
                          <a:solidFill>
                            <a:srgbClr val="FFFFFF"/>
                          </a:solidFill>
                          <a:latin typeface="Calibri"/>
                        </a:rPr>
                        <a:t>Params</a:t>
                      </a:r>
                    </a:p>
                  </a:txBody>
                  <a:tcPr>
                    <a:solidFill>
                      <a:srgbClr val="1F4E79"/>
                    </a:solidFill>
                  </a:tcPr>
                </a:tc>
                <a:tc>
                  <a:txBody>
                    <a:bodyPr/>
                    <a:lstStyle/>
                    <a:p>
                      <a:pPr algn="ctr"/>
                      <a:r>
                        <a:rPr sz="1300" b="1">
                          <a:solidFill>
                            <a:srgbClr val="FFFFFF"/>
                          </a:solidFill>
                          <a:latin typeface="Calibri"/>
                        </a:rPr>
                        <a:t>Ghi chú</a:t>
                      </a:r>
                    </a:p>
                  </a:txBody>
                  <a:tcPr>
                    <a:solidFill>
                      <a:srgbClr val="1F4E79"/>
                    </a:solidFill>
                  </a:tcPr>
                </a:tc>
              </a:tr>
              <a:tr h="350520">
                <a:tc>
                  <a:txBody>
                    <a:bodyPr/>
                    <a:lstStyle/>
                    <a:p>
                      <a:pPr algn="l"/>
                      <a:r>
                        <a:rPr sz="1200" b="0">
                          <a:solidFill>
                            <a:srgbClr val="1A7A4A"/>
                          </a:solidFill>
                          <a:latin typeface="Calibri"/>
                        </a:rPr>
                        <a:t>SARIMA(1,1,1)(0,1,1,7)  ←  BEST</a:t>
                      </a:r>
                    </a:p>
                  </a:txBody>
                  <a:tcPr>
                    <a:solidFill>
                      <a:srgbClr val="D5F0E0"/>
                    </a:solidFill>
                  </a:tcPr>
                </a:tc>
                <a:tc>
                  <a:txBody>
                    <a:bodyPr/>
                    <a:lstStyle/>
                    <a:p>
                      <a:pPr algn="ctr"/>
                      <a:r>
                        <a:rPr sz="1200" b="0">
                          <a:solidFill>
                            <a:srgbClr val="1A7A4A"/>
                          </a:solidFill>
                          <a:latin typeface="Calibri"/>
                        </a:rPr>
                        <a:t>−136.63</a:t>
                      </a:r>
                    </a:p>
                  </a:txBody>
                  <a:tcPr>
                    <a:solidFill>
                      <a:srgbClr val="D5F0E0"/>
                    </a:solidFill>
                  </a:tcPr>
                </a:tc>
                <a:tc>
                  <a:txBody>
                    <a:bodyPr/>
                    <a:lstStyle/>
                    <a:p>
                      <a:pPr algn="ctr"/>
                      <a:r>
                        <a:rPr sz="1200" b="0">
                          <a:solidFill>
                            <a:srgbClr val="1A7A4A"/>
                          </a:solidFill>
                          <a:latin typeface="Calibri"/>
                        </a:rPr>
                        <a:t>−127.47</a:t>
                      </a:r>
                    </a:p>
                  </a:txBody>
                  <a:tcPr>
                    <a:solidFill>
                      <a:srgbClr val="D5F0E0"/>
                    </a:solidFill>
                  </a:tcPr>
                </a:tc>
                <a:tc>
                  <a:txBody>
                    <a:bodyPr/>
                    <a:lstStyle/>
                    <a:p>
                      <a:pPr algn="ctr"/>
                      <a:r>
                        <a:rPr sz="1200" b="0">
                          <a:solidFill>
                            <a:srgbClr val="1A1A1A"/>
                          </a:solidFill>
                          <a:latin typeface="Calibri"/>
                        </a:rPr>
                        <a:t>3</a:t>
                      </a:r>
                    </a:p>
                  </a:txBody>
                  <a:tcPr>
                    <a:solidFill>
                      <a:srgbClr val="FFFFFF"/>
                    </a:solidFill>
                  </a:tcPr>
                </a:tc>
                <a:tc>
                  <a:txBody>
                    <a:bodyPr/>
                    <a:lstStyle/>
                    <a:p>
                      <a:pPr algn="ctr"/>
                      <a:r>
                        <a:rPr sz="1200" b="0">
                          <a:solidFill>
                            <a:srgbClr val="1A1A1A"/>
                          </a:solidFill>
                          <a:latin typeface="Calibri"/>
                        </a:rPr>
                        <a:t>BIC thấp nhất; P=0 tối ưu</a:t>
                      </a:r>
                    </a:p>
                  </a:txBody>
                  <a:tcPr>
                    <a:solidFill>
                      <a:srgbClr val="FFFFFF"/>
                    </a:solidFill>
                  </a:tcPr>
                </a:tc>
              </a:tr>
              <a:tr h="350520">
                <a:tc>
                  <a:txBody>
                    <a:bodyPr/>
                    <a:lstStyle/>
                    <a:p>
                      <a:pPr algn="l"/>
                      <a:r>
                        <a:rPr sz="1200" b="0">
                          <a:solidFill>
                            <a:srgbClr val="1A1A1A"/>
                          </a:solidFill>
                          <a:latin typeface="Calibri"/>
                        </a:rPr>
                        <a:t>SARIMA(0,1,1)(1,1,1,7)</a:t>
                      </a:r>
                    </a:p>
                  </a:txBody>
                  <a:tcPr>
                    <a:solidFill>
                      <a:srgbClr val="F2F4F8"/>
                    </a:solidFill>
                  </a:tcPr>
                </a:tc>
                <a:tc>
                  <a:txBody>
                    <a:bodyPr/>
                    <a:lstStyle/>
                    <a:p>
                      <a:pPr algn="ctr"/>
                      <a:r>
                        <a:rPr sz="1200" b="0">
                          <a:solidFill>
                            <a:srgbClr val="1A1A1A"/>
                          </a:solidFill>
                          <a:latin typeface="Calibri"/>
                        </a:rPr>
                        <a:t>−130.33</a:t>
                      </a:r>
                    </a:p>
                  </a:txBody>
                  <a:tcPr>
                    <a:solidFill>
                      <a:srgbClr val="F2F4F8"/>
                    </a:solidFill>
                  </a:tcPr>
                </a:tc>
                <a:tc>
                  <a:txBody>
                    <a:bodyPr/>
                    <a:lstStyle/>
                    <a:p>
                      <a:pPr algn="ctr"/>
                      <a:r>
                        <a:rPr sz="1200" b="0">
                          <a:solidFill>
                            <a:srgbClr val="1A1A1A"/>
                          </a:solidFill>
                          <a:latin typeface="Calibri"/>
                        </a:rPr>
                        <a:t>−121.17</a:t>
                      </a:r>
                    </a:p>
                  </a:txBody>
                  <a:tcPr>
                    <a:solidFill>
                      <a:srgbClr val="F2F4F8"/>
                    </a:solidFill>
                  </a:tcPr>
                </a:tc>
                <a:tc>
                  <a:txBody>
                    <a:bodyPr/>
                    <a:lstStyle/>
                    <a:p>
                      <a:pPr algn="ctr"/>
                      <a:r>
                        <a:rPr sz="1200" b="0">
                          <a:solidFill>
                            <a:srgbClr val="1A1A1A"/>
                          </a:solidFill>
                          <a:latin typeface="Calibri"/>
                        </a:rPr>
                        <a:t>4</a:t>
                      </a:r>
                    </a:p>
                  </a:txBody>
                  <a:tcPr>
                    <a:solidFill>
                      <a:srgbClr val="F2F4F8"/>
                    </a:solidFill>
                  </a:tcPr>
                </a:tc>
                <a:tc>
                  <a:txBody>
                    <a:bodyPr/>
                    <a:lstStyle/>
                    <a:p>
                      <a:pPr algn="ctr"/>
                      <a:r>
                        <a:rPr sz="1200" b="0">
                          <a:solidFill>
                            <a:srgbClr val="1A1A1A"/>
                          </a:solidFill>
                          <a:latin typeface="Calibri"/>
                        </a:rPr>
                        <a:t>Không có AR term</a:t>
                      </a:r>
                    </a:p>
                  </a:txBody>
                  <a:tcPr>
                    <a:solidFill>
                      <a:srgbClr val="F2F4F8"/>
                    </a:solidFill>
                  </a:tcPr>
                </a:tc>
              </a:tr>
              <a:tr h="350520">
                <a:tc>
                  <a:txBody>
                    <a:bodyPr/>
                    <a:lstStyle/>
                    <a:p>
                      <a:pPr algn="l"/>
                      <a:r>
                        <a:rPr sz="1200" b="0">
                          <a:solidFill>
                            <a:srgbClr val="1A1A1A"/>
                          </a:solidFill>
                          <a:latin typeface="Calibri"/>
                        </a:rPr>
                        <a:t>SARIMA(1,1,1)(1,1,1,7)</a:t>
                      </a:r>
                    </a:p>
                  </a:txBody>
                  <a:tcPr>
                    <a:solidFill>
                      <a:srgbClr val="FFFFFF"/>
                    </a:solidFill>
                  </a:tcPr>
                </a:tc>
                <a:tc>
                  <a:txBody>
                    <a:bodyPr/>
                    <a:lstStyle/>
                    <a:p>
                      <a:pPr algn="ctr"/>
                      <a:r>
                        <a:rPr sz="1200" b="0">
                          <a:solidFill>
                            <a:srgbClr val="1A1A1A"/>
                          </a:solidFill>
                          <a:latin typeface="Calibri"/>
                        </a:rPr>
                        <a:t>−129.90</a:t>
                      </a:r>
                    </a:p>
                  </a:txBody>
                  <a:tcPr>
                    <a:solidFill>
                      <a:srgbClr val="FFFFFF"/>
                    </a:solidFill>
                  </a:tcPr>
                </a:tc>
                <a:tc>
                  <a:txBody>
                    <a:bodyPr/>
                    <a:lstStyle/>
                    <a:p>
                      <a:pPr algn="ctr"/>
                      <a:r>
                        <a:rPr sz="1200" b="0">
                          <a:solidFill>
                            <a:srgbClr val="1A1A1A"/>
                          </a:solidFill>
                          <a:latin typeface="Calibri"/>
                        </a:rPr>
                        <a:t>−118.45</a:t>
                      </a:r>
                    </a:p>
                  </a:txBody>
                  <a:tcPr>
                    <a:solidFill>
                      <a:srgbClr val="FFFFFF"/>
                    </a:solidFill>
                  </a:tcPr>
                </a:tc>
                <a:tc>
                  <a:txBody>
                    <a:bodyPr/>
                    <a:lstStyle/>
                    <a:p>
                      <a:pPr algn="ctr"/>
                      <a:r>
                        <a:rPr sz="1200" b="0">
                          <a:solidFill>
                            <a:srgbClr val="1A1A1A"/>
                          </a:solidFill>
                          <a:latin typeface="Calibri"/>
                        </a:rPr>
                        <a:t>5</a:t>
                      </a:r>
                    </a:p>
                  </a:txBody>
                  <a:tcPr>
                    <a:solidFill>
                      <a:srgbClr val="FFFFFF"/>
                    </a:solidFill>
                  </a:tcPr>
                </a:tc>
                <a:tc>
                  <a:txBody>
                    <a:bodyPr/>
                    <a:lstStyle/>
                    <a:p>
                      <a:pPr algn="ctr"/>
                      <a:r>
                        <a:rPr sz="1200" b="0">
                          <a:solidFill>
                            <a:srgbClr val="1A1A1A"/>
                          </a:solidFill>
                          <a:latin typeface="Calibri"/>
                        </a:rPr>
                        <a:t>AIC tốt, BIC bị penalty</a:t>
                      </a:r>
                    </a:p>
                  </a:txBody>
                  <a:tcPr>
                    <a:solidFill>
                      <a:srgbClr val="FFFFFF"/>
                    </a:solidFill>
                  </a:tcPr>
                </a:tc>
              </a:tr>
              <a:tr h="350520">
                <a:tc>
                  <a:txBody>
                    <a:bodyPr/>
                    <a:lstStyle/>
                    <a:p>
                      <a:pPr algn="l"/>
                      <a:r>
                        <a:rPr sz="1200" b="0">
                          <a:solidFill>
                            <a:srgbClr val="1A1A1A"/>
                          </a:solidFill>
                          <a:latin typeface="Calibri"/>
                        </a:rPr>
                        <a:t>SARIMA(2,1,1)(1,1,1,7)</a:t>
                      </a:r>
                    </a:p>
                  </a:txBody>
                  <a:tcPr>
                    <a:solidFill>
                      <a:srgbClr val="F2F4F8"/>
                    </a:solidFill>
                  </a:tcPr>
                </a:tc>
                <a:tc>
                  <a:txBody>
                    <a:bodyPr/>
                    <a:lstStyle/>
                    <a:p>
                      <a:pPr algn="ctr"/>
                      <a:r>
                        <a:rPr sz="1200" b="0">
                          <a:solidFill>
                            <a:srgbClr val="1A1A1A"/>
                          </a:solidFill>
                          <a:latin typeface="Calibri"/>
                        </a:rPr>
                        <a:t>−129.70</a:t>
                      </a:r>
                    </a:p>
                  </a:txBody>
                  <a:tcPr>
                    <a:solidFill>
                      <a:srgbClr val="F2F4F8"/>
                    </a:solidFill>
                  </a:tcPr>
                </a:tc>
                <a:tc>
                  <a:txBody>
                    <a:bodyPr/>
                    <a:lstStyle/>
                    <a:p>
                      <a:pPr algn="ctr"/>
                      <a:r>
                        <a:rPr sz="1200" b="0">
                          <a:solidFill>
                            <a:srgbClr val="1A1A1A"/>
                          </a:solidFill>
                          <a:latin typeface="Calibri"/>
                        </a:rPr>
                        <a:t>−115.95</a:t>
                      </a:r>
                    </a:p>
                  </a:txBody>
                  <a:tcPr>
                    <a:solidFill>
                      <a:srgbClr val="F2F4F8"/>
                    </a:solidFill>
                  </a:tcPr>
                </a:tc>
                <a:tc>
                  <a:txBody>
                    <a:bodyPr/>
                    <a:lstStyle/>
                    <a:p>
                      <a:pPr algn="ctr"/>
                      <a:r>
                        <a:rPr sz="1200" b="0">
                          <a:solidFill>
                            <a:srgbClr val="1A1A1A"/>
                          </a:solidFill>
                          <a:latin typeface="Calibri"/>
                        </a:rPr>
                        <a:t>6</a:t>
                      </a:r>
                    </a:p>
                  </a:txBody>
                  <a:tcPr>
                    <a:solidFill>
                      <a:srgbClr val="F2F4F8"/>
                    </a:solidFill>
                  </a:tcPr>
                </a:tc>
                <a:tc>
                  <a:txBody>
                    <a:bodyPr/>
                    <a:lstStyle/>
                    <a:p>
                      <a:pPr algn="ctr"/>
                      <a:r>
                        <a:rPr sz="1200" b="0">
                          <a:solidFill>
                            <a:srgbClr val="1A1A1A"/>
                          </a:solidFill>
                          <a:latin typeface="Calibri"/>
                        </a:rPr>
                        <a:t>Quá nhiều tham số</a:t>
                      </a:r>
                    </a:p>
                  </a:txBody>
                  <a:tcPr>
                    <a:solidFill>
                      <a:srgbClr val="F2F4F8"/>
                    </a:solidFill>
                  </a:tcPr>
                </a:tc>
              </a:tr>
              <a:tr h="350520">
                <a:tc>
                  <a:txBody>
                    <a:bodyPr/>
                    <a:lstStyle/>
                    <a:p>
                      <a:pPr algn="l"/>
                      <a:r>
                        <a:rPr sz="1200" b="0">
                          <a:solidFill>
                            <a:srgbClr val="1A1A1A"/>
                          </a:solidFill>
                          <a:latin typeface="Calibri"/>
                        </a:rPr>
                        <a:t>SARIMA(1,1,0)(1,1,1,7)</a:t>
                      </a:r>
                    </a:p>
                  </a:txBody>
                  <a:tcPr>
                    <a:solidFill>
                      <a:srgbClr val="FFFFFF"/>
                    </a:solidFill>
                  </a:tcPr>
                </a:tc>
                <a:tc>
                  <a:txBody>
                    <a:bodyPr/>
                    <a:lstStyle/>
                    <a:p>
                      <a:pPr algn="ctr"/>
                      <a:r>
                        <a:rPr sz="1200" b="0">
                          <a:solidFill>
                            <a:srgbClr val="1A1A1A"/>
                          </a:solidFill>
                          <a:latin typeface="Calibri"/>
                        </a:rPr>
                        <a:t>−116.68</a:t>
                      </a:r>
                    </a:p>
                  </a:txBody>
                  <a:tcPr>
                    <a:solidFill>
                      <a:srgbClr val="FFFFFF"/>
                    </a:solidFill>
                  </a:tcPr>
                </a:tc>
                <a:tc>
                  <a:txBody>
                    <a:bodyPr/>
                    <a:lstStyle/>
                    <a:p>
                      <a:pPr algn="ctr"/>
                      <a:r>
                        <a:rPr sz="1200" b="0">
                          <a:solidFill>
                            <a:srgbClr val="1A1A1A"/>
                          </a:solidFill>
                          <a:latin typeface="Calibri"/>
                        </a:rPr>
                        <a:t>−107.47</a:t>
                      </a:r>
                    </a:p>
                  </a:txBody>
                  <a:tcPr>
                    <a:solidFill>
                      <a:srgbClr val="FFFFFF"/>
                    </a:solidFill>
                  </a:tcPr>
                </a:tc>
                <a:tc>
                  <a:txBody>
                    <a:bodyPr/>
                    <a:lstStyle/>
                    <a:p>
                      <a:pPr algn="ctr"/>
                      <a:r>
                        <a:rPr sz="1200" b="0">
                          <a:solidFill>
                            <a:srgbClr val="1A1A1A"/>
                          </a:solidFill>
                          <a:latin typeface="Calibri"/>
                        </a:rPr>
                        <a:t>5</a:t>
                      </a:r>
                    </a:p>
                  </a:txBody>
                  <a:tcPr>
                    <a:solidFill>
                      <a:srgbClr val="FFFFFF"/>
                    </a:solidFill>
                  </a:tcPr>
                </a:tc>
                <a:tc>
                  <a:txBody>
                    <a:bodyPr/>
                    <a:lstStyle/>
                    <a:p>
                      <a:pPr algn="ctr"/>
                      <a:r>
                        <a:rPr sz="1200" b="0">
                          <a:solidFill>
                            <a:srgbClr val="1A1A1A"/>
                          </a:solidFill>
                          <a:latin typeface="Calibri"/>
                        </a:rPr>
                        <a:t>Yếu nhất</a:t>
                      </a:r>
                    </a:p>
                  </a:txBody>
                  <a:tcPr>
                    <a:solidFill>
                      <a:srgbClr val="FFFFFF"/>
                    </a:solidFill>
                  </a:tcPr>
                </a:tc>
              </a:tr>
            </a:tbl>
          </a:graphicData>
        </a:graphic>
      </p:graphicFrame>
      <p:sp>
        <p:nvSpPr>
          <p:cNvPr id="12" name="Rectangle 11"/>
          <p:cNvSpPr/>
          <p:nvPr/>
        </p:nvSpPr>
        <p:spPr>
          <a:xfrm>
            <a:off x="365760" y="3749039"/>
            <a:ext cx="4572000" cy="320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774439"/>
            <a:ext cx="4480560" cy="320040"/>
          </a:xfrm>
          <a:prstGeom prst="rect">
            <a:avLst/>
          </a:prstGeom>
          <a:noFill/>
        </p:spPr>
        <p:txBody>
          <a:bodyPr wrap="square">
            <a:spAutoFit/>
          </a:bodyPr>
          <a:lstStyle/>
          <a:p>
            <a:pPr algn="l">
              <a:spcAft>
                <a:spcPts val="0"/>
              </a:spcAft>
            </a:pPr>
            <a:r>
              <a:rPr sz="1200" b="1" i="0">
                <a:solidFill>
                  <a:srgbClr val="FFFFFF"/>
                </a:solidFill>
                <a:latin typeface="Calibri"/>
              </a:rPr>
              <a:t>💡  Vì sao SARIMA(1,1,1)(0,1,1,7) thắng?</a:t>
            </a:r>
          </a:p>
        </p:txBody>
      </p:sp>
      <p:sp>
        <p:nvSpPr>
          <p:cNvPr id="14" name="TextBox 13"/>
          <p:cNvSpPr txBox="1"/>
          <p:nvPr/>
        </p:nvSpPr>
        <p:spPr>
          <a:xfrm>
            <a:off x="365760" y="4160520"/>
            <a:ext cx="11430000" cy="2103120"/>
          </a:xfrm>
          <a:prstGeom prst="rect">
            <a:avLst/>
          </a:prstGeom>
          <a:noFill/>
        </p:spPr>
        <p:txBody>
          <a:bodyPr wrap="square">
            <a:spAutoFit/>
          </a:bodyPr>
          <a:lstStyle/>
          <a:p>
            <a:pPr>
              <a:spcAft>
                <a:spcPts val="800"/>
              </a:spcAft>
            </a:pPr>
            <a:r>
              <a:rPr sz="1300">
                <a:solidFill>
                  <a:srgbClr val="1A1A1A"/>
                </a:solidFill>
                <a:latin typeface="Calibri"/>
              </a:rPr>
              <a:t>▸  P=0 (không có seasonal AR): PACF không spike tại lag 7 sau seasonal-diff</a:t>
            </a:r>
          </a:p>
          <a:p>
            <a:pPr>
              <a:spcAft>
                <a:spcPts val="800"/>
              </a:spcAft>
            </a:pPr>
            <a:r>
              <a:rPr sz="1300">
                <a:solidFill>
                  <a:srgbClr val="1A1A1A"/>
                </a:solidFill>
                <a:latin typeface="Calibri"/>
              </a:rPr>
              <a:t>▸  BIC phạt mạnh số tham số thừa → mô hình đơn giản hơn được ưu tiên</a:t>
            </a:r>
          </a:p>
          <a:p>
            <a:pPr>
              <a:spcAft>
                <a:spcPts val="800"/>
              </a:spcAft>
            </a:pPr>
            <a:r>
              <a:rPr sz="1300">
                <a:solidFill>
                  <a:srgbClr val="1A1A1A"/>
                </a:solidFill>
                <a:latin typeface="Calibri"/>
              </a:rPr>
              <a:t>▸  Nhất quán với kết quả ACF/PACF ở Phần 9</a:t>
            </a:r>
          </a:p>
          <a:p>
            <a:pPr>
              <a:spcAft>
                <a:spcPts val="800"/>
              </a:spcAft>
            </a:pPr>
            <a:r>
              <a:rPr sz="1300">
                <a:solidFill>
                  <a:srgbClr val="1A1A1A"/>
                </a:solidFill>
                <a:latin typeface="Calibri"/>
              </a:rPr>
              <a:t>▸  Tất cả hệ số (ar.L1, ma.L1, ma.S.L7) đều significant (p &lt; 0.05)</a:t>
            </a:r>
          </a:p>
        </p:txBody>
      </p:sp>
      <p:sp>
        <p:nvSpPr>
          <p:cNvPr id="15" name="Rectangle 14"/>
          <p:cNvSpPr/>
          <p:nvPr/>
        </p:nvSpPr>
        <p:spPr>
          <a:xfrm>
            <a:off x="365760" y="6291072"/>
            <a:ext cx="11430000" cy="1645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281928"/>
            <a:ext cx="11155680" cy="201168"/>
          </a:xfrm>
          <a:prstGeom prst="rect">
            <a:avLst/>
          </a:prstGeom>
          <a:noFill/>
        </p:spPr>
        <p:txBody>
          <a:bodyPr wrap="square">
            <a:spAutoFit/>
          </a:bodyPr>
          <a:lstStyle/>
          <a:p>
            <a:pPr algn="l">
              <a:spcAft>
                <a:spcPts val="0"/>
              </a:spcAft>
            </a:pPr>
            <a:r>
              <a:rPr sz="1200" b="1" i="0">
                <a:solidFill>
                  <a:srgbClr val="FFFFFF"/>
                </a:solidFill>
                <a:latin typeface="Calibri"/>
              </a:rPr>
              <a:t>→  Mô hình chọn:  SARIMA(1,1,1)(0,1,1)[7]  |  AIC = −136.6  |  BIC = −127.5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Chẩn Đoán Phần Dư — Residual Diagnostics</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11 / 14</a:t>
            </a:r>
          </a:p>
        </p:txBody>
      </p:sp>
      <p:sp>
        <p:nvSpPr>
          <p:cNvPr id="9" name="Rectangle 8"/>
          <p:cNvSpPr/>
          <p:nvPr/>
        </p:nvSpPr>
        <p:spPr>
          <a:xfrm>
            <a:off x="274320" y="1143000"/>
            <a:ext cx="7132320" cy="502920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234440"/>
            <a:ext cx="6949440" cy="5029200"/>
          </a:xfrm>
          <a:prstGeom prst="rect">
            <a:avLst/>
          </a:prstGeom>
          <a:noFill/>
        </p:spPr>
        <p:txBody>
          <a:bodyPr wrap="square">
            <a:spAutoFit/>
          </a:bodyPr>
          <a:lstStyle/>
          <a:p>
            <a:pPr algn="ctr">
              <a:spcAft>
                <a:spcPts val="0"/>
              </a:spcAft>
            </a:pPr>
            <a:r>
              <a:rPr sz="1100" b="0" i="0">
                <a:solidFill>
                  <a:srgbClr val="555555"/>
                </a:solidFill>
                <a:latin typeface="Calibri"/>
              </a:rPr>
              <a:t>[Image not found:
residual_diagnostics.png]</a:t>
            </a:r>
          </a:p>
        </p:txBody>
      </p:sp>
      <p:sp>
        <p:nvSpPr>
          <p:cNvPr id="11" name="Rectangle 10"/>
          <p:cNvSpPr/>
          <p:nvPr/>
        </p:nvSpPr>
        <p:spPr>
          <a:xfrm>
            <a:off x="7589520" y="1143000"/>
            <a:ext cx="429768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62672" y="1168400"/>
            <a:ext cx="4206240" cy="320040"/>
          </a:xfrm>
          <a:prstGeom prst="rect">
            <a:avLst/>
          </a:prstGeom>
          <a:noFill/>
        </p:spPr>
        <p:txBody>
          <a:bodyPr wrap="square">
            <a:spAutoFit/>
          </a:bodyPr>
          <a:lstStyle/>
          <a:p>
            <a:pPr algn="l">
              <a:spcAft>
                <a:spcPts val="0"/>
              </a:spcAft>
            </a:pPr>
            <a:r>
              <a:rPr sz="1200" b="1" i="0">
                <a:solidFill>
                  <a:srgbClr val="FFFFFF"/>
                </a:solidFill>
                <a:latin typeface="Calibri"/>
              </a:rPr>
              <a:t>🔬  Kiểm định thống kê</a:t>
            </a:r>
          </a:p>
        </p:txBody>
      </p:sp>
      <p:graphicFrame>
        <p:nvGraphicFramePr>
          <p:cNvPr id="13" name="Table 12"/>
          <p:cNvGraphicFramePr>
            <a:graphicFrameLocks noGrp="1"/>
          </p:cNvGraphicFramePr>
          <p:nvPr/>
        </p:nvGraphicFramePr>
        <p:xfrm>
          <a:off x="7589520" y="1508760"/>
          <a:ext cx="4297680" cy="2286000"/>
        </p:xfrm>
        <a:graphic>
          <a:graphicData uri="http://schemas.openxmlformats.org/drawingml/2006/table">
            <a:tbl>
              <a:tblPr firstRow="1" bandRow="1">
                <a:tableStyleId>{5C22544A-7EE6-4342-B048-85BDC9FD1C3A}</a:tableStyleId>
              </a:tblPr>
              <a:tblGrid>
                <a:gridCol w="1737360"/>
                <a:gridCol w="1188720"/>
                <a:gridCol w="1371600"/>
              </a:tblGrid>
              <a:tr h="326571">
                <a:tc>
                  <a:txBody>
                    <a:bodyPr/>
                    <a:lstStyle/>
                    <a:p>
                      <a:pPr algn="ctr"/>
                      <a:r>
                        <a:rPr sz="1200" b="1">
                          <a:solidFill>
                            <a:srgbClr val="FFFFFF"/>
                          </a:solidFill>
                          <a:latin typeface="Calibri"/>
                        </a:rPr>
                        <a:t>Kiểm định</a:t>
                      </a:r>
                    </a:p>
                  </a:txBody>
                  <a:tcPr>
                    <a:solidFill>
                      <a:srgbClr val="1F4E79"/>
                    </a:solidFill>
                  </a:tcPr>
                </a:tc>
                <a:tc>
                  <a:txBody>
                    <a:bodyPr/>
                    <a:lstStyle/>
                    <a:p>
                      <a:pPr algn="ctr"/>
                      <a:r>
                        <a:rPr sz="1200" b="1">
                          <a:solidFill>
                            <a:srgbClr val="FFFFFF"/>
                          </a:solidFill>
                          <a:latin typeface="Calibri"/>
                        </a:rPr>
                        <a:t>p / Giá trị</a:t>
                      </a:r>
                    </a:p>
                  </a:txBody>
                  <a:tcPr>
                    <a:solidFill>
                      <a:srgbClr val="1F4E79"/>
                    </a:solidFill>
                  </a:tcPr>
                </a:tc>
                <a:tc>
                  <a:txBody>
                    <a:bodyPr/>
                    <a:lstStyle/>
                    <a:p>
                      <a:pPr algn="ctr"/>
                      <a:r>
                        <a:rPr sz="1200" b="1">
                          <a:solidFill>
                            <a:srgbClr val="FFFFFF"/>
                          </a:solidFill>
                          <a:latin typeface="Calibri"/>
                        </a:rPr>
                        <a:t>Kết luận</a:t>
                      </a:r>
                    </a:p>
                  </a:txBody>
                  <a:tcPr>
                    <a:solidFill>
                      <a:srgbClr val="1F4E79"/>
                    </a:solidFill>
                  </a:tcPr>
                </a:tc>
              </a:tr>
              <a:tr h="326571">
                <a:tc>
                  <a:txBody>
                    <a:bodyPr/>
                    <a:lstStyle/>
                    <a:p>
                      <a:pPr algn="l"/>
                      <a:r>
                        <a:rPr sz="1100" b="0">
                          <a:solidFill>
                            <a:srgbClr val="1A1A1A"/>
                          </a:solidFill>
                          <a:latin typeface="Calibri"/>
                        </a:rPr>
                        <a:t>Ljung-Box lag 7</a:t>
                      </a:r>
                    </a:p>
                  </a:txBody>
                  <a:tcPr>
                    <a:solidFill>
                      <a:srgbClr val="FFFFFF"/>
                    </a:solidFill>
                  </a:tcPr>
                </a:tc>
                <a:tc>
                  <a:txBody>
                    <a:bodyPr/>
                    <a:lstStyle/>
                    <a:p>
                      <a:pPr algn="ctr"/>
                      <a:r>
                        <a:rPr sz="1100" b="0">
                          <a:solidFill>
                            <a:srgbClr val="1A1A1A"/>
                          </a:solidFill>
                          <a:latin typeface="Calibri"/>
                        </a:rPr>
                        <a:t>p &gt; 0.05</a:t>
                      </a:r>
                    </a:p>
                  </a:txBody>
                  <a:tcPr>
                    <a:solidFill>
                      <a:srgbClr val="FFFFFF"/>
                    </a:solidFill>
                  </a:tcPr>
                </a:tc>
                <a:tc>
                  <a:txBody>
                    <a:bodyPr/>
                    <a:lstStyle/>
                    <a:p>
                      <a:pPr algn="ctr"/>
                      <a:r>
                        <a:rPr sz="1100" b="0">
                          <a:solidFill>
                            <a:srgbClr val="1A7A4A"/>
                          </a:solidFill>
                          <a:latin typeface="Calibri"/>
                        </a:rPr>
                        <a:t>White noise ✓</a:t>
                      </a:r>
                    </a:p>
                  </a:txBody>
                  <a:tcPr>
                    <a:solidFill>
                      <a:srgbClr val="D5F0E0"/>
                    </a:solidFill>
                  </a:tcPr>
                </a:tc>
              </a:tr>
              <a:tr h="326571">
                <a:tc>
                  <a:txBody>
                    <a:bodyPr/>
                    <a:lstStyle/>
                    <a:p>
                      <a:pPr algn="l"/>
                      <a:r>
                        <a:rPr sz="1100" b="0">
                          <a:solidFill>
                            <a:srgbClr val="1A1A1A"/>
                          </a:solidFill>
                          <a:latin typeface="Calibri"/>
                        </a:rPr>
                        <a:t>Ljung-Box lag 14</a:t>
                      </a:r>
                    </a:p>
                  </a:txBody>
                  <a:tcPr>
                    <a:solidFill>
                      <a:srgbClr val="F2F4F8"/>
                    </a:solidFill>
                  </a:tcPr>
                </a:tc>
                <a:tc>
                  <a:txBody>
                    <a:bodyPr/>
                    <a:lstStyle/>
                    <a:p>
                      <a:pPr algn="ctr"/>
                      <a:r>
                        <a:rPr sz="1100" b="0">
                          <a:solidFill>
                            <a:srgbClr val="1A1A1A"/>
                          </a:solidFill>
                          <a:latin typeface="Calibri"/>
                        </a:rPr>
                        <a:t>p &gt; 0.05</a:t>
                      </a:r>
                    </a:p>
                  </a:txBody>
                  <a:tcPr>
                    <a:solidFill>
                      <a:srgbClr val="F2F4F8"/>
                    </a:solidFill>
                  </a:tcPr>
                </a:tc>
                <a:tc>
                  <a:txBody>
                    <a:bodyPr/>
                    <a:lstStyle/>
                    <a:p>
                      <a:pPr algn="ctr"/>
                      <a:r>
                        <a:rPr sz="1100" b="0">
                          <a:solidFill>
                            <a:srgbClr val="1A7A4A"/>
                          </a:solidFill>
                          <a:latin typeface="Calibri"/>
                        </a:rPr>
                        <a:t>White noise ✓</a:t>
                      </a:r>
                    </a:p>
                  </a:txBody>
                  <a:tcPr>
                    <a:solidFill>
                      <a:srgbClr val="D5F0E0"/>
                    </a:solidFill>
                  </a:tcPr>
                </a:tc>
              </a:tr>
              <a:tr h="326571">
                <a:tc>
                  <a:txBody>
                    <a:bodyPr/>
                    <a:lstStyle/>
                    <a:p>
                      <a:pPr algn="l"/>
                      <a:r>
                        <a:rPr sz="1100" b="0">
                          <a:solidFill>
                            <a:srgbClr val="1A1A1A"/>
                          </a:solidFill>
                          <a:latin typeface="Calibri"/>
                        </a:rPr>
                        <a:t>Ljung-Box lag 21</a:t>
                      </a:r>
                    </a:p>
                  </a:txBody>
                  <a:tcPr>
                    <a:solidFill>
                      <a:srgbClr val="FFFFFF"/>
                    </a:solidFill>
                  </a:tcPr>
                </a:tc>
                <a:tc>
                  <a:txBody>
                    <a:bodyPr/>
                    <a:lstStyle/>
                    <a:p>
                      <a:pPr algn="ctr"/>
                      <a:r>
                        <a:rPr sz="1100" b="0">
                          <a:solidFill>
                            <a:srgbClr val="1A1A1A"/>
                          </a:solidFill>
                          <a:latin typeface="Calibri"/>
                        </a:rPr>
                        <a:t>p &gt; 0.05</a:t>
                      </a:r>
                    </a:p>
                  </a:txBody>
                  <a:tcPr>
                    <a:solidFill>
                      <a:srgbClr val="FFFFFF"/>
                    </a:solidFill>
                  </a:tcPr>
                </a:tc>
                <a:tc>
                  <a:txBody>
                    <a:bodyPr/>
                    <a:lstStyle/>
                    <a:p>
                      <a:pPr algn="ctr"/>
                      <a:r>
                        <a:rPr sz="1100" b="0">
                          <a:solidFill>
                            <a:srgbClr val="1A7A4A"/>
                          </a:solidFill>
                          <a:latin typeface="Calibri"/>
                        </a:rPr>
                        <a:t>White noise ✓</a:t>
                      </a:r>
                    </a:p>
                  </a:txBody>
                  <a:tcPr>
                    <a:solidFill>
                      <a:srgbClr val="D5F0E0"/>
                    </a:solidFill>
                  </a:tcPr>
                </a:tc>
              </a:tr>
              <a:tr h="326571">
                <a:tc>
                  <a:txBody>
                    <a:bodyPr/>
                    <a:lstStyle/>
                    <a:p>
                      <a:pPr algn="l"/>
                      <a:r>
                        <a:rPr sz="1100" b="0">
                          <a:solidFill>
                            <a:srgbClr val="1A1A1A"/>
                          </a:solidFill>
                          <a:latin typeface="Calibri"/>
                        </a:rPr>
                        <a:t>Jarque-Bera</a:t>
                      </a:r>
                    </a:p>
                  </a:txBody>
                  <a:tcPr>
                    <a:solidFill>
                      <a:srgbClr val="F2F4F8"/>
                    </a:solidFill>
                  </a:tcPr>
                </a:tc>
                <a:tc>
                  <a:txBody>
                    <a:bodyPr/>
                    <a:lstStyle/>
                    <a:p>
                      <a:pPr algn="ctr"/>
                      <a:r>
                        <a:rPr sz="1100" b="0">
                          <a:solidFill>
                            <a:srgbClr val="1A1A1A"/>
                          </a:solidFill>
                          <a:latin typeface="Calibri"/>
                        </a:rPr>
                        <a:t>p ≈ 0.06</a:t>
                      </a:r>
                    </a:p>
                  </a:txBody>
                  <a:tcPr>
                    <a:solidFill>
                      <a:srgbClr val="F2F4F8"/>
                    </a:solidFill>
                  </a:tcPr>
                </a:tc>
                <a:tc>
                  <a:txBody>
                    <a:bodyPr/>
                    <a:lstStyle/>
                    <a:p>
                      <a:pPr algn="ctr"/>
                      <a:r>
                        <a:rPr sz="1100" b="0">
                          <a:solidFill>
                            <a:srgbClr val="555555"/>
                          </a:solidFill>
                          <a:latin typeface="Calibri"/>
                        </a:rPr>
                        <a:t>Marginal normal</a:t>
                      </a:r>
                    </a:p>
                  </a:txBody>
                  <a:tcPr>
                    <a:solidFill>
                      <a:srgbClr val="F2F4F8"/>
                    </a:solidFill>
                  </a:tcPr>
                </a:tc>
              </a:tr>
              <a:tr h="326571">
                <a:tc>
                  <a:txBody>
                    <a:bodyPr/>
                    <a:lstStyle/>
                    <a:p>
                      <a:pPr algn="l"/>
                      <a:r>
                        <a:rPr sz="1100" b="0">
                          <a:solidFill>
                            <a:srgbClr val="1A1A1A"/>
                          </a:solidFill>
                          <a:latin typeface="Calibri"/>
                        </a:rPr>
                        <a:t>Residual Mean</a:t>
                      </a:r>
                    </a:p>
                  </a:txBody>
                  <a:tcPr>
                    <a:solidFill>
                      <a:srgbClr val="FFFFFF"/>
                    </a:solidFill>
                  </a:tcPr>
                </a:tc>
                <a:tc>
                  <a:txBody>
                    <a:bodyPr/>
                    <a:lstStyle/>
                    <a:p>
                      <a:pPr algn="ctr"/>
                      <a:r>
                        <a:rPr sz="1100" b="0">
                          <a:solidFill>
                            <a:srgbClr val="1A1A1A"/>
                          </a:solidFill>
                          <a:latin typeface="Calibri"/>
                        </a:rPr>
                        <a:t>≈ 0.000</a:t>
                      </a:r>
                    </a:p>
                  </a:txBody>
                  <a:tcPr>
                    <a:solidFill>
                      <a:srgbClr val="FFFFFF"/>
                    </a:solidFill>
                  </a:tcPr>
                </a:tc>
                <a:tc>
                  <a:txBody>
                    <a:bodyPr/>
                    <a:lstStyle/>
                    <a:p>
                      <a:pPr algn="ctr"/>
                      <a:r>
                        <a:rPr sz="1100" b="0">
                          <a:solidFill>
                            <a:srgbClr val="1A7A4A"/>
                          </a:solidFill>
                          <a:latin typeface="Calibri"/>
                        </a:rPr>
                        <a:t>No bias ✓</a:t>
                      </a:r>
                    </a:p>
                  </a:txBody>
                  <a:tcPr>
                    <a:solidFill>
                      <a:srgbClr val="D5F0E0"/>
                    </a:solidFill>
                  </a:tcPr>
                </a:tc>
              </a:tr>
              <a:tr h="326574">
                <a:tc>
                  <a:txBody>
                    <a:bodyPr/>
                    <a:lstStyle/>
                    <a:p>
                      <a:pPr algn="l"/>
                      <a:r>
                        <a:rPr sz="1100" b="0">
                          <a:solidFill>
                            <a:srgbClr val="1A1A1A"/>
                          </a:solidFill>
                          <a:latin typeface="Calibri"/>
                        </a:rPr>
                        <a:t>Residual Std</a:t>
                      </a:r>
                    </a:p>
                  </a:txBody>
                  <a:tcPr>
                    <a:solidFill>
                      <a:srgbClr val="F2F4F8"/>
                    </a:solidFill>
                  </a:tcPr>
                </a:tc>
                <a:tc>
                  <a:txBody>
                    <a:bodyPr/>
                    <a:lstStyle/>
                    <a:p>
                      <a:pPr algn="ctr"/>
                      <a:r>
                        <a:rPr sz="1100" b="0">
                          <a:solidFill>
                            <a:srgbClr val="1A1A1A"/>
                          </a:solidFill>
                          <a:latin typeface="Calibri"/>
                        </a:rPr>
                        <a:t>~0.042</a:t>
                      </a:r>
                    </a:p>
                  </a:txBody>
                  <a:tcPr>
                    <a:solidFill>
                      <a:srgbClr val="F2F4F8"/>
                    </a:solidFill>
                  </a:tcPr>
                </a:tc>
                <a:tc>
                  <a:txBody>
                    <a:bodyPr/>
                    <a:lstStyle/>
                    <a:p>
                      <a:pPr algn="ctr"/>
                      <a:r>
                        <a:rPr sz="1100" b="0">
                          <a:solidFill>
                            <a:srgbClr val="1A7A4A"/>
                          </a:solidFill>
                          <a:latin typeface="Calibri"/>
                        </a:rPr>
                        <a:t>Nhỏ ✓</a:t>
                      </a:r>
                    </a:p>
                  </a:txBody>
                  <a:tcPr>
                    <a:solidFill>
                      <a:srgbClr val="D5F0E0"/>
                    </a:solidFill>
                  </a:tcPr>
                </a:tc>
              </a:tr>
            </a:tbl>
          </a:graphicData>
        </a:graphic>
      </p:graphicFrame>
      <p:sp>
        <p:nvSpPr>
          <p:cNvPr id="14" name="Rectangle 13"/>
          <p:cNvSpPr/>
          <p:nvPr/>
        </p:nvSpPr>
        <p:spPr>
          <a:xfrm>
            <a:off x="7589520" y="3886200"/>
            <a:ext cx="4297680" cy="2286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89520" y="3886200"/>
            <a:ext cx="4297680" cy="320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62672" y="3911600"/>
            <a:ext cx="4206240" cy="320040"/>
          </a:xfrm>
          <a:prstGeom prst="rect">
            <a:avLst/>
          </a:prstGeom>
          <a:noFill/>
        </p:spPr>
        <p:txBody>
          <a:bodyPr wrap="square">
            <a:spAutoFit/>
          </a:bodyPr>
          <a:lstStyle/>
          <a:p>
            <a:pPr algn="l">
              <a:spcAft>
                <a:spcPts val="0"/>
              </a:spcAft>
            </a:pPr>
            <a:r>
              <a:rPr sz="1200" b="1" i="0">
                <a:solidFill>
                  <a:srgbClr val="FFFFFF"/>
                </a:solidFill>
                <a:latin typeface="Calibri"/>
              </a:rPr>
              <a:t>📌  Diễn giải</a:t>
            </a:r>
          </a:p>
        </p:txBody>
      </p:sp>
      <p:sp>
        <p:nvSpPr>
          <p:cNvPr id="17" name="TextBox 16"/>
          <p:cNvSpPr txBox="1"/>
          <p:nvPr/>
        </p:nvSpPr>
        <p:spPr>
          <a:xfrm>
            <a:off x="7635240" y="4251960"/>
            <a:ext cx="4206240" cy="1874519"/>
          </a:xfrm>
          <a:prstGeom prst="rect">
            <a:avLst/>
          </a:prstGeom>
          <a:noFill/>
        </p:spPr>
        <p:txBody>
          <a:bodyPr wrap="square">
            <a:spAutoFit/>
          </a:bodyPr>
          <a:lstStyle/>
          <a:p>
            <a:pPr>
              <a:spcAft>
                <a:spcPts val="700"/>
              </a:spcAft>
            </a:pPr>
            <a:r>
              <a:rPr sz="1200">
                <a:solidFill>
                  <a:srgbClr val="1A1A1A"/>
                </a:solidFill>
                <a:latin typeface="Calibri"/>
              </a:rPr>
              <a:t>▸  LB tất cả lags: residuals là white noise → model đã nắm bắt hết autocorrelation</a:t>
            </a:r>
          </a:p>
          <a:p>
            <a:pPr>
              <a:spcAft>
                <a:spcPts val="700"/>
              </a:spcAft>
            </a:pPr>
            <a:r>
              <a:rPr sz="1200">
                <a:solidFill>
                  <a:srgbClr val="1A1A1A"/>
                </a:solidFill>
                <a:latin typeface="Calibri"/>
              </a:rPr>
              <a:t>▸  JB marginal: đuôi dày nhẹ từ promotion spikes → thêm activity dummy vào SARIMAX</a:t>
            </a:r>
          </a:p>
          <a:p>
            <a:pPr>
              <a:spcAft>
                <a:spcPts val="700"/>
              </a:spcAft>
            </a:pPr>
            <a:r>
              <a:rPr sz="1200">
                <a:solidFill>
                  <a:srgbClr val="1A1A1A"/>
                </a:solidFill>
                <a:latin typeface="Calibri"/>
              </a:rPr>
              <a:t>▸  Q-Q plot: bám đường 45° tốt ở giữa, lệch nhẹ ở đuôi — chấp nhận được</a:t>
            </a:r>
          </a:p>
          <a:p>
            <a:pPr>
              <a:spcAft>
                <a:spcPts val="700"/>
              </a:spcAft>
            </a:pPr>
            <a:r>
              <a:rPr sz="1200">
                <a:solidFill>
                  <a:srgbClr val="1A1A1A"/>
                </a:solidFill>
                <a:latin typeface="Calibri"/>
              </a:rPr>
              <a:t>▸  Không có pattern trong residuals → SARIMA phù hợp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Kết Quả Dự Báo — 14 Ngày Out-of-Sample</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12 / 14</a:t>
            </a:r>
          </a:p>
        </p:txBody>
      </p:sp>
      <p:sp>
        <p:nvSpPr>
          <p:cNvPr id="9" name="Rectangle 8"/>
          <p:cNvSpPr/>
          <p:nvPr/>
        </p:nvSpPr>
        <p:spPr>
          <a:xfrm>
            <a:off x="274320" y="1143000"/>
            <a:ext cx="7498079" cy="265176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234440"/>
            <a:ext cx="7315199" cy="2651760"/>
          </a:xfrm>
          <a:prstGeom prst="rect">
            <a:avLst/>
          </a:prstGeom>
          <a:noFill/>
        </p:spPr>
        <p:txBody>
          <a:bodyPr wrap="square">
            <a:spAutoFit/>
          </a:bodyPr>
          <a:lstStyle/>
          <a:p>
            <a:pPr algn="ctr">
              <a:spcAft>
                <a:spcPts val="0"/>
              </a:spcAft>
            </a:pPr>
            <a:r>
              <a:rPr sz="1100" b="0" i="0">
                <a:solidFill>
                  <a:srgbClr val="555555"/>
                </a:solidFill>
                <a:latin typeface="Calibri"/>
              </a:rPr>
              <a:t>[Image not found:
forecast.png]</a:t>
            </a:r>
          </a:p>
        </p:txBody>
      </p:sp>
      <p:sp>
        <p:nvSpPr>
          <p:cNvPr id="11" name="Rectangle 10"/>
          <p:cNvSpPr/>
          <p:nvPr/>
        </p:nvSpPr>
        <p:spPr>
          <a:xfrm>
            <a:off x="274320" y="3840480"/>
            <a:ext cx="7498079" cy="2377440"/>
          </a:xfrm>
          <a:prstGeom prst="rect">
            <a:avLst/>
          </a:prstGeom>
          <a:solidFill>
            <a:srgbClr val="F2F4F8"/>
          </a:solidFill>
          <a:ln w="6350">
            <a:solidFill>
              <a:srgbClr val="D0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3931920"/>
            <a:ext cx="7315199" cy="2377440"/>
          </a:xfrm>
          <a:prstGeom prst="rect">
            <a:avLst/>
          </a:prstGeom>
          <a:noFill/>
        </p:spPr>
        <p:txBody>
          <a:bodyPr wrap="square">
            <a:spAutoFit/>
          </a:bodyPr>
          <a:lstStyle/>
          <a:p>
            <a:pPr algn="ctr">
              <a:spcAft>
                <a:spcPts val="0"/>
              </a:spcAft>
            </a:pPr>
            <a:r>
              <a:rPr sz="1100" b="0" i="0">
                <a:solidFill>
                  <a:srgbClr val="555555"/>
                </a:solidFill>
                <a:latin typeface="Calibri"/>
              </a:rPr>
              <a:t>[Image not found:
sarima_vs_sarimax.png]</a:t>
            </a:r>
          </a:p>
        </p:txBody>
      </p:sp>
      <p:sp>
        <p:nvSpPr>
          <p:cNvPr id="13" name="Rectangle 12"/>
          <p:cNvSpPr/>
          <p:nvPr/>
        </p:nvSpPr>
        <p:spPr>
          <a:xfrm>
            <a:off x="7909560" y="1143000"/>
            <a:ext cx="3977639"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82712" y="1168400"/>
            <a:ext cx="3886199" cy="320040"/>
          </a:xfrm>
          <a:prstGeom prst="rect">
            <a:avLst/>
          </a:prstGeom>
          <a:noFill/>
        </p:spPr>
        <p:txBody>
          <a:bodyPr wrap="square">
            <a:spAutoFit/>
          </a:bodyPr>
          <a:lstStyle/>
          <a:p>
            <a:pPr algn="l">
              <a:spcAft>
                <a:spcPts val="0"/>
              </a:spcAft>
            </a:pPr>
            <a:r>
              <a:rPr sz="1200" b="1" i="0">
                <a:solidFill>
                  <a:srgbClr val="FFFFFF"/>
                </a:solidFill>
                <a:latin typeface="Calibri"/>
              </a:rPr>
              <a:t>📊  Độ chính xác</a:t>
            </a:r>
          </a:p>
        </p:txBody>
      </p:sp>
      <p:graphicFrame>
        <p:nvGraphicFramePr>
          <p:cNvPr id="15" name="Table 14"/>
          <p:cNvGraphicFramePr>
            <a:graphicFrameLocks noGrp="1"/>
          </p:cNvGraphicFramePr>
          <p:nvPr/>
        </p:nvGraphicFramePr>
        <p:xfrm>
          <a:off x="7909560" y="1508760"/>
          <a:ext cx="3977640" cy="1828800"/>
        </p:xfrm>
        <a:graphic>
          <a:graphicData uri="http://schemas.openxmlformats.org/drawingml/2006/table">
            <a:tbl>
              <a:tblPr firstRow="1" bandRow="1">
                <a:tableStyleId>{5C22544A-7EE6-4342-B048-85BDC9FD1C3A}</a:tableStyleId>
              </a:tblPr>
              <a:tblGrid>
                <a:gridCol w="1371600"/>
                <a:gridCol w="1280160"/>
                <a:gridCol w="1325880"/>
              </a:tblGrid>
              <a:tr h="365760">
                <a:tc>
                  <a:txBody>
                    <a:bodyPr/>
                    <a:lstStyle/>
                    <a:p>
                      <a:pPr algn="ctr"/>
                      <a:r>
                        <a:rPr sz="1300" b="1">
                          <a:solidFill>
                            <a:srgbClr val="FFFFFF"/>
                          </a:solidFill>
                          <a:latin typeface="Calibri"/>
                        </a:rPr>
                        <a:t>Metric</a:t>
                      </a:r>
                    </a:p>
                  </a:txBody>
                  <a:tcPr>
                    <a:solidFill>
                      <a:srgbClr val="1F4E79"/>
                    </a:solidFill>
                  </a:tcPr>
                </a:tc>
                <a:tc>
                  <a:txBody>
                    <a:bodyPr/>
                    <a:lstStyle/>
                    <a:p>
                      <a:pPr algn="ctr"/>
                      <a:r>
                        <a:rPr sz="1300" b="1">
                          <a:solidFill>
                            <a:srgbClr val="FFFFFF"/>
                          </a:solidFill>
                          <a:latin typeface="Calibri"/>
                        </a:rPr>
                        <a:t>SARIMA</a:t>
                      </a:r>
                    </a:p>
                  </a:txBody>
                  <a:tcPr>
                    <a:solidFill>
                      <a:srgbClr val="1F4E79"/>
                    </a:solidFill>
                  </a:tcPr>
                </a:tc>
                <a:tc>
                  <a:txBody>
                    <a:bodyPr/>
                    <a:lstStyle/>
                    <a:p>
                      <a:pPr algn="ctr"/>
                      <a:r>
                        <a:rPr sz="1300" b="1">
                          <a:solidFill>
                            <a:srgbClr val="FFFFFF"/>
                          </a:solidFill>
                          <a:latin typeface="Calibri"/>
                        </a:rPr>
                        <a:t>SARIMAX</a:t>
                      </a:r>
                    </a:p>
                  </a:txBody>
                  <a:tcPr>
                    <a:solidFill>
                      <a:srgbClr val="1F4E79"/>
                    </a:solidFill>
                  </a:tcPr>
                </a:tc>
              </a:tr>
              <a:tr h="365760">
                <a:tc>
                  <a:txBody>
                    <a:bodyPr/>
                    <a:lstStyle/>
                    <a:p>
                      <a:pPr algn="l"/>
                      <a:r>
                        <a:rPr sz="1200" b="0">
                          <a:solidFill>
                            <a:srgbClr val="1A1A1A"/>
                          </a:solidFill>
                          <a:latin typeface="Calibri"/>
                        </a:rPr>
                        <a:t>MAPE</a:t>
                      </a:r>
                    </a:p>
                  </a:txBody>
                  <a:tcPr>
                    <a:solidFill>
                      <a:srgbClr val="FFFFFF"/>
                    </a:solidFill>
                  </a:tcPr>
                </a:tc>
                <a:tc>
                  <a:txBody>
                    <a:bodyPr/>
                    <a:lstStyle/>
                    <a:p>
                      <a:pPr algn="ctr"/>
                      <a:r>
                        <a:rPr sz="1200" b="0">
                          <a:solidFill>
                            <a:srgbClr val="1A1A1A"/>
                          </a:solidFill>
                          <a:latin typeface="Calibri"/>
                        </a:rPr>
                        <a:t>8.01%</a:t>
                      </a:r>
                    </a:p>
                  </a:txBody>
                  <a:tcPr>
                    <a:solidFill>
                      <a:srgbClr val="F2F4F8"/>
                    </a:solidFill>
                  </a:tcPr>
                </a:tc>
                <a:tc>
                  <a:txBody>
                    <a:bodyPr/>
                    <a:lstStyle/>
                    <a:p>
                      <a:pPr algn="ctr"/>
                      <a:r>
                        <a:rPr sz="1200" b="0">
                          <a:solidFill>
                            <a:srgbClr val="1A7A4A"/>
                          </a:solidFill>
                          <a:latin typeface="Calibri"/>
                        </a:rPr>
                        <a:t>6.43%</a:t>
                      </a:r>
                    </a:p>
                  </a:txBody>
                  <a:tcPr>
                    <a:solidFill>
                      <a:srgbClr val="D5F0E0"/>
                    </a:solidFill>
                  </a:tcPr>
                </a:tc>
              </a:tr>
              <a:tr h="365760">
                <a:tc>
                  <a:txBody>
                    <a:bodyPr/>
                    <a:lstStyle/>
                    <a:p>
                      <a:pPr algn="l"/>
                      <a:r>
                        <a:rPr sz="1200" b="0">
                          <a:solidFill>
                            <a:srgbClr val="1A1A1A"/>
                          </a:solidFill>
                          <a:latin typeface="Calibri"/>
                        </a:rPr>
                        <a:t>RMSE</a:t>
                      </a:r>
                    </a:p>
                  </a:txBody>
                  <a:tcPr>
                    <a:solidFill>
                      <a:srgbClr val="F2F4F8"/>
                    </a:solidFill>
                  </a:tcPr>
                </a:tc>
                <a:tc>
                  <a:txBody>
                    <a:bodyPr/>
                    <a:lstStyle/>
                    <a:p>
                      <a:pPr algn="ctr"/>
                      <a:r>
                        <a:rPr sz="1200" b="0">
                          <a:solidFill>
                            <a:srgbClr val="1A1A1A"/>
                          </a:solidFill>
                          <a:latin typeface="Calibri"/>
                        </a:rPr>
                        <a:t>5,666</a:t>
                      </a:r>
                    </a:p>
                  </a:txBody>
                  <a:tcPr>
                    <a:solidFill>
                      <a:srgbClr val="F2F4F8"/>
                    </a:solidFill>
                  </a:tcPr>
                </a:tc>
                <a:tc>
                  <a:txBody>
                    <a:bodyPr/>
                    <a:lstStyle/>
                    <a:p>
                      <a:pPr algn="ctr"/>
                      <a:r>
                        <a:rPr sz="1200" b="0">
                          <a:solidFill>
                            <a:srgbClr val="1A1A1A"/>
                          </a:solidFill>
                          <a:latin typeface="Calibri"/>
                        </a:rPr>
                        <a:t>5,079</a:t>
                      </a:r>
                    </a:p>
                  </a:txBody>
                  <a:tcPr>
                    <a:solidFill>
                      <a:srgbClr val="F2F4F8"/>
                    </a:solidFill>
                  </a:tcPr>
                </a:tc>
              </a:tr>
              <a:tr h="365760">
                <a:tc>
                  <a:txBody>
                    <a:bodyPr/>
                    <a:lstStyle/>
                    <a:p>
                      <a:pPr algn="l"/>
                      <a:r>
                        <a:rPr sz="1200" b="0">
                          <a:solidFill>
                            <a:srgbClr val="1A1A1A"/>
                          </a:solidFill>
                          <a:latin typeface="Calibri"/>
                        </a:rPr>
                        <a:t>MAE</a:t>
                      </a:r>
                    </a:p>
                  </a:txBody>
                  <a:tcPr>
                    <a:solidFill>
                      <a:srgbClr val="FFFFFF"/>
                    </a:solidFill>
                  </a:tcPr>
                </a:tc>
                <a:tc>
                  <a:txBody>
                    <a:bodyPr/>
                    <a:lstStyle/>
                    <a:p>
                      <a:pPr algn="ctr"/>
                      <a:r>
                        <a:rPr sz="1200" b="0">
                          <a:solidFill>
                            <a:srgbClr val="1A1A1A"/>
                          </a:solidFill>
                          <a:latin typeface="Calibri"/>
                        </a:rPr>
                        <a:t>4,150</a:t>
                      </a:r>
                    </a:p>
                  </a:txBody>
                  <a:tcPr>
                    <a:solidFill>
                      <a:srgbClr val="FFFFFF"/>
                    </a:solidFill>
                  </a:tcPr>
                </a:tc>
                <a:tc>
                  <a:txBody>
                    <a:bodyPr/>
                    <a:lstStyle/>
                    <a:p>
                      <a:pPr algn="ctr"/>
                      <a:r>
                        <a:rPr sz="1200" b="0">
                          <a:solidFill>
                            <a:srgbClr val="1A1A1A"/>
                          </a:solidFill>
                          <a:latin typeface="Calibri"/>
                        </a:rPr>
                        <a:t>3,820</a:t>
                      </a:r>
                    </a:p>
                  </a:txBody>
                  <a:tcPr>
                    <a:solidFill>
                      <a:srgbClr val="FFFFFF"/>
                    </a:solidFill>
                  </a:tcPr>
                </a:tc>
              </a:tr>
              <a:tr h="365760">
                <a:tc>
                  <a:txBody>
                    <a:bodyPr/>
                    <a:lstStyle/>
                    <a:p>
                      <a:pPr algn="l"/>
                      <a:r>
                        <a:rPr sz="1200" b="0">
                          <a:solidFill>
                            <a:srgbClr val="1A1A1A"/>
                          </a:solidFill>
                          <a:latin typeface="Calibri"/>
                        </a:rPr>
                        <a:t>AIC</a:t>
                      </a:r>
                    </a:p>
                  </a:txBody>
                  <a:tcPr>
                    <a:solidFill>
                      <a:srgbClr val="F2F4F8"/>
                    </a:solidFill>
                  </a:tcPr>
                </a:tc>
                <a:tc>
                  <a:txBody>
                    <a:bodyPr/>
                    <a:lstStyle/>
                    <a:p>
                      <a:pPr algn="ctr"/>
                      <a:r>
                        <a:rPr sz="1200" b="0">
                          <a:solidFill>
                            <a:srgbClr val="1A1A1A"/>
                          </a:solidFill>
                          <a:latin typeface="Calibri"/>
                        </a:rPr>
                        <a:t>−97.0</a:t>
                      </a:r>
                    </a:p>
                  </a:txBody>
                  <a:tcPr>
                    <a:solidFill>
                      <a:srgbClr val="F2F4F8"/>
                    </a:solidFill>
                  </a:tcPr>
                </a:tc>
                <a:tc>
                  <a:txBody>
                    <a:bodyPr/>
                    <a:lstStyle/>
                    <a:p>
                      <a:pPr algn="ctr"/>
                      <a:r>
                        <a:rPr sz="1200" b="0">
                          <a:solidFill>
                            <a:srgbClr val="1A7A4A"/>
                          </a:solidFill>
                          <a:latin typeface="Calibri"/>
                        </a:rPr>
                        <a:t>−107.5</a:t>
                      </a:r>
                    </a:p>
                  </a:txBody>
                  <a:tcPr>
                    <a:solidFill>
                      <a:srgbClr val="D5F0E0"/>
                    </a:solidFill>
                  </a:tcPr>
                </a:tc>
              </a:tr>
            </a:tbl>
          </a:graphicData>
        </a:graphic>
      </p:graphicFrame>
      <p:sp>
        <p:nvSpPr>
          <p:cNvPr id="16" name="Rectangle 15"/>
          <p:cNvSpPr/>
          <p:nvPr/>
        </p:nvSpPr>
        <p:spPr>
          <a:xfrm>
            <a:off x="7909560" y="3429000"/>
            <a:ext cx="3977639" cy="2788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9560" y="3429000"/>
            <a:ext cx="3977639" cy="320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3454400"/>
            <a:ext cx="3886199" cy="320040"/>
          </a:xfrm>
          <a:prstGeom prst="rect">
            <a:avLst/>
          </a:prstGeom>
          <a:noFill/>
        </p:spPr>
        <p:txBody>
          <a:bodyPr wrap="square">
            <a:spAutoFit/>
          </a:bodyPr>
          <a:lstStyle/>
          <a:p>
            <a:pPr algn="l">
              <a:spcAft>
                <a:spcPts val="0"/>
              </a:spcAft>
            </a:pPr>
            <a:r>
              <a:rPr sz="1200" b="1" i="0">
                <a:solidFill>
                  <a:srgbClr val="FFFFFF"/>
                </a:solidFill>
                <a:latin typeface="Calibri"/>
              </a:rPr>
              <a:t>💡  Nhận xét</a:t>
            </a:r>
          </a:p>
        </p:txBody>
      </p:sp>
      <p:sp>
        <p:nvSpPr>
          <p:cNvPr id="19" name="TextBox 18"/>
          <p:cNvSpPr txBox="1"/>
          <p:nvPr/>
        </p:nvSpPr>
        <p:spPr>
          <a:xfrm>
            <a:off x="7955279" y="3822191"/>
            <a:ext cx="3840480" cy="2331720"/>
          </a:xfrm>
          <a:prstGeom prst="rect">
            <a:avLst/>
          </a:prstGeom>
          <a:noFill/>
        </p:spPr>
        <p:txBody>
          <a:bodyPr wrap="square">
            <a:spAutoFit/>
          </a:bodyPr>
          <a:lstStyle/>
          <a:p>
            <a:pPr>
              <a:spcAft>
                <a:spcPts val="800"/>
              </a:spcAft>
            </a:pPr>
            <a:r>
              <a:rPr sz="1250">
                <a:solidFill>
                  <a:srgbClr val="1A1A1A"/>
                </a:solidFill>
                <a:latin typeface="Calibri"/>
              </a:rPr>
              <a:t>▸  Train 76 ngày → Forecast 14 ngày</a:t>
            </a:r>
          </a:p>
          <a:p>
            <a:pPr>
              <a:spcAft>
                <a:spcPts val="800"/>
              </a:spcAft>
            </a:pPr>
            <a:r>
              <a:rPr sz="1250">
                <a:solidFill>
                  <a:srgbClr val="1A1A1A"/>
                </a:solidFill>
                <a:latin typeface="Calibri"/>
              </a:rPr>
              <a:t>▸  SARIMA: tốt 7 ngày đầu (APE 1–4%), diverge tuần 2</a:t>
            </a:r>
          </a:p>
          <a:p>
            <a:pPr>
              <a:spcAft>
                <a:spcPts val="800"/>
              </a:spcAft>
            </a:pPr>
            <a:r>
              <a:rPr sz="1250">
                <a:solidFill>
                  <a:srgbClr val="1A1A1A"/>
                </a:solidFill>
                <a:latin typeface="Calibri"/>
              </a:rPr>
              <a:t>▸  SARIMAX: giảm MAPE 1.6 pp nhờ promotion + weather</a:t>
            </a:r>
          </a:p>
          <a:p>
            <a:pPr>
              <a:spcAft>
                <a:spcPts val="800"/>
              </a:spcAft>
            </a:pPr>
            <a:r>
              <a:rPr sz="1250">
                <a:solidFill>
                  <a:srgbClr val="1A1A1A"/>
                </a:solidFill>
                <a:latin typeface="Calibri"/>
              </a:rPr>
              <a:t>▸  AIC giảm 10.5 units → exog thực sự cải thiện fit</a:t>
            </a:r>
          </a:p>
          <a:p>
            <a:pPr>
              <a:spcAft>
                <a:spcPts val="800"/>
              </a:spcAft>
            </a:pPr>
            <a:r>
              <a:rPr sz="1250">
                <a:solidFill>
                  <a:srgbClr val="1A1A1A"/>
                </a:solidFill>
                <a:latin typeface="Calibri"/>
              </a:rPr>
              <a:t>▸  Underforecast hệ thống → promotion là driver chính</a:t>
            </a:r>
          </a:p>
        </p:txBody>
      </p:sp>
      <p:sp>
        <p:nvSpPr>
          <p:cNvPr id="20" name="TextBox 19"/>
          <p:cNvSpPr txBox="1"/>
          <p:nvPr/>
        </p:nvSpPr>
        <p:spPr>
          <a:xfrm>
            <a:off x="274320" y="3776472"/>
            <a:ext cx="7498079" cy="201168"/>
          </a:xfrm>
          <a:prstGeom prst="rect">
            <a:avLst/>
          </a:prstGeom>
          <a:noFill/>
        </p:spPr>
        <p:txBody>
          <a:bodyPr wrap="square">
            <a:spAutoFit/>
          </a:bodyPr>
          <a:lstStyle/>
          <a:p>
            <a:pPr algn="l">
              <a:spcAft>
                <a:spcPts val="0"/>
              </a:spcAft>
            </a:pPr>
            <a:r>
              <a:rPr sz="900" b="0" i="1">
                <a:solidFill>
                  <a:srgbClr val="555555"/>
                </a:solidFill>
                <a:latin typeface="Calibri"/>
              </a:rPr>
              <a:t>SARIMA(1,1,1)(0,1,1)[7] — 14-day forecast</a:t>
            </a:r>
          </a:p>
        </p:txBody>
      </p:sp>
      <p:sp>
        <p:nvSpPr>
          <p:cNvPr id="21" name="TextBox 20"/>
          <p:cNvSpPr txBox="1"/>
          <p:nvPr/>
        </p:nvSpPr>
        <p:spPr>
          <a:xfrm>
            <a:off x="274320" y="6236208"/>
            <a:ext cx="7498079" cy="201168"/>
          </a:xfrm>
          <a:prstGeom prst="rect">
            <a:avLst/>
          </a:prstGeom>
          <a:noFill/>
        </p:spPr>
        <p:txBody>
          <a:bodyPr wrap="square">
            <a:spAutoFit/>
          </a:bodyPr>
          <a:lstStyle/>
          <a:p>
            <a:pPr algn="l">
              <a:spcAft>
                <a:spcPts val="0"/>
              </a:spcAft>
            </a:pPr>
            <a:r>
              <a:rPr sz="900" b="0" i="1">
                <a:solidFill>
                  <a:srgbClr val="555555"/>
                </a:solidFill>
                <a:latin typeface="Calibri"/>
              </a:rPr>
              <a:t>SARIMA vs SARIMAX — so sánh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Mở Rộng sang SARIMAX — Biến Ngoại Sinh</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13 / 14</a:t>
            </a:r>
          </a:p>
        </p:txBody>
      </p:sp>
      <p:sp>
        <p:nvSpPr>
          <p:cNvPr id="9" name="Rectangle 8"/>
          <p:cNvSpPr/>
          <p:nvPr/>
        </p:nvSpPr>
        <p:spPr>
          <a:xfrm>
            <a:off x="365760" y="1143000"/>
            <a:ext cx="45720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168400"/>
            <a:ext cx="4480560" cy="320040"/>
          </a:xfrm>
          <a:prstGeom prst="rect">
            <a:avLst/>
          </a:prstGeom>
          <a:noFill/>
        </p:spPr>
        <p:txBody>
          <a:bodyPr wrap="square">
            <a:spAutoFit/>
          </a:bodyPr>
          <a:lstStyle/>
          <a:p>
            <a:pPr algn="l">
              <a:spcAft>
                <a:spcPts val="0"/>
              </a:spcAft>
            </a:pPr>
            <a:r>
              <a:rPr sz="1200" b="1" i="0">
                <a:solidFill>
                  <a:srgbClr val="FFFFFF"/>
                </a:solidFill>
                <a:latin typeface="Calibri"/>
              </a:rPr>
              <a:t>📥  Biến ngoại sinh đưa vào mô hình</a:t>
            </a:r>
          </a:p>
        </p:txBody>
      </p:sp>
      <p:graphicFrame>
        <p:nvGraphicFramePr>
          <p:cNvPr id="11" name="Table 10"/>
          <p:cNvGraphicFramePr>
            <a:graphicFrameLocks noGrp="1"/>
          </p:cNvGraphicFramePr>
          <p:nvPr/>
        </p:nvGraphicFramePr>
        <p:xfrm>
          <a:off x="365760" y="1508760"/>
          <a:ext cx="11430000" cy="2011680"/>
        </p:xfrm>
        <a:graphic>
          <a:graphicData uri="http://schemas.openxmlformats.org/drawingml/2006/table">
            <a:tbl>
              <a:tblPr firstRow="1" bandRow="1">
                <a:tableStyleId>{5C22544A-7EE6-4342-B048-85BDC9FD1C3A}</a:tableStyleId>
              </a:tblPr>
              <a:tblGrid>
                <a:gridCol w="2194560"/>
                <a:gridCol w="2194560"/>
                <a:gridCol w="7040880"/>
              </a:tblGrid>
              <a:tr h="402336">
                <a:tc>
                  <a:txBody>
                    <a:bodyPr/>
                    <a:lstStyle/>
                    <a:p>
                      <a:pPr algn="ctr"/>
                      <a:r>
                        <a:rPr sz="1300" b="1">
                          <a:solidFill>
                            <a:srgbClr val="FFFFFF"/>
                          </a:solidFill>
                          <a:latin typeface="Calibri"/>
                        </a:rPr>
                        <a:t>Biến</a:t>
                      </a:r>
                    </a:p>
                  </a:txBody>
                  <a:tcPr>
                    <a:solidFill>
                      <a:srgbClr val="1F4E79"/>
                    </a:solidFill>
                  </a:tcPr>
                </a:tc>
                <a:tc>
                  <a:txBody>
                    <a:bodyPr/>
                    <a:lstStyle/>
                    <a:p>
                      <a:pPr algn="ctr"/>
                      <a:r>
                        <a:rPr sz="1300" b="1">
                          <a:solidFill>
                            <a:srgbClr val="FFFFFF"/>
                          </a:solidFill>
                          <a:latin typeface="Calibri"/>
                        </a:rPr>
                        <a:t>Mô tả</a:t>
                      </a:r>
                    </a:p>
                  </a:txBody>
                  <a:tcPr>
                    <a:solidFill>
                      <a:srgbClr val="1F4E79"/>
                    </a:solidFill>
                  </a:tcPr>
                </a:tc>
                <a:tc>
                  <a:txBody>
                    <a:bodyPr/>
                    <a:lstStyle/>
                    <a:p>
                      <a:pPr algn="ctr"/>
                      <a:r>
                        <a:rPr sz="1300" b="1">
                          <a:solidFill>
                            <a:srgbClr val="FFFFFF"/>
                          </a:solidFill>
                          <a:latin typeface="Calibri"/>
                        </a:rPr>
                        <a:t>Dấu hệ số &amp; Ý nghĩa</a:t>
                      </a:r>
                    </a:p>
                  </a:txBody>
                  <a:tcPr>
                    <a:solidFill>
                      <a:srgbClr val="1F4E79"/>
                    </a:solidFill>
                  </a:tcPr>
                </a:tc>
              </a:tr>
              <a:tr h="402336">
                <a:tc>
                  <a:txBody>
                    <a:bodyPr/>
                    <a:lstStyle/>
                    <a:p>
                      <a:pPr algn="l"/>
                      <a:r>
                        <a:rPr sz="1200" b="0">
                          <a:solidFill>
                            <a:srgbClr val="1A1A1A"/>
                          </a:solidFill>
                          <a:latin typeface="Calibri"/>
                        </a:rPr>
                        <a:t>avg_temperature</a:t>
                      </a:r>
                    </a:p>
                  </a:txBody>
                  <a:tcPr>
                    <a:solidFill>
                      <a:srgbClr val="FFFFFF"/>
                    </a:solidFill>
                  </a:tcPr>
                </a:tc>
                <a:tc>
                  <a:txBody>
                    <a:bodyPr/>
                    <a:lstStyle/>
                    <a:p>
                      <a:pPr algn="ctr"/>
                      <a:r>
                        <a:rPr sz="1200" b="0">
                          <a:solidFill>
                            <a:srgbClr val="1A1A1A"/>
                          </a:solidFill>
                          <a:latin typeface="Calibri"/>
                        </a:rPr>
                        <a:t>Nhiệt độ TB (chuẩn hoá)</a:t>
                      </a:r>
                    </a:p>
                  </a:txBody>
                  <a:tcPr>
                    <a:solidFill>
                      <a:srgbClr val="FFFFFF"/>
                    </a:solidFill>
                  </a:tcPr>
                </a:tc>
                <a:tc>
                  <a:txBody>
                    <a:bodyPr/>
                    <a:lstStyle/>
                    <a:p>
                      <a:pPr algn="ctr"/>
                      <a:r>
                        <a:rPr sz="1200" b="0">
                          <a:solidFill>
                            <a:srgbClr val="1A1A1A"/>
                          </a:solidFill>
                          <a:latin typeface="Calibri"/>
                        </a:rPr>
                        <a:t>Dương (+) — nóng → nhu cầu tươi tăng</a:t>
                      </a:r>
                    </a:p>
                  </a:txBody>
                  <a:tcPr>
                    <a:solidFill>
                      <a:srgbClr val="FFFFFF"/>
                    </a:solidFill>
                  </a:tcPr>
                </a:tc>
              </a:tr>
              <a:tr h="402336">
                <a:tc>
                  <a:txBody>
                    <a:bodyPr/>
                    <a:lstStyle/>
                    <a:p>
                      <a:pPr algn="l"/>
                      <a:r>
                        <a:rPr sz="1200" b="0">
                          <a:solidFill>
                            <a:srgbClr val="1A1A1A"/>
                          </a:solidFill>
                          <a:latin typeface="Calibri"/>
                        </a:rPr>
                        <a:t>avg_precpt</a:t>
                      </a:r>
                    </a:p>
                  </a:txBody>
                  <a:tcPr>
                    <a:solidFill>
                      <a:srgbClr val="F2F4F8"/>
                    </a:solidFill>
                  </a:tcPr>
                </a:tc>
                <a:tc>
                  <a:txBody>
                    <a:bodyPr/>
                    <a:lstStyle/>
                    <a:p>
                      <a:pPr algn="ctr"/>
                      <a:r>
                        <a:rPr sz="1200" b="0">
                          <a:solidFill>
                            <a:srgbClr val="1A1A1A"/>
                          </a:solidFill>
                          <a:latin typeface="Calibri"/>
                        </a:rPr>
                        <a:t>Lượng mưa (chuẩn hoá)</a:t>
                      </a:r>
                    </a:p>
                  </a:txBody>
                  <a:tcPr>
                    <a:solidFill>
                      <a:srgbClr val="F2F4F8"/>
                    </a:solidFill>
                  </a:tcPr>
                </a:tc>
                <a:tc>
                  <a:txBody>
                    <a:bodyPr/>
                    <a:lstStyle/>
                    <a:p>
                      <a:pPr algn="ctr"/>
                      <a:r>
                        <a:rPr sz="1200" b="0">
                          <a:solidFill>
                            <a:srgbClr val="1A1A1A"/>
                          </a:solidFill>
                          <a:latin typeface="Calibri"/>
                        </a:rPr>
                        <a:t>Âm (−)  — mưa → ít đặt hàng</a:t>
                      </a:r>
                    </a:p>
                  </a:txBody>
                  <a:tcPr>
                    <a:solidFill>
                      <a:srgbClr val="F2F4F8"/>
                    </a:solidFill>
                  </a:tcPr>
                </a:tc>
              </a:tr>
              <a:tr h="402336">
                <a:tc>
                  <a:txBody>
                    <a:bodyPr/>
                    <a:lstStyle/>
                    <a:p>
                      <a:pPr algn="l"/>
                      <a:r>
                        <a:rPr sz="1200" b="0">
                          <a:solidFill>
                            <a:srgbClr val="1A1A1A"/>
                          </a:solidFill>
                          <a:latin typeface="Calibri"/>
                        </a:rPr>
                        <a:t>holiday_flag</a:t>
                      </a:r>
                    </a:p>
                  </a:txBody>
                  <a:tcPr>
                    <a:solidFill>
                      <a:srgbClr val="FFFFFF"/>
                    </a:solidFill>
                  </a:tcPr>
                </a:tc>
                <a:tc>
                  <a:txBody>
                    <a:bodyPr/>
                    <a:lstStyle/>
                    <a:p>
                      <a:pPr algn="ctr"/>
                      <a:r>
                        <a:rPr sz="1200" b="0">
                          <a:solidFill>
                            <a:srgbClr val="1A1A1A"/>
                          </a:solidFill>
                          <a:latin typeface="Calibri"/>
                        </a:rPr>
                        <a:t>Ngày lễ  (binary)</a:t>
                      </a:r>
                    </a:p>
                  </a:txBody>
                  <a:tcPr>
                    <a:solidFill>
                      <a:srgbClr val="FFFFFF"/>
                    </a:solidFill>
                  </a:tcPr>
                </a:tc>
                <a:tc>
                  <a:txBody>
                    <a:bodyPr/>
                    <a:lstStyle/>
                    <a:p>
                      <a:pPr algn="ctr"/>
                      <a:r>
                        <a:rPr sz="1200" b="0">
                          <a:solidFill>
                            <a:srgbClr val="1A1A1A"/>
                          </a:solidFill>
                          <a:latin typeface="Calibri"/>
                        </a:rPr>
                        <a:t>Dương lớn (+) — spike doanh số</a:t>
                      </a:r>
                    </a:p>
                  </a:txBody>
                  <a:tcPr>
                    <a:solidFill>
                      <a:srgbClr val="FFFFFF"/>
                    </a:solidFill>
                  </a:tcPr>
                </a:tc>
              </a:tr>
              <a:tr h="402336">
                <a:tc>
                  <a:txBody>
                    <a:bodyPr/>
                    <a:lstStyle/>
                    <a:p>
                      <a:pPr algn="l"/>
                      <a:r>
                        <a:rPr sz="1200" b="0">
                          <a:solidFill>
                            <a:srgbClr val="1A1A1A"/>
                          </a:solidFill>
                          <a:latin typeface="Calibri"/>
                        </a:rPr>
                        <a:t>activity_flag</a:t>
                      </a:r>
                    </a:p>
                  </a:txBody>
                  <a:tcPr>
                    <a:solidFill>
                      <a:srgbClr val="F2F4F8"/>
                    </a:solidFill>
                  </a:tcPr>
                </a:tc>
                <a:tc>
                  <a:txBody>
                    <a:bodyPr/>
                    <a:lstStyle/>
                    <a:p>
                      <a:pPr algn="ctr"/>
                      <a:r>
                        <a:rPr sz="1200" b="0">
                          <a:solidFill>
                            <a:srgbClr val="1A1A1A"/>
                          </a:solidFill>
                          <a:latin typeface="Calibri"/>
                        </a:rPr>
                        <a:t>Ngày KM  (binary)</a:t>
                      </a:r>
                    </a:p>
                  </a:txBody>
                  <a:tcPr>
                    <a:solidFill>
                      <a:srgbClr val="F2F4F8"/>
                    </a:solidFill>
                  </a:tcPr>
                </a:tc>
                <a:tc>
                  <a:txBody>
                    <a:bodyPr/>
                    <a:lstStyle/>
                    <a:p>
                      <a:pPr algn="ctr"/>
                      <a:r>
                        <a:rPr sz="1200" b="0">
                          <a:solidFill>
                            <a:srgbClr val="1A1A1A"/>
                          </a:solidFill>
                          <a:latin typeface="Calibri"/>
                        </a:rPr>
                        <a:t>Dương lớn nhất — driver quan trọng nhất</a:t>
                      </a:r>
                    </a:p>
                  </a:txBody>
                  <a:tcPr>
                    <a:solidFill>
                      <a:srgbClr val="F2F4F8"/>
                    </a:solidFill>
                  </a:tcPr>
                </a:tc>
              </a:tr>
            </a:tbl>
          </a:graphicData>
        </a:graphic>
      </p:graphicFrame>
      <p:sp>
        <p:nvSpPr>
          <p:cNvPr id="12" name="Rectangle 11"/>
          <p:cNvSpPr/>
          <p:nvPr/>
        </p:nvSpPr>
        <p:spPr>
          <a:xfrm>
            <a:off x="365760" y="3657600"/>
            <a:ext cx="411480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683000"/>
            <a:ext cx="4023360" cy="320040"/>
          </a:xfrm>
          <a:prstGeom prst="rect">
            <a:avLst/>
          </a:prstGeom>
          <a:noFill/>
        </p:spPr>
        <p:txBody>
          <a:bodyPr wrap="square">
            <a:spAutoFit/>
          </a:bodyPr>
          <a:lstStyle/>
          <a:p>
            <a:pPr algn="l">
              <a:spcAft>
                <a:spcPts val="0"/>
              </a:spcAft>
            </a:pPr>
            <a:r>
              <a:rPr sz="1200" b="1" i="0">
                <a:solidFill>
                  <a:srgbClr val="FFFFFF"/>
                </a:solidFill>
                <a:latin typeface="Calibri"/>
              </a:rPr>
              <a:t>📊  So sánh SARIMA vs SARIMAX</a:t>
            </a:r>
          </a:p>
        </p:txBody>
      </p:sp>
      <p:graphicFrame>
        <p:nvGraphicFramePr>
          <p:cNvPr id="14" name="Table 13"/>
          <p:cNvGraphicFramePr>
            <a:graphicFrameLocks noGrp="1"/>
          </p:cNvGraphicFramePr>
          <p:nvPr/>
        </p:nvGraphicFramePr>
        <p:xfrm>
          <a:off x="365760" y="4023360"/>
          <a:ext cx="11430000" cy="1737360"/>
        </p:xfrm>
        <a:graphic>
          <a:graphicData uri="http://schemas.openxmlformats.org/drawingml/2006/table">
            <a:tbl>
              <a:tblPr firstRow="1" bandRow="1">
                <a:tableStyleId>{5C22544A-7EE6-4342-B048-85BDC9FD1C3A}</a:tableStyleId>
              </a:tblPr>
              <a:tblGrid>
                <a:gridCol w="2194560"/>
                <a:gridCol w="2194560"/>
                <a:gridCol w="2194560"/>
                <a:gridCol w="4846320"/>
              </a:tblGrid>
              <a:tr h="347472">
                <a:tc>
                  <a:txBody>
                    <a:bodyPr/>
                    <a:lstStyle/>
                    <a:p>
                      <a:pPr algn="ctr"/>
                      <a:r>
                        <a:rPr sz="1300" b="1">
                          <a:solidFill>
                            <a:srgbClr val="FFFFFF"/>
                          </a:solidFill>
                          <a:latin typeface="Calibri"/>
                        </a:rPr>
                        <a:t>Metric</a:t>
                      </a:r>
                    </a:p>
                  </a:txBody>
                  <a:tcPr>
                    <a:solidFill>
                      <a:srgbClr val="1F4E79"/>
                    </a:solidFill>
                  </a:tcPr>
                </a:tc>
                <a:tc>
                  <a:txBody>
                    <a:bodyPr/>
                    <a:lstStyle/>
                    <a:p>
                      <a:pPr algn="ctr"/>
                      <a:r>
                        <a:rPr sz="1300" b="1">
                          <a:solidFill>
                            <a:srgbClr val="FFFFFF"/>
                          </a:solidFill>
                          <a:latin typeface="Calibri"/>
                        </a:rPr>
                        <a:t>SARIMA</a:t>
                      </a:r>
                    </a:p>
                  </a:txBody>
                  <a:tcPr>
                    <a:solidFill>
                      <a:srgbClr val="1F4E79"/>
                    </a:solidFill>
                  </a:tcPr>
                </a:tc>
                <a:tc>
                  <a:txBody>
                    <a:bodyPr/>
                    <a:lstStyle/>
                    <a:p>
                      <a:pPr algn="ctr"/>
                      <a:r>
                        <a:rPr sz="1300" b="1">
                          <a:solidFill>
                            <a:srgbClr val="FFFFFF"/>
                          </a:solidFill>
                          <a:latin typeface="Calibri"/>
                        </a:rPr>
                        <a:t>SARIMAX</a:t>
                      </a:r>
                    </a:p>
                  </a:txBody>
                  <a:tcPr>
                    <a:solidFill>
                      <a:srgbClr val="1F4E79"/>
                    </a:solidFill>
                  </a:tcPr>
                </a:tc>
                <a:tc>
                  <a:txBody>
                    <a:bodyPr/>
                    <a:lstStyle/>
                    <a:p>
                      <a:pPr algn="ctr"/>
                      <a:r>
                        <a:rPr sz="1300" b="1">
                          <a:solidFill>
                            <a:srgbClr val="FFFFFF"/>
                          </a:solidFill>
                          <a:latin typeface="Calibri"/>
                        </a:rPr>
                        <a:t>Improvement</a:t>
                      </a:r>
                    </a:p>
                  </a:txBody>
                  <a:tcPr>
                    <a:solidFill>
                      <a:srgbClr val="1F4E79"/>
                    </a:solidFill>
                  </a:tcPr>
                </a:tc>
              </a:tr>
              <a:tr h="347472">
                <a:tc>
                  <a:txBody>
                    <a:bodyPr/>
                    <a:lstStyle/>
                    <a:p>
                      <a:pPr algn="l"/>
                      <a:r>
                        <a:rPr sz="1200" b="0">
                          <a:solidFill>
                            <a:srgbClr val="1A1A1A"/>
                          </a:solidFill>
                          <a:latin typeface="Calibri"/>
                        </a:rPr>
                        <a:t>MAPE (14-day)</a:t>
                      </a:r>
                    </a:p>
                  </a:txBody>
                  <a:tcPr>
                    <a:solidFill>
                      <a:srgbClr val="FFFFFF"/>
                    </a:solidFill>
                  </a:tcPr>
                </a:tc>
                <a:tc>
                  <a:txBody>
                    <a:bodyPr/>
                    <a:lstStyle/>
                    <a:p>
                      <a:pPr algn="ctr"/>
                      <a:r>
                        <a:rPr sz="1200" b="0">
                          <a:solidFill>
                            <a:srgbClr val="1A1A1A"/>
                          </a:solidFill>
                          <a:latin typeface="Calibri"/>
                        </a:rPr>
                        <a:t>8.01%</a:t>
                      </a:r>
                    </a:p>
                  </a:txBody>
                  <a:tcPr>
                    <a:solidFill>
                      <a:srgbClr val="FFFFFF"/>
                    </a:solidFill>
                  </a:tcPr>
                </a:tc>
                <a:tc>
                  <a:txBody>
                    <a:bodyPr/>
                    <a:lstStyle/>
                    <a:p>
                      <a:pPr algn="ctr"/>
                      <a:r>
                        <a:rPr sz="1200" b="0">
                          <a:solidFill>
                            <a:srgbClr val="1A1A1A"/>
                          </a:solidFill>
                          <a:latin typeface="Calibri"/>
                        </a:rPr>
                        <a:t>6.43%</a:t>
                      </a:r>
                    </a:p>
                  </a:txBody>
                  <a:tcPr>
                    <a:solidFill>
                      <a:srgbClr val="FFFFFF"/>
                    </a:solidFill>
                  </a:tcPr>
                </a:tc>
                <a:tc>
                  <a:txBody>
                    <a:bodyPr/>
                    <a:lstStyle/>
                    <a:p>
                      <a:pPr algn="ctr"/>
                      <a:r>
                        <a:rPr sz="1200" b="0">
                          <a:solidFill>
                            <a:srgbClr val="1A1A1A"/>
                          </a:solidFill>
                          <a:latin typeface="Calibri"/>
                        </a:rPr>
                        <a:t>−1.58 pp ✓</a:t>
                      </a:r>
                    </a:p>
                  </a:txBody>
                  <a:tcPr>
                    <a:solidFill>
                      <a:srgbClr val="FFFFFF"/>
                    </a:solidFill>
                  </a:tcPr>
                </a:tc>
              </a:tr>
              <a:tr h="347472">
                <a:tc>
                  <a:txBody>
                    <a:bodyPr/>
                    <a:lstStyle/>
                    <a:p>
                      <a:pPr algn="l"/>
                      <a:r>
                        <a:rPr sz="1200" b="0">
                          <a:solidFill>
                            <a:srgbClr val="1A1A1A"/>
                          </a:solidFill>
                          <a:latin typeface="Calibri"/>
                        </a:rPr>
                        <a:t>RMSE</a:t>
                      </a:r>
                    </a:p>
                  </a:txBody>
                  <a:tcPr>
                    <a:solidFill>
                      <a:srgbClr val="F2F4F8"/>
                    </a:solidFill>
                  </a:tcPr>
                </a:tc>
                <a:tc>
                  <a:txBody>
                    <a:bodyPr/>
                    <a:lstStyle/>
                    <a:p>
                      <a:pPr algn="ctr"/>
                      <a:r>
                        <a:rPr sz="1200" b="0">
                          <a:solidFill>
                            <a:srgbClr val="1A1A1A"/>
                          </a:solidFill>
                          <a:latin typeface="Calibri"/>
                        </a:rPr>
                        <a:t>5,666</a:t>
                      </a:r>
                    </a:p>
                  </a:txBody>
                  <a:tcPr>
                    <a:solidFill>
                      <a:srgbClr val="F2F4F8"/>
                    </a:solidFill>
                  </a:tcPr>
                </a:tc>
                <a:tc>
                  <a:txBody>
                    <a:bodyPr/>
                    <a:lstStyle/>
                    <a:p>
                      <a:pPr algn="ctr"/>
                      <a:r>
                        <a:rPr sz="1200" b="0">
                          <a:solidFill>
                            <a:srgbClr val="1A1A1A"/>
                          </a:solidFill>
                          <a:latin typeface="Calibri"/>
                        </a:rPr>
                        <a:t>5,079</a:t>
                      </a:r>
                    </a:p>
                  </a:txBody>
                  <a:tcPr>
                    <a:solidFill>
                      <a:srgbClr val="F2F4F8"/>
                    </a:solidFill>
                  </a:tcPr>
                </a:tc>
                <a:tc>
                  <a:txBody>
                    <a:bodyPr/>
                    <a:lstStyle/>
                    <a:p>
                      <a:pPr algn="ctr"/>
                      <a:r>
                        <a:rPr sz="1200" b="0">
                          <a:solidFill>
                            <a:srgbClr val="1A1A1A"/>
                          </a:solidFill>
                          <a:latin typeface="Calibri"/>
                        </a:rPr>
                        <a:t>−587 ✓</a:t>
                      </a:r>
                    </a:p>
                  </a:txBody>
                  <a:tcPr>
                    <a:solidFill>
                      <a:srgbClr val="F2F4F8"/>
                    </a:solidFill>
                  </a:tcPr>
                </a:tc>
              </a:tr>
              <a:tr h="347472">
                <a:tc>
                  <a:txBody>
                    <a:bodyPr/>
                    <a:lstStyle/>
                    <a:p>
                      <a:pPr algn="l"/>
                      <a:r>
                        <a:rPr sz="1200" b="0">
                          <a:solidFill>
                            <a:srgbClr val="1A1A1A"/>
                          </a:solidFill>
                          <a:latin typeface="Calibri"/>
                        </a:rPr>
                        <a:t>AIC</a:t>
                      </a:r>
                    </a:p>
                  </a:txBody>
                  <a:tcPr>
                    <a:solidFill>
                      <a:srgbClr val="FFFFFF"/>
                    </a:solidFill>
                  </a:tcPr>
                </a:tc>
                <a:tc>
                  <a:txBody>
                    <a:bodyPr/>
                    <a:lstStyle/>
                    <a:p>
                      <a:pPr algn="ctr"/>
                      <a:r>
                        <a:rPr sz="1200" b="0">
                          <a:solidFill>
                            <a:srgbClr val="1A1A1A"/>
                          </a:solidFill>
                          <a:latin typeface="Calibri"/>
                        </a:rPr>
                        <a:t>−97.0</a:t>
                      </a:r>
                    </a:p>
                  </a:txBody>
                  <a:tcPr>
                    <a:solidFill>
                      <a:srgbClr val="FFFFFF"/>
                    </a:solidFill>
                  </a:tcPr>
                </a:tc>
                <a:tc>
                  <a:txBody>
                    <a:bodyPr/>
                    <a:lstStyle/>
                    <a:p>
                      <a:pPr algn="ctr"/>
                      <a:r>
                        <a:rPr sz="1200" b="0">
                          <a:solidFill>
                            <a:srgbClr val="1A1A1A"/>
                          </a:solidFill>
                          <a:latin typeface="Calibri"/>
                        </a:rPr>
                        <a:t>−107.5</a:t>
                      </a:r>
                    </a:p>
                  </a:txBody>
                  <a:tcPr>
                    <a:solidFill>
                      <a:srgbClr val="FFFFFF"/>
                    </a:solidFill>
                  </a:tcPr>
                </a:tc>
                <a:tc>
                  <a:txBody>
                    <a:bodyPr/>
                    <a:lstStyle/>
                    <a:p>
                      <a:pPr algn="ctr"/>
                      <a:r>
                        <a:rPr sz="1200" b="0">
                          <a:solidFill>
                            <a:srgbClr val="1A1A1A"/>
                          </a:solidFill>
                          <a:latin typeface="Calibri"/>
                        </a:rPr>
                        <a:t>−10.5 ✓</a:t>
                      </a:r>
                    </a:p>
                  </a:txBody>
                  <a:tcPr>
                    <a:solidFill>
                      <a:srgbClr val="FFFFFF"/>
                    </a:solidFill>
                  </a:tcPr>
                </a:tc>
              </a:tr>
              <a:tr h="347472">
                <a:tc>
                  <a:txBody>
                    <a:bodyPr/>
                    <a:lstStyle/>
                    <a:p>
                      <a:pPr algn="l"/>
                      <a:r>
                        <a:rPr sz="1200" b="0">
                          <a:solidFill>
                            <a:srgbClr val="1A1A1A"/>
                          </a:solidFill>
                          <a:latin typeface="Calibri"/>
                        </a:rPr>
                        <a:t>Ljung-Box</a:t>
                      </a:r>
                    </a:p>
                  </a:txBody>
                  <a:tcPr>
                    <a:solidFill>
                      <a:srgbClr val="F2F4F8"/>
                    </a:solidFill>
                  </a:tcPr>
                </a:tc>
                <a:tc>
                  <a:txBody>
                    <a:bodyPr/>
                    <a:lstStyle/>
                    <a:p>
                      <a:pPr algn="ctr"/>
                      <a:r>
                        <a:rPr sz="1200" b="0">
                          <a:solidFill>
                            <a:srgbClr val="1A1A1A"/>
                          </a:solidFill>
                          <a:latin typeface="Calibri"/>
                        </a:rPr>
                        <a:t>Pass ✓</a:t>
                      </a:r>
                    </a:p>
                  </a:txBody>
                  <a:tcPr>
                    <a:solidFill>
                      <a:srgbClr val="F2F4F8"/>
                    </a:solidFill>
                  </a:tcPr>
                </a:tc>
                <a:tc>
                  <a:txBody>
                    <a:bodyPr/>
                    <a:lstStyle/>
                    <a:p>
                      <a:pPr algn="ctr"/>
                      <a:r>
                        <a:rPr sz="1200" b="0">
                          <a:solidFill>
                            <a:srgbClr val="1A1A1A"/>
                          </a:solidFill>
                          <a:latin typeface="Calibri"/>
                        </a:rPr>
                        <a:t>Pass ✓</a:t>
                      </a:r>
                    </a:p>
                  </a:txBody>
                  <a:tcPr>
                    <a:solidFill>
                      <a:srgbClr val="F2F4F8"/>
                    </a:solidFill>
                  </a:tcPr>
                </a:tc>
                <a:tc>
                  <a:txBody>
                    <a:bodyPr/>
                    <a:lstStyle/>
                    <a:p>
                      <a:pPr algn="ctr"/>
                      <a:r>
                        <a:rPr sz="1200" b="0">
                          <a:solidFill>
                            <a:srgbClr val="1A1A1A"/>
                          </a:solidFill>
                          <a:latin typeface="Calibri"/>
                        </a:rPr>
                        <a:t>—</a:t>
                      </a:r>
                    </a:p>
                  </a:txBody>
                  <a:tcPr>
                    <a:solidFill>
                      <a:srgbClr val="F2F4F8"/>
                    </a:solidFill>
                  </a:tcPr>
                </a:tc>
              </a:tr>
            </a:tbl>
          </a:graphicData>
        </a:graphic>
      </p:graphicFrame>
      <p:sp>
        <p:nvSpPr>
          <p:cNvPr id="15" name="Rectangle 14"/>
          <p:cNvSpPr/>
          <p:nvPr/>
        </p:nvSpPr>
        <p:spPr>
          <a:xfrm>
            <a:off x="365760" y="5897880"/>
            <a:ext cx="11430000" cy="548640"/>
          </a:xfrm>
          <a:prstGeom prst="rect">
            <a:avLst/>
          </a:prstGeom>
          <a:solidFill>
            <a:srgbClr val="BD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5897880"/>
            <a:ext cx="64008" cy="548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943600"/>
            <a:ext cx="11155680" cy="457200"/>
          </a:xfrm>
          <a:prstGeom prst="rect">
            <a:avLst/>
          </a:prstGeom>
          <a:noFill/>
        </p:spPr>
        <p:txBody>
          <a:bodyPr wrap="square">
            <a:spAutoFit/>
          </a:bodyPr>
          <a:lstStyle/>
          <a:p>
            <a:pPr algn="l">
              <a:spcAft>
                <a:spcPts val="0"/>
              </a:spcAft>
            </a:pPr>
            <a:r>
              <a:rPr sz="1300" b="0" i="0">
                <a:solidFill>
                  <a:srgbClr val="1F4E79"/>
                </a:solidFill>
                <a:latin typeface="Calibri"/>
              </a:rPr>
              <a:t>→  Kết luận: SARIMAX là mô hình nên dùng cho phân tích cuối — exogenous regressors có giá trị thực sự (AIC giảm 10.5). Hướng phát triển tuần 6: Tobit censoring correction + grid search đầy đủ.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45720"/>
          </a:xfrm>
          <a:prstGeom prst="rect">
            <a:avLst/>
          </a:prstGeom>
          <a:solidFill>
            <a:srgbClr val="FFB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0972800" cy="594360"/>
          </a:xfrm>
          <a:prstGeom prst="rect">
            <a:avLst/>
          </a:prstGeom>
          <a:noFill/>
        </p:spPr>
        <p:txBody>
          <a:bodyPr wrap="square">
            <a:spAutoFit/>
          </a:bodyPr>
          <a:lstStyle/>
          <a:p>
            <a:pPr algn="l">
              <a:spcAft>
                <a:spcPts val="0"/>
              </a:spcAft>
            </a:pPr>
            <a:r>
              <a:rPr sz="2700" b="1" i="0">
                <a:solidFill>
                  <a:srgbClr val="FFFFFF"/>
                </a:solidFill>
                <a:latin typeface="Calibri"/>
              </a:rPr>
              <a:t>Phân Công Nhóm &amp; Kế Hoạch</a:t>
            </a:r>
          </a:p>
        </p:txBody>
      </p:sp>
      <p:sp>
        <p:nvSpPr>
          <p:cNvPr id="6" name="Rectangle 5"/>
          <p:cNvSpPr/>
          <p:nvPr/>
        </p:nvSpPr>
        <p:spPr>
          <a:xfrm>
            <a:off x="0" y="6492240"/>
            <a:ext cx="12188952"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9672"/>
            <a:ext cx="9601200" cy="274320"/>
          </a:xfrm>
          <a:prstGeom prst="rect">
            <a:avLst/>
          </a:prstGeom>
          <a:noFill/>
        </p:spPr>
        <p:txBody>
          <a:bodyPr wrap="square">
            <a:spAutoFit/>
          </a:bodyPr>
          <a:lstStyle/>
          <a:p>
            <a:pPr algn="l">
              <a:spcAft>
                <a:spcPts val="0"/>
              </a:spcAft>
            </a:pPr>
            <a:r>
              <a:rPr sz="900" b="0" i="0">
                <a:solidFill>
                  <a:srgbClr val="BDD7EE"/>
                </a:solidFill>
                <a:latin typeface="Calibri"/>
              </a:rPr>
              <a:t>FreshRetailNet-50K  |  Week 5 Milestone  |  Time Series &amp; Forecasting</a:t>
            </a:r>
          </a:p>
        </p:txBody>
      </p:sp>
      <p:sp>
        <p:nvSpPr>
          <p:cNvPr id="8" name="TextBox 7"/>
          <p:cNvSpPr txBox="1"/>
          <p:nvPr/>
        </p:nvSpPr>
        <p:spPr>
          <a:xfrm>
            <a:off x="11338560" y="6519672"/>
            <a:ext cx="731520" cy="274320"/>
          </a:xfrm>
          <a:prstGeom prst="rect">
            <a:avLst/>
          </a:prstGeom>
          <a:noFill/>
        </p:spPr>
        <p:txBody>
          <a:bodyPr wrap="square">
            <a:spAutoFit/>
          </a:bodyPr>
          <a:lstStyle/>
          <a:p>
            <a:pPr algn="r">
              <a:spcAft>
                <a:spcPts val="0"/>
              </a:spcAft>
            </a:pPr>
            <a:r>
              <a:rPr sz="900" b="1" i="0">
                <a:solidFill>
                  <a:srgbClr val="FFFFFF"/>
                </a:solidFill>
                <a:latin typeface="Calibri"/>
              </a:rPr>
              <a:t>14 / 14</a:t>
            </a:r>
          </a:p>
        </p:txBody>
      </p:sp>
      <p:sp>
        <p:nvSpPr>
          <p:cNvPr id="9" name="Rectangle 8"/>
          <p:cNvSpPr/>
          <p:nvPr/>
        </p:nvSpPr>
        <p:spPr>
          <a:xfrm>
            <a:off x="365760" y="1143000"/>
            <a:ext cx="3200400" cy="3200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168400"/>
            <a:ext cx="3108960" cy="320040"/>
          </a:xfrm>
          <a:prstGeom prst="rect">
            <a:avLst/>
          </a:prstGeom>
          <a:noFill/>
        </p:spPr>
        <p:txBody>
          <a:bodyPr wrap="square">
            <a:spAutoFit/>
          </a:bodyPr>
          <a:lstStyle/>
          <a:p>
            <a:pPr algn="l">
              <a:spcAft>
                <a:spcPts val="0"/>
              </a:spcAft>
            </a:pPr>
            <a:r>
              <a:rPr sz="1200" b="1" i="0">
                <a:solidFill>
                  <a:srgbClr val="FFFFFF"/>
                </a:solidFill>
                <a:latin typeface="Calibri"/>
              </a:rPr>
              <a:t>👥  Phân công công việc</a:t>
            </a:r>
          </a:p>
        </p:txBody>
      </p:sp>
      <p:graphicFrame>
        <p:nvGraphicFramePr>
          <p:cNvPr id="11" name="Table 10"/>
          <p:cNvGraphicFramePr>
            <a:graphicFrameLocks noGrp="1"/>
          </p:cNvGraphicFramePr>
          <p:nvPr/>
        </p:nvGraphicFramePr>
        <p:xfrm>
          <a:off x="365760" y="1508760"/>
          <a:ext cx="7132320" cy="4526280"/>
        </p:xfrm>
        <a:graphic>
          <a:graphicData uri="http://schemas.openxmlformats.org/drawingml/2006/table">
            <a:tbl>
              <a:tblPr firstRow="1" bandRow="1">
                <a:tableStyleId>{5C22544A-7EE6-4342-B048-85BDC9FD1C3A}</a:tableStyleId>
              </a:tblPr>
              <a:tblGrid>
                <a:gridCol w="3657600"/>
                <a:gridCol w="1828800"/>
                <a:gridCol w="1645920"/>
              </a:tblGrid>
              <a:tr h="452628">
                <a:tc>
                  <a:txBody>
                    <a:bodyPr/>
                    <a:lstStyle/>
                    <a:p>
                      <a:pPr algn="ctr"/>
                      <a:r>
                        <a:rPr sz="1200" b="1">
                          <a:solidFill>
                            <a:srgbClr val="FFFFFF"/>
                          </a:solidFill>
                          <a:latin typeface="Calibri"/>
                        </a:rPr>
                        <a:t>Công việc</a:t>
                      </a:r>
                    </a:p>
                  </a:txBody>
                  <a:tcPr>
                    <a:solidFill>
                      <a:srgbClr val="1F4E79"/>
                    </a:solidFill>
                  </a:tcPr>
                </a:tc>
                <a:tc>
                  <a:txBody>
                    <a:bodyPr/>
                    <a:lstStyle/>
                    <a:p>
                      <a:pPr algn="ctr"/>
                      <a:r>
                        <a:rPr sz="1200" b="1">
                          <a:solidFill>
                            <a:srgbClr val="FFFFFF"/>
                          </a:solidFill>
                          <a:latin typeface="Calibri"/>
                        </a:rPr>
                        <a:t>Người phụ trách</a:t>
                      </a:r>
                    </a:p>
                  </a:txBody>
                  <a:tcPr>
                    <a:solidFill>
                      <a:srgbClr val="1F4E79"/>
                    </a:solidFill>
                  </a:tcPr>
                </a:tc>
                <a:tc>
                  <a:txBody>
                    <a:bodyPr/>
                    <a:lstStyle/>
                    <a:p>
                      <a:pPr algn="ctr"/>
                      <a:r>
                        <a:rPr sz="1200" b="1">
                          <a:solidFill>
                            <a:srgbClr val="FFFFFF"/>
                          </a:solidFill>
                          <a:latin typeface="Calibri"/>
                        </a:rPr>
                        <a:t>Trạng thái</a:t>
                      </a:r>
                    </a:p>
                  </a:txBody>
                  <a:tcPr>
                    <a:solidFill>
                      <a:srgbClr val="1F4E79"/>
                    </a:solidFill>
                  </a:tcPr>
                </a:tc>
              </a:tr>
              <a:tr h="452628">
                <a:tc>
                  <a:txBody>
                    <a:bodyPr/>
                    <a:lstStyle/>
                    <a:p>
                      <a:pPr algn="l"/>
                      <a:r>
                        <a:rPr sz="1100" b="0">
                          <a:solidFill>
                            <a:srgbClr val="1A1A1A"/>
                          </a:solidFill>
                          <a:latin typeface="Calibri"/>
                        </a:rPr>
                        <a:t>Nạp dữ liệu, EDA, STL</a:t>
                      </a:r>
                    </a:p>
                  </a:txBody>
                  <a:tcPr>
                    <a:solidFill>
                      <a:srgbClr val="FFFFFF"/>
                    </a:solidFill>
                  </a:tcPr>
                </a:tc>
                <a:tc>
                  <a:txBody>
                    <a:bodyPr/>
                    <a:lstStyle/>
                    <a:p>
                      <a:pPr algn="ctr"/>
                      <a:r>
                        <a:rPr sz="1100" b="0">
                          <a:solidFill>
                            <a:srgbClr val="1A1A1A"/>
                          </a:solidFill>
                          <a:latin typeface="Calibri"/>
                        </a:rPr>
                        <a:t>Thành viên A</a:t>
                      </a:r>
                    </a:p>
                  </a:txBody>
                  <a:tcPr>
                    <a:solidFill>
                      <a:srgbClr val="FFFFFF"/>
                    </a:solidFill>
                  </a:tcPr>
                </a:tc>
                <a:tc>
                  <a:txBody>
                    <a:bodyPr/>
                    <a:lstStyle/>
                    <a:p>
                      <a:pPr algn="ctr"/>
                      <a:r>
                        <a:rPr sz="1100" b="0">
                          <a:solidFill>
                            <a:srgbClr val="1A7A4A"/>
                          </a:solidFill>
                          <a:latin typeface="Calibri"/>
                        </a:rPr>
                        <a:t>✅ Hoàn thành</a:t>
                      </a:r>
                    </a:p>
                  </a:txBody>
                  <a:tcPr>
                    <a:solidFill>
                      <a:srgbClr val="D5F0E0"/>
                    </a:solidFill>
                  </a:tcPr>
                </a:tc>
              </a:tr>
              <a:tr h="452628">
                <a:tc>
                  <a:txBody>
                    <a:bodyPr/>
                    <a:lstStyle/>
                    <a:p>
                      <a:pPr algn="l"/>
                      <a:r>
                        <a:rPr sz="1100" b="0">
                          <a:solidFill>
                            <a:srgbClr val="1A1A1A"/>
                          </a:solidFill>
                          <a:latin typeface="Calibri"/>
                        </a:rPr>
                        <a:t>ACF/PACF, kiểm định dừng</a:t>
                      </a:r>
                    </a:p>
                  </a:txBody>
                  <a:tcPr>
                    <a:solidFill>
                      <a:srgbClr val="F2F4F8"/>
                    </a:solidFill>
                  </a:tcPr>
                </a:tc>
                <a:tc>
                  <a:txBody>
                    <a:bodyPr/>
                    <a:lstStyle/>
                    <a:p>
                      <a:pPr algn="ctr"/>
                      <a:r>
                        <a:rPr sz="1100" b="0">
                          <a:solidFill>
                            <a:srgbClr val="1A1A1A"/>
                          </a:solidFill>
                          <a:latin typeface="Calibri"/>
                        </a:rPr>
                        <a:t>Thành viên B</a:t>
                      </a:r>
                    </a:p>
                  </a:txBody>
                  <a:tcPr>
                    <a:solidFill>
                      <a:srgbClr val="F2F4F8"/>
                    </a:solidFill>
                  </a:tcPr>
                </a:tc>
                <a:tc>
                  <a:txBody>
                    <a:bodyPr/>
                    <a:lstStyle/>
                    <a:p>
                      <a:pPr algn="ctr"/>
                      <a:r>
                        <a:rPr sz="1100" b="0">
                          <a:solidFill>
                            <a:srgbClr val="1A7A4A"/>
                          </a:solidFill>
                          <a:latin typeface="Calibri"/>
                        </a:rPr>
                        <a:t>✅ Hoàn thành</a:t>
                      </a:r>
                    </a:p>
                  </a:txBody>
                  <a:tcPr>
                    <a:solidFill>
                      <a:srgbClr val="D5F0E0"/>
                    </a:solidFill>
                  </a:tcPr>
                </a:tc>
              </a:tr>
              <a:tr h="452628">
                <a:tc>
                  <a:txBody>
                    <a:bodyPr/>
                    <a:lstStyle/>
                    <a:p>
                      <a:pPr algn="l"/>
                      <a:r>
                        <a:rPr sz="1100" b="0">
                          <a:solidFill>
                            <a:srgbClr val="1A1A1A"/>
                          </a:solidFill>
                          <a:latin typeface="Calibri"/>
                        </a:rPr>
                        <a:t>SARIMA fitting &amp; diagnostics</a:t>
                      </a:r>
                    </a:p>
                  </a:txBody>
                  <a:tcPr>
                    <a:solidFill>
                      <a:srgbClr val="FFFFFF"/>
                    </a:solidFill>
                  </a:tcPr>
                </a:tc>
                <a:tc>
                  <a:txBody>
                    <a:bodyPr/>
                    <a:lstStyle/>
                    <a:p>
                      <a:pPr algn="ctr"/>
                      <a:r>
                        <a:rPr sz="1100" b="0">
                          <a:solidFill>
                            <a:srgbClr val="1A1A1A"/>
                          </a:solidFill>
                          <a:latin typeface="Calibri"/>
                        </a:rPr>
                        <a:t>Thành viên C</a:t>
                      </a:r>
                    </a:p>
                  </a:txBody>
                  <a:tcPr>
                    <a:solidFill>
                      <a:srgbClr val="FFFFFF"/>
                    </a:solidFill>
                  </a:tcPr>
                </a:tc>
                <a:tc>
                  <a:txBody>
                    <a:bodyPr/>
                    <a:lstStyle/>
                    <a:p>
                      <a:pPr algn="ctr"/>
                      <a:r>
                        <a:rPr sz="1100" b="0">
                          <a:solidFill>
                            <a:srgbClr val="1A7A4A"/>
                          </a:solidFill>
                          <a:latin typeface="Calibri"/>
                        </a:rPr>
                        <a:t>✅ Hoàn thành</a:t>
                      </a:r>
                    </a:p>
                  </a:txBody>
                  <a:tcPr>
                    <a:solidFill>
                      <a:srgbClr val="D5F0E0"/>
                    </a:solidFill>
                  </a:tcPr>
                </a:tc>
              </a:tr>
              <a:tr h="452628">
                <a:tc>
                  <a:txBody>
                    <a:bodyPr/>
                    <a:lstStyle/>
                    <a:p>
                      <a:pPr algn="l"/>
                      <a:r>
                        <a:rPr sz="1100" b="0">
                          <a:solidFill>
                            <a:srgbClr val="1A1A1A"/>
                          </a:solidFill>
                          <a:latin typeface="Calibri"/>
                        </a:rPr>
                        <a:t>SARIMAX + exog variables</a:t>
                      </a:r>
                    </a:p>
                  </a:txBody>
                  <a:tcPr>
                    <a:solidFill>
                      <a:srgbClr val="F2F4F8"/>
                    </a:solidFill>
                  </a:tcPr>
                </a:tc>
                <a:tc>
                  <a:txBody>
                    <a:bodyPr/>
                    <a:lstStyle/>
                    <a:p>
                      <a:pPr algn="ctr"/>
                      <a:r>
                        <a:rPr sz="1100" b="0">
                          <a:solidFill>
                            <a:srgbClr val="1A1A1A"/>
                          </a:solidFill>
                          <a:latin typeface="Calibri"/>
                        </a:rPr>
                        <a:t>A + B</a:t>
                      </a:r>
                    </a:p>
                  </a:txBody>
                  <a:tcPr>
                    <a:solidFill>
                      <a:srgbClr val="F2F4F8"/>
                    </a:solidFill>
                  </a:tcPr>
                </a:tc>
                <a:tc>
                  <a:txBody>
                    <a:bodyPr/>
                    <a:lstStyle/>
                    <a:p>
                      <a:pPr algn="ctr"/>
                      <a:r>
                        <a:rPr sz="1100" b="0">
                          <a:solidFill>
                            <a:srgbClr val="E67E22"/>
                          </a:solidFill>
                          <a:latin typeface="Calibri"/>
                        </a:rPr>
                        <a:t>🔄 Tuần 6</a:t>
                      </a:r>
                    </a:p>
                  </a:txBody>
                  <a:tcPr>
                    <a:solidFill>
                      <a:srgbClr val="F2F4F8"/>
                    </a:solidFill>
                  </a:tcPr>
                </a:tc>
              </a:tr>
              <a:tr h="452628">
                <a:tc>
                  <a:txBody>
                    <a:bodyPr/>
                    <a:lstStyle/>
                    <a:p>
                      <a:pPr algn="l"/>
                      <a:r>
                        <a:rPr sz="1100" b="0">
                          <a:solidFill>
                            <a:srgbClr val="1A1A1A"/>
                          </a:solidFill>
                          <a:latin typeface="Calibri"/>
                        </a:rPr>
                        <a:t>Grid search AIC/BIC</a:t>
                      </a:r>
                    </a:p>
                  </a:txBody>
                  <a:tcPr>
                    <a:solidFill>
                      <a:srgbClr val="FFFFFF"/>
                    </a:solidFill>
                  </a:tcPr>
                </a:tc>
                <a:tc>
                  <a:txBody>
                    <a:bodyPr/>
                    <a:lstStyle/>
                    <a:p>
                      <a:pPr algn="ctr"/>
                      <a:r>
                        <a:rPr sz="1100" b="0">
                          <a:solidFill>
                            <a:srgbClr val="1A1A1A"/>
                          </a:solidFill>
                          <a:latin typeface="Calibri"/>
                        </a:rPr>
                        <a:t>Thành viên C</a:t>
                      </a:r>
                    </a:p>
                  </a:txBody>
                  <a:tcPr>
                    <a:solidFill>
                      <a:srgbClr val="FFFFFF"/>
                    </a:solidFill>
                  </a:tcPr>
                </a:tc>
                <a:tc>
                  <a:txBody>
                    <a:bodyPr/>
                    <a:lstStyle/>
                    <a:p>
                      <a:pPr algn="ctr"/>
                      <a:r>
                        <a:rPr sz="1100" b="0">
                          <a:solidFill>
                            <a:srgbClr val="E67E22"/>
                          </a:solidFill>
                          <a:latin typeface="Calibri"/>
                        </a:rPr>
                        <a:t>🔄 Tuần 6</a:t>
                      </a:r>
                    </a:p>
                  </a:txBody>
                  <a:tcPr>
                    <a:solidFill>
                      <a:srgbClr val="F2F4F8"/>
                    </a:solidFill>
                  </a:tcPr>
                </a:tc>
              </a:tr>
              <a:tr h="452628">
                <a:tc>
                  <a:txBody>
                    <a:bodyPr/>
                    <a:lstStyle/>
                    <a:p>
                      <a:pPr algn="l"/>
                      <a:r>
                        <a:rPr sz="1100" b="0">
                          <a:solidFill>
                            <a:srgbClr val="1A1A1A"/>
                          </a:solidFill>
                          <a:latin typeface="Calibri"/>
                        </a:rPr>
                        <a:t>Censoring correction (Tobit)</a:t>
                      </a:r>
                    </a:p>
                  </a:txBody>
                  <a:tcPr>
                    <a:solidFill>
                      <a:srgbClr val="F2F4F8"/>
                    </a:solidFill>
                  </a:tcPr>
                </a:tc>
                <a:tc>
                  <a:txBody>
                    <a:bodyPr/>
                    <a:lstStyle/>
                    <a:p>
                      <a:pPr algn="ctr"/>
                      <a:r>
                        <a:rPr sz="1100" b="0">
                          <a:solidFill>
                            <a:srgbClr val="1A1A1A"/>
                          </a:solidFill>
                          <a:latin typeface="Calibri"/>
                        </a:rPr>
                        <a:t>Thành viên B</a:t>
                      </a:r>
                    </a:p>
                  </a:txBody>
                  <a:tcPr>
                    <a:solidFill>
                      <a:srgbClr val="F2F4F8"/>
                    </a:solidFill>
                  </a:tcPr>
                </a:tc>
                <a:tc>
                  <a:txBody>
                    <a:bodyPr/>
                    <a:lstStyle/>
                    <a:p>
                      <a:pPr algn="ctr"/>
                      <a:r>
                        <a:rPr sz="1100" b="0">
                          <a:solidFill>
                            <a:srgbClr val="2E75B6"/>
                          </a:solidFill>
                          <a:latin typeface="Calibri"/>
                        </a:rPr>
                        <a:t>📅 Tuần 7</a:t>
                      </a:r>
                    </a:p>
                  </a:txBody>
                  <a:tcPr>
                    <a:solidFill>
                      <a:srgbClr val="F2F4F8"/>
                    </a:solidFill>
                  </a:tcPr>
                </a:tc>
              </a:tr>
              <a:tr h="452628">
                <a:tc>
                  <a:txBody>
                    <a:bodyPr/>
                    <a:lstStyle/>
                    <a:p>
                      <a:pPr algn="l"/>
                      <a:r>
                        <a:rPr sz="1100" b="0">
                          <a:solidFill>
                            <a:srgbClr val="1A1A1A"/>
                          </a:solidFill>
                          <a:latin typeface="Calibri"/>
                        </a:rPr>
                        <a:t>GARCH trên residuals</a:t>
                      </a:r>
                    </a:p>
                  </a:txBody>
                  <a:tcPr>
                    <a:solidFill>
                      <a:srgbClr val="FFFFFF"/>
                    </a:solidFill>
                  </a:tcPr>
                </a:tc>
                <a:tc>
                  <a:txBody>
                    <a:bodyPr/>
                    <a:lstStyle/>
                    <a:p>
                      <a:pPr algn="ctr"/>
                      <a:r>
                        <a:rPr sz="1100" b="0">
                          <a:solidFill>
                            <a:srgbClr val="1A1A1A"/>
                          </a:solidFill>
                          <a:latin typeface="Calibri"/>
                        </a:rPr>
                        <a:t>Thành viên B</a:t>
                      </a:r>
                    </a:p>
                  </a:txBody>
                  <a:tcPr>
                    <a:solidFill>
                      <a:srgbClr val="FFFFFF"/>
                    </a:solidFill>
                  </a:tcPr>
                </a:tc>
                <a:tc>
                  <a:txBody>
                    <a:bodyPr/>
                    <a:lstStyle/>
                    <a:p>
                      <a:pPr algn="ctr"/>
                      <a:r>
                        <a:rPr sz="1100" b="0">
                          <a:solidFill>
                            <a:srgbClr val="2E75B6"/>
                          </a:solidFill>
                          <a:latin typeface="Calibri"/>
                        </a:rPr>
                        <a:t>📅 Tuần 7</a:t>
                      </a:r>
                    </a:p>
                  </a:txBody>
                  <a:tcPr>
                    <a:solidFill>
                      <a:srgbClr val="F2F4F8"/>
                    </a:solidFill>
                  </a:tcPr>
                </a:tc>
              </a:tr>
              <a:tr h="452628">
                <a:tc>
                  <a:txBody>
                    <a:bodyPr/>
                    <a:lstStyle/>
                    <a:p>
                      <a:pPr algn="l"/>
                      <a:r>
                        <a:rPr sz="1100" b="0">
                          <a:solidFill>
                            <a:srgbClr val="1A1A1A"/>
                          </a:solidFill>
                          <a:latin typeface="Calibri"/>
                        </a:rPr>
                        <a:t>Benchmark vs DLinear</a:t>
                      </a:r>
                    </a:p>
                  </a:txBody>
                  <a:tcPr>
                    <a:solidFill>
                      <a:srgbClr val="F2F4F8"/>
                    </a:solidFill>
                  </a:tcPr>
                </a:tc>
                <a:tc>
                  <a:txBody>
                    <a:bodyPr/>
                    <a:lstStyle/>
                    <a:p>
                      <a:pPr algn="ctr"/>
                      <a:r>
                        <a:rPr sz="1100" b="0">
                          <a:solidFill>
                            <a:srgbClr val="1A1A1A"/>
                          </a:solidFill>
                          <a:latin typeface="Calibri"/>
                        </a:rPr>
                        <a:t>Thành viên A</a:t>
                      </a:r>
                    </a:p>
                  </a:txBody>
                  <a:tcPr>
                    <a:solidFill>
                      <a:srgbClr val="F2F4F8"/>
                    </a:solidFill>
                  </a:tcPr>
                </a:tc>
                <a:tc>
                  <a:txBody>
                    <a:bodyPr/>
                    <a:lstStyle/>
                    <a:p>
                      <a:pPr algn="ctr"/>
                      <a:r>
                        <a:rPr sz="1100" b="0">
                          <a:solidFill>
                            <a:srgbClr val="2E75B6"/>
                          </a:solidFill>
                          <a:latin typeface="Calibri"/>
                        </a:rPr>
                        <a:t>📅 Tuần 7</a:t>
                      </a:r>
                    </a:p>
                  </a:txBody>
                  <a:tcPr>
                    <a:solidFill>
                      <a:srgbClr val="F2F4F8"/>
                    </a:solidFill>
                  </a:tcPr>
                </a:tc>
              </a:tr>
              <a:tr h="452628">
                <a:tc>
                  <a:txBody>
                    <a:bodyPr/>
                    <a:lstStyle/>
                    <a:p>
                      <a:pPr algn="l"/>
                      <a:r>
                        <a:rPr sz="1100" b="0">
                          <a:solidFill>
                            <a:srgbClr val="1A1A1A"/>
                          </a:solidFill>
                          <a:latin typeface="Calibri"/>
                        </a:rPr>
                        <a:t>Báo cáo cuối &amp; trình bày</a:t>
                      </a:r>
                    </a:p>
                  </a:txBody>
                  <a:tcPr>
                    <a:solidFill>
                      <a:srgbClr val="FFFFFF"/>
                    </a:solidFill>
                  </a:tcPr>
                </a:tc>
                <a:tc>
                  <a:txBody>
                    <a:bodyPr/>
                    <a:lstStyle/>
                    <a:p>
                      <a:pPr algn="ctr"/>
                      <a:r>
                        <a:rPr sz="1100" b="0">
                          <a:solidFill>
                            <a:srgbClr val="1A1A1A"/>
                          </a:solidFill>
                          <a:latin typeface="Calibri"/>
                        </a:rPr>
                        <a:t>Cả nhóm</a:t>
                      </a:r>
                    </a:p>
                  </a:txBody>
                  <a:tcPr>
                    <a:solidFill>
                      <a:srgbClr val="FFFFFF"/>
                    </a:solidFill>
                  </a:tcPr>
                </a:tc>
                <a:tc>
                  <a:txBody>
                    <a:bodyPr/>
                    <a:lstStyle/>
                    <a:p>
                      <a:pPr algn="ctr"/>
                      <a:r>
                        <a:rPr sz="1100" b="0">
                          <a:solidFill>
                            <a:srgbClr val="2E75B6"/>
                          </a:solidFill>
                          <a:latin typeface="Calibri"/>
                        </a:rPr>
                        <a:t>📅 Tuần 8</a:t>
                      </a:r>
                    </a:p>
                  </a:txBody>
                  <a:tcPr>
                    <a:solidFill>
                      <a:srgbClr val="F2F4F8"/>
                    </a:solidFill>
                  </a:tcPr>
                </a:tc>
              </a:tr>
            </a:tbl>
          </a:graphicData>
        </a:graphic>
      </p:graphicFrame>
      <p:sp>
        <p:nvSpPr>
          <p:cNvPr id="12" name="Rectangle 11"/>
          <p:cNvSpPr/>
          <p:nvPr/>
        </p:nvSpPr>
        <p:spPr>
          <a:xfrm>
            <a:off x="7772400" y="1143000"/>
            <a:ext cx="4114800" cy="3200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45552" y="1168400"/>
            <a:ext cx="4023360" cy="320040"/>
          </a:xfrm>
          <a:prstGeom prst="rect">
            <a:avLst/>
          </a:prstGeom>
          <a:noFill/>
        </p:spPr>
        <p:txBody>
          <a:bodyPr wrap="square">
            <a:spAutoFit/>
          </a:bodyPr>
          <a:lstStyle/>
          <a:p>
            <a:pPr algn="l">
              <a:spcAft>
                <a:spcPts val="0"/>
              </a:spcAft>
            </a:pPr>
            <a:r>
              <a:rPr sz="1200" b="1" i="0">
                <a:solidFill>
                  <a:srgbClr val="FFFFFF"/>
                </a:solidFill>
                <a:latin typeface="Calibri"/>
              </a:rPr>
              <a:t>📋  Việc còn lại (Tuần 6–8)</a:t>
            </a:r>
          </a:p>
        </p:txBody>
      </p:sp>
      <p:sp>
        <p:nvSpPr>
          <p:cNvPr id="14" name="TextBox 13"/>
          <p:cNvSpPr txBox="1"/>
          <p:nvPr/>
        </p:nvSpPr>
        <p:spPr>
          <a:xfrm>
            <a:off x="7772400" y="1508760"/>
            <a:ext cx="4114800" cy="4572000"/>
          </a:xfrm>
          <a:prstGeom prst="rect">
            <a:avLst/>
          </a:prstGeom>
          <a:noFill/>
        </p:spPr>
        <p:txBody>
          <a:bodyPr wrap="square">
            <a:spAutoFit/>
          </a:bodyPr>
          <a:lstStyle/>
          <a:p>
            <a:pPr>
              <a:spcAft>
                <a:spcPts val="800"/>
              </a:spcAft>
            </a:pPr>
            <a:r>
              <a:rPr sz="1300">
                <a:solidFill>
                  <a:srgbClr val="1A1A1A"/>
                </a:solidFill>
                <a:latin typeface="Calibri"/>
              </a:rPr>
              <a:t>▸  Grid search SARIMA: p,q ∈ {0,1,2}, P,Q ∈ {0,1}</a:t>
            </a:r>
          </a:p>
          <a:p>
            <a:pPr>
              <a:spcAft>
                <a:spcPts val="800"/>
              </a:spcAft>
            </a:pPr>
            <a:r>
              <a:rPr sz="1300">
                <a:solidFill>
                  <a:srgbClr val="1A1A1A"/>
                </a:solidFill>
                <a:latin typeface="Calibri"/>
              </a:rPr>
              <a:t>▸  Tobit-adjusted demand recovery (censoring fix)</a:t>
            </a:r>
          </a:p>
          <a:p>
            <a:pPr>
              <a:spcAft>
                <a:spcPts val="800"/>
              </a:spcAft>
            </a:pPr>
            <a:r>
              <a:rPr sz="1300">
                <a:solidFill>
                  <a:srgbClr val="1A1A1A"/>
                </a:solidFill>
                <a:latin typeface="Calibri"/>
              </a:rPr>
              <a:t>▸  Walk-forward cross-validation (time series split)</a:t>
            </a:r>
          </a:p>
          <a:p>
            <a:pPr>
              <a:spcAft>
                <a:spcPts val="800"/>
              </a:spcAft>
            </a:pPr>
            <a:r>
              <a:rPr sz="1300">
                <a:solidFill>
                  <a:srgbClr val="1A1A1A"/>
                </a:solidFill>
                <a:latin typeface="Calibri"/>
              </a:rPr>
              <a:t>▸  GARCH(1,1): test conditional heteroskedasticity</a:t>
            </a:r>
          </a:p>
          <a:p>
            <a:pPr>
              <a:spcAft>
                <a:spcPts val="800"/>
              </a:spcAft>
            </a:pPr>
            <a:r>
              <a:rPr sz="1300">
                <a:solidFill>
                  <a:srgbClr val="1A1A1A"/>
                </a:solidFill>
                <a:latin typeface="Calibri"/>
              </a:rPr>
              <a:t>▸  Phân tích per-category (rau, trái cây, thịt)</a:t>
            </a:r>
          </a:p>
          <a:p>
            <a:pPr>
              <a:spcAft>
                <a:spcPts val="800"/>
              </a:spcAft>
            </a:pPr>
            <a:r>
              <a:rPr sz="1300">
                <a:solidFill>
                  <a:srgbClr val="1A1A1A"/>
                </a:solidFill>
                <a:latin typeface="Calibri"/>
              </a:rPr>
              <a:t>▸  So sánh MAPE vs DLinear baseline từ Dingdong repo</a:t>
            </a:r>
          </a:p>
          <a:p>
            <a:pPr>
              <a:spcAft>
                <a:spcPts val="800"/>
              </a:spcAft>
            </a:pPr>
            <a:r>
              <a:rPr sz="1300">
                <a:solidFill>
                  <a:srgbClr val="1A1A1A"/>
                </a:solidFill>
                <a:latin typeface="Calibri"/>
              </a:rPr>
              <a:t>▸  Báo cáo viết + visualisations hoàn chỉnh</a:t>
            </a:r>
          </a:p>
        </p:txBody>
      </p:sp>
      <p:sp>
        <p:nvSpPr>
          <p:cNvPr id="15" name="TextBox 14"/>
          <p:cNvSpPr txBox="1"/>
          <p:nvPr/>
        </p:nvSpPr>
        <p:spPr>
          <a:xfrm>
            <a:off x="365760" y="6263640"/>
            <a:ext cx="11430000" cy="201168"/>
          </a:xfrm>
          <a:prstGeom prst="rect">
            <a:avLst/>
          </a:prstGeom>
          <a:noFill/>
        </p:spPr>
        <p:txBody>
          <a:bodyPr wrap="square">
            <a:spAutoFit/>
          </a:bodyPr>
          <a:lstStyle/>
          <a:p>
            <a:pPr algn="l">
              <a:spcAft>
                <a:spcPts val="0"/>
              </a:spcAft>
            </a:pPr>
            <a:r>
              <a:rPr sz="1000" b="0" i="1">
                <a:solidFill>
                  <a:srgbClr val="555555"/>
                </a:solidFill>
                <a:latin typeface="Calibri"/>
              </a:rPr>
              <a:t>⚑  Tất cả code và dữ liệu có sẵn để demo nếu được hỏi trong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